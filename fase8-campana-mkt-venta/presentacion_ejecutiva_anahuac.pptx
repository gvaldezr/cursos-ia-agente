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Buenos dias. Gracias por su tiempo.
Voy a ser directo: el 85% de nuestros directivos no ha incorporado la IA generativa en su trabajo diario. No hablo de nuestros alumnos — ellos ya la usan para todo. Hablo de nosotros.
La IA generativa es la transformacion mas importante en productividad profesional desde la hoja de calculo. En los proximos 12 minutos les voy a mostrar como cerrar esa brecha. Con un programa que ya esta disenado, que ya tiene contenido listo, y que podemos lanzar con un piloto de 8-10 personas.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problema real no es que nuestros directivos no sepan de IA. Es que no existe un puente entre su realidad diaria y lo que la IA puede hacer.
Nuestros directores pasan 60-70% de su jornada en tareas que la IA podria acelerar: comunicados, indicadores, correos, minutas, informes. Son 10-15 horas por semana desperdiciadas.
No tenemos un framework institucional. Cada quien usa lo que puede, como puede.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UNESCO publico en 2024 su AI Competency Framework. Stanford tiene su propio marco. El Tec de Monterrey ya capacita a sus directivos desde hace 2 anos.
La buena noticia: ningun campus de la Red Anahuac tiene un programa formal de IA para directivos. Somos los primeros si actuamos ahora.
Nuestro programa no es generico — esta disenado para la gestion universitaria mexicana.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 presento IA Practica para Lideres Anahuac — 8 niveles progresivos.
4 fases: Entender (que es IA), Usar (correos y reportes), Acelerar (automatizacion), Integrar (agentes y ecosistema).
Dos versiones: academica y administrativa. 6.5 creditos SATCA. 3 Open Badges: Explorador IA, Estratega IA, Lider IA.
Herramienta: Amazon Quick — workspace completo con agentes.
Todo en cursos.memovaldez.com — [DEMO EN VIVO]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 comunicado de 45-60 min baja a 10-15 min. Consolidar indicadores de 2-3 horas baja a 30-45 min.
Al menos 5 horas por semana por directivo recuperadas. Si cada directivo recupera $50,000/ano en productividad, el ROI del primer ano con 10 personas es medio millon de pesos.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fases claras: Piloto (8-10 directivos, 4-6 semanas), Cohorte 1 (30-40, Nov-Dic 2026), Escalamiento (todos + Red Anahuac 2027).
Hoy solo necesitamos la Fase 1. 8-10 personas. 4-6 semanas.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contenido ya esta desarrollado. No estamos pidiendo crear algo — es un programa funcional que necesita luz verde.
Costo: $2,500-3,500 por participante. Piloto de 10: $25K-35K. ROI primer ano: $500K en productividad. Por cada $1 invertido, $14-20 de retorno.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 solicitudes claras:
1. Aprobacion institucional para el piloto
2. Seleccion de 8-10 directivos
3. Fecha de inicio: octubre 2026
Nos comprometemos a transparencia total: reportes semanales, metricas reales, caso de exito documentado.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Cierro con esta frase: Un curso que no cambia el comportamiento del lunes siguiente es entretenimiento, no formacion.
Este programa esta disenado para que cada participante use lo aprendido al dia siguiente, en sus tareas reales.
El mini sitio esta en pantalla. El contenido esta listo. La oportunidad esta ahora.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0F23"/>
        </a:solidFill>
      </p:bgPr>
    </p:bg>
    <p:spTree>
      <p:nvGrpSpPr>
        <p:cNvPr id="1" name=""/>
        <p:cNvGrpSpPr/>
        <p:nvPr/>
      </p:nvGrpSpPr>
      <p:grpSpPr>
        <a:xfrm>
          <a:off x="0" y="0"/>
          <a:ext cx="0" cy="0"/>
          <a:chOff x="0" y="0"/>
          <a:chExt cx="0" cy="0"/>
        </a:xfrm>
      </p:grpSpPr>
      <p:sp>
        <p:nvSpPr>
          <p:cNvPr id="2" name="Text 0"/>
          <p:cNvSpPr/>
          <p:nvPr/>
        </p:nvSpPr>
        <p:spPr>
          <a:xfrm>
            <a:off x="1828800" y="548640"/>
            <a:ext cx="5486400" cy="1645920"/>
          </a:xfrm>
          <a:prstGeom prst="rect">
            <a:avLst/>
          </a:prstGeom>
          <a:noFill/>
          <a:ln/>
        </p:spPr>
        <p:txBody>
          <a:bodyPr wrap="square" rtlCol="0" anchor="ctr"/>
          <a:lstStyle/>
          <a:p>
            <a:pPr algn="ctr" indent="0" marL="0">
              <a:buNone/>
            </a:pPr>
            <a:r>
              <a:rPr lang="en-US" sz="9600" b="1" dirty="0">
                <a:solidFill>
                  <a:srgbClr val="FF5900"/>
                </a:solidFill>
                <a:latin typeface="Arial Black" pitchFamily="34" charset="0"/>
                <a:ea typeface="Arial Black" pitchFamily="34" charset="-122"/>
                <a:cs typeface="Arial Black" pitchFamily="34" charset="-120"/>
              </a:rPr>
              <a:t>85%</a:t>
            </a:r>
            <a:endParaRPr lang="en-US" sz="9600" dirty="0"/>
          </a:p>
        </p:txBody>
      </p:sp>
      <p:sp>
        <p:nvSpPr>
          <p:cNvPr id="3" name="Text 1"/>
          <p:cNvSpPr/>
          <p:nvPr/>
        </p:nvSpPr>
        <p:spPr>
          <a:xfrm>
            <a:off x="1371600" y="2194560"/>
            <a:ext cx="6400800" cy="914400"/>
          </a:xfrm>
          <a:prstGeom prst="rect">
            <a:avLst/>
          </a:prstGeom>
          <a:noFill/>
          <a:ln/>
        </p:spPr>
        <p:txBody>
          <a:bodyPr wrap="square" rtlCol="0" anchor="ctr"/>
          <a:lstStyle/>
          <a:p>
            <a:pPr algn="ctr" indent="0" marL="0">
              <a:lnSpc>
                <a:spcPts val="2800"/>
              </a:lnSpc>
              <a:buNone/>
            </a:pPr>
            <a:r>
              <a:rPr lang="en-US" sz="2000" dirty="0">
                <a:solidFill>
                  <a:srgbClr val="E8E8F0"/>
                </a:solidFill>
                <a:latin typeface="Calibri" pitchFamily="34" charset="0"/>
                <a:ea typeface="Calibri" pitchFamily="34" charset="-122"/>
                <a:cs typeface="Calibri" pitchFamily="34" charset="-120"/>
              </a:rPr>
              <a:t>de los directivos de nuestra universidad</a:t>
            </a:r>
            <a:endParaRPr lang="en-US" sz="2000" dirty="0"/>
          </a:p>
          <a:p>
            <a:pPr algn="ctr" indent="0" marL="0">
              <a:lnSpc>
                <a:spcPts val="2800"/>
              </a:lnSpc>
              <a:buNone/>
            </a:pPr>
            <a:r>
              <a:rPr lang="en-US" sz="2000" dirty="0">
                <a:solidFill>
                  <a:srgbClr val="E8E8F0"/>
                </a:solidFill>
                <a:latin typeface="Calibri" pitchFamily="34" charset="0"/>
                <a:ea typeface="Calibri" pitchFamily="34" charset="-122"/>
                <a:cs typeface="Calibri" pitchFamily="34" charset="-120"/>
              </a:rPr>
              <a:t>no usa IA generativa en su trabajo diario.</a:t>
            </a:r>
            <a:endParaRPr lang="en-US" sz="2000" dirty="0"/>
          </a:p>
        </p:txBody>
      </p:sp>
      <p:sp>
        <p:nvSpPr>
          <p:cNvPr id="4" name="Text 2"/>
          <p:cNvSpPr/>
          <p:nvPr/>
        </p:nvSpPr>
        <p:spPr>
          <a:xfrm>
            <a:off x="1371600" y="3200400"/>
            <a:ext cx="6400800" cy="457200"/>
          </a:xfrm>
          <a:prstGeom prst="rect">
            <a:avLst/>
          </a:prstGeom>
          <a:noFill/>
          <a:ln/>
        </p:spPr>
        <p:txBody>
          <a:bodyPr wrap="square" rtlCol="0" anchor="ctr"/>
          <a:lstStyle/>
          <a:p>
            <a:pPr algn="ctr" indent="0" marL="0">
              <a:buNone/>
            </a:pPr>
            <a:r>
              <a:rPr lang="en-US" sz="1400" i="1" dirty="0">
                <a:solidFill>
                  <a:srgbClr val="A0A0B8"/>
                </a:solidFill>
                <a:latin typeface="Calibri" pitchFamily="34" charset="0"/>
                <a:ea typeface="Calibri" pitchFamily="34" charset="-122"/>
                <a:cs typeface="Calibri" pitchFamily="34" charset="-120"/>
              </a:rPr>
              <a:t>Mientras tanto, nuestros alumnos ya la usan para todo.</a:t>
            </a:r>
            <a:endParaRPr lang="en-US" sz="1400" dirty="0"/>
          </a:p>
        </p:txBody>
      </p:sp>
      <p:sp>
        <p:nvSpPr>
          <p:cNvPr id="5" name="Shape 3"/>
          <p:cNvSpPr/>
          <p:nvPr/>
        </p:nvSpPr>
        <p:spPr>
          <a:xfrm>
            <a:off x="0" y="4663440"/>
            <a:ext cx="9144000" cy="480060"/>
          </a:xfrm>
          <a:prstGeom prst="rect">
            <a:avLst/>
          </a:prstGeom>
          <a:solidFill>
            <a:srgbClr val="432F64"/>
          </a:solidFill>
          <a:ln/>
        </p:spPr>
      </p:sp>
      <p:sp>
        <p:nvSpPr>
          <p:cNvPr id="6" name="Text 4"/>
          <p:cNvSpPr/>
          <p:nvPr/>
        </p:nvSpPr>
        <p:spPr>
          <a:xfrm>
            <a:off x="457200" y="4709160"/>
            <a:ext cx="8229600" cy="411480"/>
          </a:xfrm>
          <a:prstGeom prst="rect">
            <a:avLst/>
          </a:prstGeom>
          <a:noFill/>
          <a:ln/>
        </p:spPr>
        <p:txBody>
          <a:bodyPr wrap="square" rtlCol="0" anchor="ctr"/>
          <a:lstStyle/>
          <a:p>
            <a:pPr algn="ctr" indent="0" marL="0">
              <a:buNone/>
            </a:pPr>
            <a:r>
              <a:rPr lang="en-US" sz="1000" dirty="0">
                <a:solidFill>
                  <a:srgbClr val="A0A0B8"/>
                </a:solidFill>
                <a:latin typeface="Calibri" pitchFamily="34" charset="0"/>
                <a:ea typeface="Calibri" pitchFamily="34" charset="-122"/>
                <a:cs typeface="Calibri" pitchFamily="34" charset="-120"/>
              </a:rPr>
              <a:t>IA Practica para Lideres Anahuac  |  Universidad Anahuac Mayab  |  Septiembre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0F23"/>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indent="0" marL="0">
              <a:buNone/>
            </a:pPr>
            <a:r>
              <a:rPr lang="en-US" sz="2400" b="1" dirty="0">
                <a:solidFill>
                  <a:srgbClr val="FFFFFF"/>
                </a:solidFill>
                <a:latin typeface="Arial Black" pitchFamily="34" charset="0"/>
                <a:ea typeface="Arial Black" pitchFamily="34" charset="-122"/>
                <a:cs typeface="Arial Black" pitchFamily="34" charset="-120"/>
              </a:rPr>
              <a:t>El problema no es que no sepamos de IA</a:t>
            </a:r>
            <a:endParaRPr lang="en-US" sz="2400" dirty="0"/>
          </a:p>
        </p:txBody>
      </p:sp>
      <p:sp>
        <p:nvSpPr>
          <p:cNvPr id="3" name="Shape 1"/>
          <p:cNvSpPr/>
          <p:nvPr/>
        </p:nvSpPr>
        <p:spPr>
          <a:xfrm>
            <a:off x="457200" y="1051560"/>
            <a:ext cx="2651760" cy="2560320"/>
          </a:xfrm>
          <a:prstGeom prst="rect">
            <a:avLst>
              <a:gd name="adj" fmla="val 5357"/>
            </a:avLst>
          </a:prstGeom>
          <a:solidFill>
            <a:srgbClr val="2A2A40"/>
          </a:solidFill>
          <a:ln/>
          <a:effectLst>
            <a:outerShdw sx="100000" sy="100000" kx="0" ky="0" algn="bl" rotWithShape="0" blurRad="50800" dist="25400" dir="16200000">
              <a:srgbClr val="000000">
                <a:alpha val="20000"/>
              </a:srgbClr>
            </a:outerShdw>
          </a:effectLst>
        </p:spPr>
      </p:sp>
      <p:sp>
        <p:nvSpPr>
          <p:cNvPr id="4" name="Text 2"/>
          <p:cNvSpPr/>
          <p:nvPr/>
        </p:nvSpPr>
        <p:spPr>
          <a:xfrm>
            <a:off x="640080" y="1188720"/>
            <a:ext cx="2286000" cy="457200"/>
          </a:xfrm>
          <a:prstGeom prst="rect">
            <a:avLst/>
          </a:prstGeom>
          <a:noFill/>
          <a:ln/>
        </p:spPr>
        <p:txBody>
          <a:bodyPr wrap="square" rtlCol="0" anchor="ctr"/>
          <a:lstStyle/>
          <a:p>
            <a:pPr indent="0" marL="0">
              <a:buNone/>
            </a:pPr>
            <a:r>
              <a:rPr lang="en-US" sz="1400" b="1" dirty="0">
                <a:solidFill>
                  <a:srgbClr val="FF5900"/>
                </a:solidFill>
                <a:latin typeface="Arial Black" pitchFamily="34" charset="0"/>
                <a:ea typeface="Arial Black" pitchFamily="34" charset="-122"/>
                <a:cs typeface="Arial Black" pitchFamily="34" charset="-120"/>
              </a:rPr>
              <a:t>🕐  Tiempo perdido</a:t>
            </a:r>
            <a:endParaRPr lang="en-US" sz="1400" dirty="0"/>
          </a:p>
        </p:txBody>
      </p:sp>
      <p:sp>
        <p:nvSpPr>
          <p:cNvPr id="5" name="Text 3"/>
          <p:cNvSpPr/>
          <p:nvPr/>
        </p:nvSpPr>
        <p:spPr>
          <a:xfrm>
            <a:off x="640080" y="1737360"/>
            <a:ext cx="2286000" cy="365760"/>
          </a:xfrm>
          <a:prstGeom prst="rect">
            <a:avLst/>
          </a:prstGeom>
          <a:noFill/>
          <a:ln/>
        </p:spPr>
        <p:txBody>
          <a:bodyPr wrap="square" rtlCol="0" anchor="ctr"/>
          <a:lstStyle/>
          <a:p>
            <a:pPr indent="0" marL="0">
              <a:buNone/>
            </a:pPr>
            <a:r>
              <a:rPr lang="en-US" sz="1200" b="1" dirty="0">
                <a:solidFill>
                  <a:srgbClr val="E8E8F0"/>
                </a:solidFill>
                <a:latin typeface="Calibri" pitchFamily="34" charset="0"/>
                <a:ea typeface="Calibri" pitchFamily="34" charset="-122"/>
                <a:cs typeface="Calibri" pitchFamily="34" charset="-120"/>
              </a:rPr>
              <a:t>60-70% de la jornada</a:t>
            </a:r>
            <a:endParaRPr lang="en-US" sz="1200" dirty="0"/>
          </a:p>
        </p:txBody>
      </p:sp>
      <p:sp>
        <p:nvSpPr>
          <p:cNvPr id="6" name="Text 4"/>
          <p:cNvSpPr/>
          <p:nvPr/>
        </p:nvSpPr>
        <p:spPr>
          <a:xfrm>
            <a:off x="640080" y="2103120"/>
            <a:ext cx="2286000" cy="365760"/>
          </a:xfrm>
          <a:prstGeom prst="rect">
            <a:avLst/>
          </a:prstGeom>
          <a:noFill/>
          <a:ln/>
        </p:spPr>
        <p:txBody>
          <a:bodyPr wrap="square" rtlCol="0" anchor="ctr"/>
          <a:lstStyle/>
          <a:p>
            <a:pPr indent="0" marL="0">
              <a:buNone/>
            </a:pPr>
            <a:r>
              <a:rPr lang="en-US" sz="1100" dirty="0">
                <a:solidFill>
                  <a:srgbClr val="A0A0B8"/>
                </a:solidFill>
                <a:latin typeface="Calibri" pitchFamily="34" charset="0"/>
                <a:ea typeface="Calibri" pitchFamily="34" charset="-122"/>
                <a:cs typeface="Calibri" pitchFamily="34" charset="-120"/>
              </a:rPr>
              <a:t>en tareas que la IA aceleraria</a:t>
            </a:r>
            <a:endParaRPr lang="en-US" sz="1100" dirty="0"/>
          </a:p>
        </p:txBody>
      </p:sp>
      <p:sp>
        <p:nvSpPr>
          <p:cNvPr id="7" name="Text 5"/>
          <p:cNvSpPr/>
          <p:nvPr/>
        </p:nvSpPr>
        <p:spPr>
          <a:xfrm>
            <a:off x="640080" y="2560320"/>
            <a:ext cx="2286000" cy="365760"/>
          </a:xfrm>
          <a:prstGeom prst="rect">
            <a:avLst/>
          </a:prstGeom>
          <a:noFill/>
          <a:ln/>
        </p:spPr>
        <p:txBody>
          <a:bodyPr wrap="square" rtlCol="0" anchor="ctr"/>
          <a:lstStyle/>
          <a:p>
            <a:pPr indent="0" marL="0">
              <a:buNone/>
            </a:pPr>
            <a:r>
              <a:rPr lang="en-US" sz="1100" dirty="0">
                <a:solidFill>
                  <a:srgbClr val="A0A0B8"/>
                </a:solidFill>
                <a:latin typeface="Calibri" pitchFamily="34" charset="0"/>
                <a:ea typeface="Calibri" pitchFamily="34" charset="-122"/>
                <a:cs typeface="Calibri" pitchFamily="34" charset="-120"/>
              </a:rPr>
              <a:t>= 10-15 hrs/semana desperdiciadas</a:t>
            </a:r>
            <a:endParaRPr lang="en-US" sz="1100" dirty="0"/>
          </a:p>
        </p:txBody>
      </p:sp>
      <p:sp>
        <p:nvSpPr>
          <p:cNvPr id="8" name="Shape 6"/>
          <p:cNvSpPr/>
          <p:nvPr/>
        </p:nvSpPr>
        <p:spPr>
          <a:xfrm>
            <a:off x="3291840" y="1051560"/>
            <a:ext cx="2651760" cy="2560320"/>
          </a:xfrm>
          <a:prstGeom prst="rect">
            <a:avLst>
              <a:gd name="adj" fmla="val 5357"/>
            </a:avLst>
          </a:prstGeom>
          <a:solidFill>
            <a:srgbClr val="2A2A40"/>
          </a:solidFill>
          <a:ln/>
          <a:effectLst>
            <a:outerShdw sx="100000" sy="100000" kx="0" ky="0" algn="bl" rotWithShape="0" blurRad="50800" dist="25400" dir="16200000">
              <a:srgbClr val="000000">
                <a:alpha val="20000"/>
              </a:srgbClr>
            </a:outerShdw>
          </a:effectLst>
        </p:spPr>
      </p:sp>
      <p:sp>
        <p:nvSpPr>
          <p:cNvPr id="9" name="Text 7"/>
          <p:cNvSpPr/>
          <p:nvPr/>
        </p:nvSpPr>
        <p:spPr>
          <a:xfrm>
            <a:off x="3474720" y="1188720"/>
            <a:ext cx="2286000" cy="457200"/>
          </a:xfrm>
          <a:prstGeom prst="rect">
            <a:avLst/>
          </a:prstGeom>
          <a:noFill/>
          <a:ln/>
        </p:spPr>
        <p:txBody>
          <a:bodyPr wrap="square" rtlCol="0" anchor="ctr"/>
          <a:lstStyle/>
          <a:p>
            <a:pPr indent="0" marL="0">
              <a:buNone/>
            </a:pPr>
            <a:r>
              <a:rPr lang="en-US" sz="1400" b="1" dirty="0">
                <a:solidFill>
                  <a:srgbClr val="FF5900"/>
                </a:solidFill>
                <a:latin typeface="Arial Black" pitchFamily="34" charset="0"/>
                <a:ea typeface="Arial Black" pitchFamily="34" charset="-122"/>
                <a:cs typeface="Arial Black" pitchFamily="34" charset="-120"/>
              </a:rPr>
              <a:t>🔧  Uso superficial</a:t>
            </a:r>
            <a:endParaRPr lang="en-US" sz="1400" dirty="0"/>
          </a:p>
        </p:txBody>
      </p:sp>
      <p:sp>
        <p:nvSpPr>
          <p:cNvPr id="10" name="Text 8"/>
          <p:cNvSpPr/>
          <p:nvPr/>
        </p:nvSpPr>
        <p:spPr>
          <a:xfrm>
            <a:off x="3474720" y="1737360"/>
            <a:ext cx="2286000" cy="365760"/>
          </a:xfrm>
          <a:prstGeom prst="rect">
            <a:avLst/>
          </a:prstGeom>
          <a:noFill/>
          <a:ln/>
        </p:spPr>
        <p:txBody>
          <a:bodyPr wrap="square" rtlCol="0" anchor="ctr"/>
          <a:lstStyle/>
          <a:p>
            <a:pPr indent="0" marL="0">
              <a:buNone/>
            </a:pPr>
            <a:r>
              <a:rPr lang="en-US" sz="1200" b="1" dirty="0">
                <a:solidFill>
                  <a:srgbClr val="E8E8F0"/>
                </a:solidFill>
                <a:latin typeface="Calibri" pitchFamily="34" charset="0"/>
                <a:ea typeface="Calibri" pitchFamily="34" charset="-122"/>
                <a:cs typeface="Calibri" pitchFamily="34" charset="-120"/>
              </a:rPr>
              <a:t>"Pidele algo a ChatGPT"</a:t>
            </a:r>
            <a:endParaRPr lang="en-US" sz="1200" dirty="0"/>
          </a:p>
        </p:txBody>
      </p:sp>
      <p:sp>
        <p:nvSpPr>
          <p:cNvPr id="11" name="Text 9"/>
          <p:cNvSpPr/>
          <p:nvPr/>
        </p:nvSpPr>
        <p:spPr>
          <a:xfrm>
            <a:off x="3474720" y="2103120"/>
            <a:ext cx="2286000" cy="365760"/>
          </a:xfrm>
          <a:prstGeom prst="rect">
            <a:avLst/>
          </a:prstGeom>
          <a:noFill/>
          <a:ln/>
        </p:spPr>
        <p:txBody>
          <a:bodyPr wrap="square" rtlCol="0" anchor="ctr"/>
          <a:lstStyle/>
          <a:p>
            <a:pPr indent="0" marL="0">
              <a:buNone/>
            </a:pPr>
            <a:r>
              <a:rPr lang="en-US" sz="1100" dirty="0">
                <a:solidFill>
                  <a:srgbClr val="A0A0B8"/>
                </a:solidFill>
                <a:latin typeface="Calibri" pitchFamily="34" charset="0"/>
                <a:ea typeface="Calibri" pitchFamily="34" charset="-122"/>
                <a:cs typeface="Calibri" pitchFamily="34" charset="-120"/>
              </a:rPr>
              <a:t>Sin metodo ni framework</a:t>
            </a:r>
            <a:endParaRPr lang="en-US" sz="1100" dirty="0"/>
          </a:p>
        </p:txBody>
      </p:sp>
      <p:sp>
        <p:nvSpPr>
          <p:cNvPr id="12" name="Text 10"/>
          <p:cNvSpPr/>
          <p:nvPr/>
        </p:nvSpPr>
        <p:spPr>
          <a:xfrm>
            <a:off x="3474720" y="2560320"/>
            <a:ext cx="2286000" cy="365760"/>
          </a:xfrm>
          <a:prstGeom prst="rect">
            <a:avLst/>
          </a:prstGeom>
          <a:noFill/>
          <a:ln/>
        </p:spPr>
        <p:txBody>
          <a:bodyPr wrap="square" rtlCol="0" anchor="ctr"/>
          <a:lstStyle/>
          <a:p>
            <a:pPr indent="0" marL="0">
              <a:buNone/>
            </a:pPr>
            <a:r>
              <a:rPr lang="en-US" sz="1100" dirty="0">
                <a:solidFill>
                  <a:srgbClr val="A0A0B8"/>
                </a:solidFill>
                <a:latin typeface="Calibri" pitchFamily="34" charset="0"/>
                <a:ea typeface="Calibri" pitchFamily="34" charset="-122"/>
                <a:cs typeface="Calibri" pitchFamily="34" charset="-120"/>
              </a:rPr>
              <a:t>Sin estandar institucional</a:t>
            </a:r>
            <a:endParaRPr lang="en-US" sz="1100" dirty="0"/>
          </a:p>
        </p:txBody>
      </p:sp>
      <p:sp>
        <p:nvSpPr>
          <p:cNvPr id="13" name="Shape 11"/>
          <p:cNvSpPr/>
          <p:nvPr/>
        </p:nvSpPr>
        <p:spPr>
          <a:xfrm>
            <a:off x="6126480" y="1051560"/>
            <a:ext cx="2651760" cy="2560320"/>
          </a:xfrm>
          <a:prstGeom prst="rect">
            <a:avLst>
              <a:gd name="adj" fmla="val 5357"/>
            </a:avLst>
          </a:prstGeom>
          <a:solidFill>
            <a:srgbClr val="2A2A40"/>
          </a:solidFill>
          <a:ln/>
          <a:effectLst>
            <a:outerShdw sx="100000" sy="100000" kx="0" ky="0" algn="bl" rotWithShape="0" blurRad="50800" dist="25400" dir="16200000">
              <a:srgbClr val="000000">
                <a:alpha val="20000"/>
              </a:srgbClr>
            </a:outerShdw>
          </a:effectLst>
        </p:spPr>
      </p:sp>
      <p:sp>
        <p:nvSpPr>
          <p:cNvPr id="14" name="Text 12"/>
          <p:cNvSpPr/>
          <p:nvPr/>
        </p:nvSpPr>
        <p:spPr>
          <a:xfrm>
            <a:off x="6309360" y="1188720"/>
            <a:ext cx="2286000" cy="457200"/>
          </a:xfrm>
          <a:prstGeom prst="rect">
            <a:avLst/>
          </a:prstGeom>
          <a:noFill/>
          <a:ln/>
        </p:spPr>
        <p:txBody>
          <a:bodyPr wrap="square" rtlCol="0" anchor="ctr"/>
          <a:lstStyle/>
          <a:p>
            <a:pPr indent="0" marL="0">
              <a:buNone/>
            </a:pPr>
            <a:r>
              <a:rPr lang="en-US" sz="1400" b="1" dirty="0">
                <a:solidFill>
                  <a:srgbClr val="FF5900"/>
                </a:solidFill>
                <a:latin typeface="Arial Black" pitchFamily="34" charset="0"/>
                <a:ea typeface="Arial Black" pitchFamily="34" charset="-122"/>
                <a:cs typeface="Arial Black" pitchFamily="34" charset="-120"/>
              </a:rPr>
              <a:t>📉  Brecha creciente</a:t>
            </a:r>
            <a:endParaRPr lang="en-US" sz="1400" dirty="0"/>
          </a:p>
        </p:txBody>
      </p:sp>
      <p:sp>
        <p:nvSpPr>
          <p:cNvPr id="15" name="Text 13"/>
          <p:cNvSpPr/>
          <p:nvPr/>
        </p:nvSpPr>
        <p:spPr>
          <a:xfrm>
            <a:off x="6309360" y="1737360"/>
            <a:ext cx="2286000" cy="365760"/>
          </a:xfrm>
          <a:prstGeom prst="rect">
            <a:avLst/>
          </a:prstGeom>
          <a:noFill/>
          <a:ln/>
        </p:spPr>
        <p:txBody>
          <a:bodyPr wrap="square" rtlCol="0" anchor="ctr"/>
          <a:lstStyle/>
          <a:p>
            <a:pPr indent="0" marL="0">
              <a:buNone/>
            </a:pPr>
            <a:r>
              <a:rPr lang="en-US" sz="1200" b="1" dirty="0">
                <a:solidFill>
                  <a:srgbClr val="E8E8F0"/>
                </a:solidFill>
                <a:latin typeface="Calibri" pitchFamily="34" charset="0"/>
                <a:ea typeface="Calibri" pitchFamily="34" charset="-122"/>
                <a:cs typeface="Calibri" pitchFamily="34" charset="-120"/>
              </a:rPr>
              <a:t>Equipos y alumnos avanzan</a:t>
            </a:r>
            <a:endParaRPr lang="en-US" sz="1200" dirty="0"/>
          </a:p>
        </p:txBody>
      </p:sp>
      <p:sp>
        <p:nvSpPr>
          <p:cNvPr id="16" name="Text 14"/>
          <p:cNvSpPr/>
          <p:nvPr/>
        </p:nvSpPr>
        <p:spPr>
          <a:xfrm>
            <a:off x="6309360" y="2103120"/>
            <a:ext cx="2286000" cy="365760"/>
          </a:xfrm>
          <a:prstGeom prst="rect">
            <a:avLst/>
          </a:prstGeom>
          <a:noFill/>
          <a:ln/>
        </p:spPr>
        <p:txBody>
          <a:bodyPr wrap="square" rtlCol="0" anchor="ctr"/>
          <a:lstStyle/>
          <a:p>
            <a:pPr indent="0" marL="0">
              <a:buNone/>
            </a:pPr>
            <a:r>
              <a:rPr lang="en-US" sz="1100" dirty="0">
                <a:solidFill>
                  <a:srgbClr val="A0A0B8"/>
                </a:solidFill>
                <a:latin typeface="Calibri" pitchFamily="34" charset="0"/>
                <a:ea typeface="Calibri" pitchFamily="34" charset="-122"/>
                <a:cs typeface="Calibri" pitchFamily="34" charset="-120"/>
              </a:rPr>
              <a:t>Los directivos se quedan atras</a:t>
            </a:r>
            <a:endParaRPr lang="en-US" sz="1100" dirty="0"/>
          </a:p>
        </p:txBody>
      </p:sp>
      <p:sp>
        <p:nvSpPr>
          <p:cNvPr id="17" name="Text 15"/>
          <p:cNvSpPr/>
          <p:nvPr/>
        </p:nvSpPr>
        <p:spPr>
          <a:xfrm>
            <a:off x="6309360" y="2560320"/>
            <a:ext cx="2286000" cy="365760"/>
          </a:xfrm>
          <a:prstGeom prst="rect">
            <a:avLst/>
          </a:prstGeom>
          <a:noFill/>
          <a:ln/>
        </p:spPr>
        <p:txBody>
          <a:bodyPr wrap="square" rtlCol="0" anchor="ctr"/>
          <a:lstStyle/>
          <a:p>
            <a:pPr indent="0" marL="0">
              <a:buNone/>
            </a:pPr>
            <a:r>
              <a:rPr lang="en-US" sz="1100" dirty="0">
                <a:solidFill>
                  <a:srgbClr val="A0A0B8"/>
                </a:solidFill>
                <a:latin typeface="Calibri" pitchFamily="34" charset="0"/>
                <a:ea typeface="Calibri" pitchFamily="34" charset="-122"/>
                <a:cs typeface="Calibri" pitchFamily="34" charset="-120"/>
              </a:rPr>
              <a:t>Riesgo de obsolescencia</a:t>
            </a:r>
            <a:endParaRPr lang="en-US" sz="1100" dirty="0"/>
          </a:p>
        </p:txBody>
      </p:sp>
      <p:sp>
        <p:nvSpPr>
          <p:cNvPr id="18" name="Shape 16"/>
          <p:cNvSpPr/>
          <p:nvPr/>
        </p:nvSpPr>
        <p:spPr>
          <a:xfrm>
            <a:off x="457200" y="3840480"/>
            <a:ext cx="8229600" cy="1005840"/>
          </a:xfrm>
          <a:prstGeom prst="rect">
            <a:avLst>
              <a:gd name="adj" fmla="val 9091"/>
            </a:avLst>
          </a:prstGeom>
          <a:solidFill>
            <a:srgbClr val="1A1A32"/>
          </a:solidFill>
          <a:ln/>
        </p:spPr>
      </p:sp>
      <p:sp>
        <p:nvSpPr>
          <p:cNvPr id="19" name="Text 17"/>
          <p:cNvSpPr/>
          <p:nvPr/>
        </p:nvSpPr>
        <p:spPr>
          <a:xfrm>
            <a:off x="640080" y="3931920"/>
            <a:ext cx="7863840" cy="822960"/>
          </a:xfrm>
          <a:prstGeom prst="rect">
            <a:avLst/>
          </a:prstGeom>
          <a:noFill/>
          <a:ln/>
        </p:spPr>
        <p:txBody>
          <a:bodyPr wrap="square" rtlCol="0" anchor="ctr"/>
          <a:lstStyle/>
          <a:p>
            <a:pPr algn="ctr" indent="0" marL="0">
              <a:buNone/>
            </a:pPr>
            <a:r>
              <a:rPr lang="en-US" sz="1200" i="1" dirty="0">
                <a:solidFill>
                  <a:srgbClr val="FF7A33"/>
                </a:solidFill>
                <a:latin typeface="Calibri" pitchFamily="34" charset="0"/>
                <a:ea typeface="Calibri" pitchFamily="34" charset="-122"/>
                <a:cs typeface="Calibri" pitchFamily="34" charset="-120"/>
              </a:rPr>
              <a:t>"Soy coordinadora en Anahuac, tengo 47 correos por responder y un reporte de desercion que entregar el viernes — ¿como me ayuda la IA HOY?"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0F23"/>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Benchmark: el mundo universitario ya se mueve</a:t>
            </a:r>
            <a:endParaRPr lang="en-US" sz="2200" dirty="0"/>
          </a:p>
        </p:txBody>
      </p:sp>
      <p:sp>
        <p:nvSpPr>
          <p:cNvPr id="3" name="Text 1"/>
          <p:cNvSpPr/>
          <p:nvPr/>
        </p:nvSpPr>
        <p:spPr>
          <a:xfrm>
            <a:off x="457200" y="1005840"/>
            <a:ext cx="4114800" cy="365760"/>
          </a:xfrm>
          <a:prstGeom prst="rect">
            <a:avLst/>
          </a:prstGeom>
          <a:noFill/>
          <a:ln/>
        </p:spPr>
        <p:txBody>
          <a:bodyPr wrap="square" rtlCol="0" anchor="ctr"/>
          <a:lstStyle/>
          <a:p>
            <a:pPr indent="0" marL="0">
              <a:buNone/>
            </a:pPr>
            <a:r>
              <a:rPr lang="en-US" sz="1300" dirty="0">
                <a:solidFill>
                  <a:srgbClr val="FF5900"/>
                </a:solidFill>
                <a:latin typeface="Arial Black" pitchFamily="34" charset="0"/>
                <a:ea typeface="Arial Black" pitchFamily="34" charset="-122"/>
                <a:cs typeface="Arial Black" pitchFamily="34" charset="-120"/>
              </a:rPr>
              <a:t>Lo que hacen otros</a:t>
            </a:r>
            <a:endParaRPr lang="en-US" sz="1300" dirty="0"/>
          </a:p>
        </p:txBody>
      </p:sp>
      <p:sp>
        <p:nvSpPr>
          <p:cNvPr id="4" name="Shape 2"/>
          <p:cNvSpPr/>
          <p:nvPr/>
        </p:nvSpPr>
        <p:spPr>
          <a:xfrm>
            <a:off x="457200" y="1417320"/>
            <a:ext cx="4114800" cy="411480"/>
          </a:xfrm>
          <a:prstGeom prst="rect">
            <a:avLst>
              <a:gd name="adj" fmla="val 11111"/>
            </a:avLst>
          </a:prstGeom>
          <a:solidFill>
            <a:srgbClr val="2A2A40"/>
          </a:solidFill>
          <a:ln/>
        </p:spPr>
      </p:sp>
      <p:sp>
        <p:nvSpPr>
          <p:cNvPr id="5" name="Text 3"/>
          <p:cNvSpPr/>
          <p:nvPr/>
        </p:nvSpPr>
        <p:spPr>
          <a:xfrm>
            <a:off x="548640" y="1417320"/>
            <a:ext cx="1645920" cy="411480"/>
          </a:xfrm>
          <a:prstGeom prst="rect">
            <a:avLst/>
          </a:prstGeom>
          <a:noFill/>
          <a:ln/>
        </p:spPr>
        <p:txBody>
          <a:bodyPr wrap="square" rtlCol="0" anchor="ctr"/>
          <a:lstStyle/>
          <a:p>
            <a:pPr indent="0" marL="0">
              <a:buNone/>
            </a:pPr>
            <a:r>
              <a:rPr lang="en-US" sz="1000" b="1" dirty="0">
                <a:solidFill>
                  <a:srgbClr val="E8E8F0"/>
                </a:solidFill>
                <a:latin typeface="Calibri" pitchFamily="34" charset="0"/>
                <a:ea typeface="Calibri" pitchFamily="34" charset="-122"/>
                <a:cs typeface="Calibri" pitchFamily="34" charset="-120"/>
              </a:rPr>
              <a:t>Stanford HAI</a:t>
            </a:r>
            <a:endParaRPr lang="en-US" sz="1000" dirty="0"/>
          </a:p>
        </p:txBody>
      </p:sp>
      <p:sp>
        <p:nvSpPr>
          <p:cNvPr id="6" name="Text 4"/>
          <p:cNvSpPr/>
          <p:nvPr/>
        </p:nvSpPr>
        <p:spPr>
          <a:xfrm>
            <a:off x="2286000" y="1417320"/>
            <a:ext cx="2194560" cy="411480"/>
          </a:xfrm>
          <a:prstGeom prst="rect">
            <a:avLst/>
          </a:prstGeom>
          <a:noFill/>
          <a:ln/>
        </p:spPr>
        <p:txBody>
          <a:bodyPr wrap="square" rtlCol="0" anchor="ctr"/>
          <a:lstStyle/>
          <a:p>
            <a:pPr indent="0" marL="0">
              <a:buNone/>
            </a:pPr>
            <a:r>
              <a:rPr lang="en-US" sz="1000" dirty="0">
                <a:solidFill>
                  <a:srgbClr val="A0A0B8"/>
                </a:solidFill>
                <a:latin typeface="Calibri" pitchFamily="34" charset="0"/>
                <a:ea typeface="Calibri" pitchFamily="34" charset="-122"/>
                <a:cs typeface="Calibri" pitchFamily="34" charset="-120"/>
              </a:rPr>
              <a:t>Framework AI Literacy para lideres</a:t>
            </a:r>
            <a:endParaRPr lang="en-US" sz="1000" dirty="0"/>
          </a:p>
        </p:txBody>
      </p:sp>
      <p:sp>
        <p:nvSpPr>
          <p:cNvPr id="7" name="Shape 5"/>
          <p:cNvSpPr/>
          <p:nvPr/>
        </p:nvSpPr>
        <p:spPr>
          <a:xfrm>
            <a:off x="457200" y="1874520"/>
            <a:ext cx="4114800" cy="411480"/>
          </a:xfrm>
          <a:prstGeom prst="rect">
            <a:avLst>
              <a:gd name="adj" fmla="val 11111"/>
            </a:avLst>
          </a:prstGeom>
          <a:solidFill>
            <a:srgbClr val="252540"/>
          </a:solidFill>
          <a:ln/>
        </p:spPr>
      </p:sp>
      <p:sp>
        <p:nvSpPr>
          <p:cNvPr id="8" name="Text 6"/>
          <p:cNvSpPr/>
          <p:nvPr/>
        </p:nvSpPr>
        <p:spPr>
          <a:xfrm>
            <a:off x="548640" y="1874520"/>
            <a:ext cx="1645920" cy="411480"/>
          </a:xfrm>
          <a:prstGeom prst="rect">
            <a:avLst/>
          </a:prstGeom>
          <a:noFill/>
          <a:ln/>
        </p:spPr>
        <p:txBody>
          <a:bodyPr wrap="square" rtlCol="0" anchor="ctr"/>
          <a:lstStyle/>
          <a:p>
            <a:pPr indent="0" marL="0">
              <a:buNone/>
            </a:pPr>
            <a:r>
              <a:rPr lang="en-US" sz="1000" b="1" dirty="0">
                <a:solidFill>
                  <a:srgbClr val="E8E8F0"/>
                </a:solidFill>
                <a:latin typeface="Calibri" pitchFamily="34" charset="0"/>
                <a:ea typeface="Calibri" pitchFamily="34" charset="-122"/>
                <a:cs typeface="Calibri" pitchFamily="34" charset="-120"/>
              </a:rPr>
              <a:t>UNESCO (2024)</a:t>
            </a:r>
            <a:endParaRPr lang="en-US" sz="1000" dirty="0"/>
          </a:p>
        </p:txBody>
      </p:sp>
      <p:sp>
        <p:nvSpPr>
          <p:cNvPr id="9" name="Text 7"/>
          <p:cNvSpPr/>
          <p:nvPr/>
        </p:nvSpPr>
        <p:spPr>
          <a:xfrm>
            <a:off x="2286000" y="1874520"/>
            <a:ext cx="2194560" cy="411480"/>
          </a:xfrm>
          <a:prstGeom prst="rect">
            <a:avLst/>
          </a:prstGeom>
          <a:noFill/>
          <a:ln/>
        </p:spPr>
        <p:txBody>
          <a:bodyPr wrap="square" rtlCol="0" anchor="ctr"/>
          <a:lstStyle/>
          <a:p>
            <a:pPr indent="0" marL="0">
              <a:buNone/>
            </a:pPr>
            <a:r>
              <a:rPr lang="en-US" sz="1000" dirty="0">
                <a:solidFill>
                  <a:srgbClr val="A0A0B8"/>
                </a:solidFill>
                <a:latin typeface="Calibri" pitchFamily="34" charset="0"/>
                <a:ea typeface="Calibri" pitchFamily="34" charset="-122"/>
                <a:cs typeface="Calibri" pitchFamily="34" charset="-120"/>
              </a:rPr>
              <a:t>AI Competency Framework global</a:t>
            </a:r>
            <a:endParaRPr lang="en-US" sz="1000" dirty="0"/>
          </a:p>
        </p:txBody>
      </p:sp>
      <p:sp>
        <p:nvSpPr>
          <p:cNvPr id="10" name="Shape 8"/>
          <p:cNvSpPr/>
          <p:nvPr/>
        </p:nvSpPr>
        <p:spPr>
          <a:xfrm>
            <a:off x="457200" y="2331720"/>
            <a:ext cx="4114800" cy="411480"/>
          </a:xfrm>
          <a:prstGeom prst="rect">
            <a:avLst>
              <a:gd name="adj" fmla="val 11111"/>
            </a:avLst>
          </a:prstGeom>
          <a:solidFill>
            <a:srgbClr val="2A2A40"/>
          </a:solidFill>
          <a:ln/>
        </p:spPr>
      </p:sp>
      <p:sp>
        <p:nvSpPr>
          <p:cNvPr id="11" name="Text 9"/>
          <p:cNvSpPr/>
          <p:nvPr/>
        </p:nvSpPr>
        <p:spPr>
          <a:xfrm>
            <a:off x="548640" y="2331720"/>
            <a:ext cx="1645920" cy="411480"/>
          </a:xfrm>
          <a:prstGeom prst="rect">
            <a:avLst/>
          </a:prstGeom>
          <a:noFill/>
          <a:ln/>
        </p:spPr>
        <p:txBody>
          <a:bodyPr wrap="square" rtlCol="0" anchor="ctr"/>
          <a:lstStyle/>
          <a:p>
            <a:pPr indent="0" marL="0">
              <a:buNone/>
            </a:pPr>
            <a:r>
              <a:rPr lang="en-US" sz="1000" b="1" dirty="0">
                <a:solidFill>
                  <a:srgbClr val="E8E8F0"/>
                </a:solidFill>
                <a:latin typeface="Calibri" pitchFamily="34" charset="0"/>
                <a:ea typeface="Calibri" pitchFamily="34" charset="-122"/>
                <a:cs typeface="Calibri" pitchFamily="34" charset="-120"/>
              </a:rPr>
              <a:t>Tec de Monterrey</a:t>
            </a:r>
            <a:endParaRPr lang="en-US" sz="1000" dirty="0"/>
          </a:p>
        </p:txBody>
      </p:sp>
      <p:sp>
        <p:nvSpPr>
          <p:cNvPr id="12" name="Text 10"/>
          <p:cNvSpPr/>
          <p:nvPr/>
        </p:nvSpPr>
        <p:spPr>
          <a:xfrm>
            <a:off x="2286000" y="2331720"/>
            <a:ext cx="2194560" cy="411480"/>
          </a:xfrm>
          <a:prstGeom prst="rect">
            <a:avLst/>
          </a:prstGeom>
          <a:noFill/>
          <a:ln/>
        </p:spPr>
        <p:txBody>
          <a:bodyPr wrap="square" rtlCol="0" anchor="ctr"/>
          <a:lstStyle/>
          <a:p>
            <a:pPr indent="0" marL="0">
              <a:buNone/>
            </a:pPr>
            <a:r>
              <a:rPr lang="en-US" sz="1000" dirty="0">
                <a:solidFill>
                  <a:srgbClr val="A0A0B8"/>
                </a:solidFill>
                <a:latin typeface="Calibri" pitchFamily="34" charset="0"/>
                <a:ea typeface="Calibri" pitchFamily="34" charset="-122"/>
                <a:cs typeface="Calibri" pitchFamily="34" charset="-120"/>
              </a:rPr>
              <a:t>Programa IA directivos desde 2024</a:t>
            </a:r>
            <a:endParaRPr lang="en-US" sz="1000" dirty="0"/>
          </a:p>
        </p:txBody>
      </p:sp>
      <p:sp>
        <p:nvSpPr>
          <p:cNvPr id="13" name="Shape 11"/>
          <p:cNvSpPr/>
          <p:nvPr/>
        </p:nvSpPr>
        <p:spPr>
          <a:xfrm>
            <a:off x="457200" y="2788920"/>
            <a:ext cx="4114800" cy="411480"/>
          </a:xfrm>
          <a:prstGeom prst="rect">
            <a:avLst>
              <a:gd name="adj" fmla="val 11111"/>
            </a:avLst>
          </a:prstGeom>
          <a:solidFill>
            <a:srgbClr val="252540"/>
          </a:solidFill>
          <a:ln/>
        </p:spPr>
      </p:sp>
      <p:sp>
        <p:nvSpPr>
          <p:cNvPr id="14" name="Text 12"/>
          <p:cNvSpPr/>
          <p:nvPr/>
        </p:nvSpPr>
        <p:spPr>
          <a:xfrm>
            <a:off x="548640" y="2788920"/>
            <a:ext cx="1645920" cy="411480"/>
          </a:xfrm>
          <a:prstGeom prst="rect">
            <a:avLst/>
          </a:prstGeom>
          <a:noFill/>
          <a:ln/>
        </p:spPr>
        <p:txBody>
          <a:bodyPr wrap="square" rtlCol="0" anchor="ctr"/>
          <a:lstStyle/>
          <a:p>
            <a:pPr indent="0" marL="0">
              <a:buNone/>
            </a:pPr>
            <a:r>
              <a:rPr lang="en-US" sz="1000" b="1" dirty="0">
                <a:solidFill>
                  <a:srgbClr val="E8E8F0"/>
                </a:solidFill>
                <a:latin typeface="Calibri" pitchFamily="34" charset="0"/>
                <a:ea typeface="Calibri" pitchFamily="34" charset="-122"/>
                <a:cs typeface="Calibri" pitchFamily="34" charset="-120"/>
              </a:rPr>
              <a:t>ANUIES</a:t>
            </a:r>
            <a:endParaRPr lang="en-US" sz="1000" dirty="0"/>
          </a:p>
        </p:txBody>
      </p:sp>
      <p:sp>
        <p:nvSpPr>
          <p:cNvPr id="15" name="Text 13"/>
          <p:cNvSpPr/>
          <p:nvPr/>
        </p:nvSpPr>
        <p:spPr>
          <a:xfrm>
            <a:off x="2286000" y="2788920"/>
            <a:ext cx="2194560" cy="411480"/>
          </a:xfrm>
          <a:prstGeom prst="rect">
            <a:avLst/>
          </a:prstGeom>
          <a:noFill/>
          <a:ln/>
        </p:spPr>
        <p:txBody>
          <a:bodyPr wrap="square" rtlCol="0" anchor="ctr"/>
          <a:lstStyle/>
          <a:p>
            <a:pPr indent="0" marL="0">
              <a:buNone/>
            </a:pPr>
            <a:r>
              <a:rPr lang="en-US" sz="1000" dirty="0">
                <a:solidFill>
                  <a:srgbClr val="A0A0B8"/>
                </a:solidFill>
                <a:latin typeface="Calibri" pitchFamily="34" charset="0"/>
                <a:ea typeface="Calibri" pitchFamily="34" charset="-122"/>
                <a:cs typeface="Calibri" pitchFamily="34" charset="-120"/>
              </a:rPr>
              <a:t>Comites de transformacion digital</a:t>
            </a:r>
            <a:endParaRPr lang="en-US" sz="1000" dirty="0"/>
          </a:p>
        </p:txBody>
      </p:sp>
      <p:sp>
        <p:nvSpPr>
          <p:cNvPr id="16" name="Text 14"/>
          <p:cNvSpPr/>
          <p:nvPr/>
        </p:nvSpPr>
        <p:spPr>
          <a:xfrm>
            <a:off x="4846320" y="1005840"/>
            <a:ext cx="3840480" cy="365760"/>
          </a:xfrm>
          <a:prstGeom prst="rect">
            <a:avLst/>
          </a:prstGeom>
          <a:noFill/>
          <a:ln/>
        </p:spPr>
        <p:txBody>
          <a:bodyPr wrap="square" rtlCol="0" anchor="ctr"/>
          <a:lstStyle/>
          <a:p>
            <a:pPr indent="0" marL="0">
              <a:buNone/>
            </a:pPr>
            <a:r>
              <a:rPr lang="en-US" sz="1300" dirty="0">
                <a:solidFill>
                  <a:srgbClr val="FF5900"/>
                </a:solidFill>
                <a:latin typeface="Arial Black" pitchFamily="34" charset="0"/>
                <a:ea typeface="Arial Black" pitchFamily="34" charset="-122"/>
                <a:cs typeface="Arial Black" pitchFamily="34" charset="-120"/>
              </a:rPr>
              <a:t>Nuestra ventana</a:t>
            </a:r>
            <a:endParaRPr lang="en-US" sz="1300" dirty="0"/>
          </a:p>
        </p:txBody>
      </p:sp>
      <p:sp>
        <p:nvSpPr>
          <p:cNvPr id="17" name="Shape 15"/>
          <p:cNvSpPr/>
          <p:nvPr/>
        </p:nvSpPr>
        <p:spPr>
          <a:xfrm>
            <a:off x="4846320" y="1417320"/>
            <a:ext cx="3840480" cy="411480"/>
          </a:xfrm>
          <a:prstGeom prst="rect">
            <a:avLst>
              <a:gd name="adj" fmla="val 11111"/>
            </a:avLst>
          </a:prstGeom>
          <a:solidFill>
            <a:srgbClr val="2A2A40"/>
          </a:solidFill>
          <a:ln/>
        </p:spPr>
      </p:sp>
      <p:sp>
        <p:nvSpPr>
          <p:cNvPr id="18" name="Text 16"/>
          <p:cNvSpPr/>
          <p:nvPr/>
        </p:nvSpPr>
        <p:spPr>
          <a:xfrm>
            <a:off x="4937760" y="1417320"/>
            <a:ext cx="3657600" cy="41148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Primeros en la Red Anahuac</a:t>
            </a:r>
            <a:endParaRPr lang="en-US" sz="1000" dirty="0"/>
          </a:p>
        </p:txBody>
      </p:sp>
      <p:sp>
        <p:nvSpPr>
          <p:cNvPr id="19" name="Shape 17"/>
          <p:cNvSpPr/>
          <p:nvPr/>
        </p:nvSpPr>
        <p:spPr>
          <a:xfrm>
            <a:off x="4846320" y="1874520"/>
            <a:ext cx="3840480" cy="411480"/>
          </a:xfrm>
          <a:prstGeom prst="rect">
            <a:avLst>
              <a:gd name="adj" fmla="val 11111"/>
            </a:avLst>
          </a:prstGeom>
          <a:solidFill>
            <a:srgbClr val="2A2A40"/>
          </a:solidFill>
          <a:ln/>
        </p:spPr>
      </p:sp>
      <p:sp>
        <p:nvSpPr>
          <p:cNvPr id="20" name="Text 18"/>
          <p:cNvSpPr/>
          <p:nvPr/>
        </p:nvSpPr>
        <p:spPr>
          <a:xfrm>
            <a:off x="4937760" y="1874520"/>
            <a:ext cx="3657600" cy="41148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Contenido a la medida (gestion MX)</a:t>
            </a:r>
            <a:endParaRPr lang="en-US" sz="1000" dirty="0"/>
          </a:p>
        </p:txBody>
      </p:sp>
      <p:sp>
        <p:nvSpPr>
          <p:cNvPr id="21" name="Shape 19"/>
          <p:cNvSpPr/>
          <p:nvPr/>
        </p:nvSpPr>
        <p:spPr>
          <a:xfrm>
            <a:off x="4846320" y="2331720"/>
            <a:ext cx="3840480" cy="411480"/>
          </a:xfrm>
          <a:prstGeom prst="rect">
            <a:avLst>
              <a:gd name="adj" fmla="val 11111"/>
            </a:avLst>
          </a:prstGeom>
          <a:solidFill>
            <a:srgbClr val="2A2A40"/>
          </a:solidFill>
          <a:ln/>
        </p:spPr>
      </p:sp>
      <p:sp>
        <p:nvSpPr>
          <p:cNvPr id="22" name="Text 20"/>
          <p:cNvSpPr/>
          <p:nvPr/>
        </p:nvSpPr>
        <p:spPr>
          <a:xfrm>
            <a:off x="4937760" y="2331720"/>
            <a:ext cx="3657600" cy="41148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Timing: antes de planeacion 2027</a:t>
            </a:r>
            <a:endParaRPr lang="en-US" sz="1000" dirty="0"/>
          </a:p>
        </p:txBody>
      </p:sp>
      <p:sp>
        <p:nvSpPr>
          <p:cNvPr id="23" name="Shape 21"/>
          <p:cNvSpPr/>
          <p:nvPr/>
        </p:nvSpPr>
        <p:spPr>
          <a:xfrm>
            <a:off x="4846320" y="2788920"/>
            <a:ext cx="3840480" cy="411480"/>
          </a:xfrm>
          <a:prstGeom prst="rect">
            <a:avLst>
              <a:gd name="adj" fmla="val 11111"/>
            </a:avLst>
          </a:prstGeom>
          <a:solidFill>
            <a:srgbClr val="2A2A40"/>
          </a:solidFill>
          <a:ln/>
        </p:spPr>
      </p:sp>
      <p:sp>
        <p:nvSpPr>
          <p:cNvPr id="24" name="Text 22"/>
          <p:cNvSpPr/>
          <p:nvPr/>
        </p:nvSpPr>
        <p:spPr>
          <a:xfrm>
            <a:off x="4937760" y="2788920"/>
            <a:ext cx="3657600" cy="41148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Escalable a 12 campus</a:t>
            </a:r>
            <a:endParaRPr lang="en-US" sz="1000" dirty="0"/>
          </a:p>
        </p:txBody>
      </p:sp>
      <p:sp>
        <p:nvSpPr>
          <p:cNvPr id="25" name="Shape 23"/>
          <p:cNvSpPr/>
          <p:nvPr/>
        </p:nvSpPr>
        <p:spPr>
          <a:xfrm>
            <a:off x="457200" y="3566160"/>
            <a:ext cx="8229600" cy="640080"/>
          </a:xfrm>
          <a:prstGeom prst="rect">
            <a:avLst>
              <a:gd name="adj" fmla="val 14286"/>
            </a:avLst>
          </a:prstGeom>
          <a:solidFill>
            <a:srgbClr val="432F64"/>
          </a:solidFill>
          <a:ln/>
        </p:spPr>
      </p:sp>
      <p:sp>
        <p:nvSpPr>
          <p:cNvPr id="26" name="Text 24"/>
          <p:cNvSpPr/>
          <p:nvPr/>
        </p:nvSpPr>
        <p:spPr>
          <a:xfrm>
            <a:off x="640080" y="3611880"/>
            <a:ext cx="7863840" cy="548640"/>
          </a:xfrm>
          <a:prstGeom prst="rect">
            <a:avLst/>
          </a:prstGeom>
          <a:noFill/>
          <a:ln/>
        </p:spPr>
        <p:txBody>
          <a:bodyPr wrap="square" rtlCol="0" anchor="ctr"/>
          <a:lstStyle/>
          <a:p>
            <a:pPr algn="ctr" indent="0" marL="0">
              <a:buNone/>
            </a:pPr>
            <a:r>
              <a:rPr lang="en-US" sz="1400" i="1" dirty="0">
                <a:solidFill>
                  <a:srgbClr val="FFFFFF"/>
                </a:solidFill>
                <a:latin typeface="Calibri" pitchFamily="34" charset="0"/>
                <a:ea typeface="Calibri" pitchFamily="34" charset="-122"/>
                <a:cs typeface="Calibri" pitchFamily="34" charset="-120"/>
              </a:rPr>
              <a:t>"No ser los primeros es una opcion. Pero ser los ultimos es un riesgo."</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F0F23"/>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IA Practica para Lideres Anahuac</a:t>
            </a:r>
            <a:endParaRPr lang="en-US" sz="2200" dirty="0"/>
          </a:p>
        </p:txBody>
      </p:sp>
      <p:sp>
        <p:nvSpPr>
          <p:cNvPr id="3" name="Shape 1"/>
          <p:cNvSpPr/>
          <p:nvPr/>
        </p:nvSpPr>
        <p:spPr>
          <a:xfrm>
            <a:off x="320040" y="868680"/>
            <a:ext cx="2057400" cy="1645920"/>
          </a:xfrm>
          <a:prstGeom prst="rect">
            <a:avLst>
              <a:gd name="adj" fmla="val 5556"/>
            </a:avLst>
          </a:prstGeom>
          <a:solidFill>
            <a:srgbClr val="2A2A40"/>
          </a:solidFill>
          <a:ln/>
          <a:effectLst>
            <a:outerShdw sx="100000" sy="100000" kx="0" ky="0" algn="bl" rotWithShape="0" blurRad="50800" dist="25400" dir="16200000">
              <a:srgbClr val="000000">
                <a:alpha val="20000"/>
              </a:srgbClr>
            </a:outerShdw>
          </a:effectLst>
        </p:spPr>
      </p:sp>
      <p:sp>
        <p:nvSpPr>
          <p:cNvPr id="4" name="Text 2"/>
          <p:cNvSpPr/>
          <p:nvPr/>
        </p:nvSpPr>
        <p:spPr>
          <a:xfrm>
            <a:off x="457200" y="914400"/>
            <a:ext cx="1783080" cy="274320"/>
          </a:xfrm>
          <a:prstGeom prst="rect">
            <a:avLst/>
          </a:prstGeom>
          <a:noFill/>
          <a:ln/>
        </p:spPr>
        <p:txBody>
          <a:bodyPr wrap="square" rtlCol="0" anchor="ctr"/>
          <a:lstStyle/>
          <a:p>
            <a:pPr indent="0" marL="0">
              <a:buNone/>
            </a:pPr>
            <a:r>
              <a:rPr lang="en-US" sz="900" b="1" dirty="0">
                <a:solidFill>
                  <a:srgbClr val="FF5900"/>
                </a:solidFill>
                <a:latin typeface="Calibri" pitchFamily="34" charset="0"/>
                <a:ea typeface="Calibri" pitchFamily="34" charset="-122"/>
                <a:cs typeface="Calibri" pitchFamily="34" charset="-120"/>
              </a:rPr>
              <a:t>FASE I</a:t>
            </a:r>
            <a:endParaRPr lang="en-US" sz="900" dirty="0"/>
          </a:p>
        </p:txBody>
      </p:sp>
      <p:sp>
        <p:nvSpPr>
          <p:cNvPr id="5" name="Text 3"/>
          <p:cNvSpPr/>
          <p:nvPr/>
        </p:nvSpPr>
        <p:spPr>
          <a:xfrm>
            <a:off x="457200" y="1143000"/>
            <a:ext cx="1783080" cy="320040"/>
          </a:xfrm>
          <a:prstGeom prst="rect">
            <a:avLst/>
          </a:prstGeom>
          <a:noFill/>
          <a:ln/>
        </p:spPr>
        <p:txBody>
          <a:bodyPr wrap="square"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ENTENDER</a:t>
            </a:r>
            <a:endParaRPr lang="en-US" sz="1400" dirty="0"/>
          </a:p>
        </p:txBody>
      </p:sp>
      <p:sp>
        <p:nvSpPr>
          <p:cNvPr id="6" name="Text 4"/>
          <p:cNvSpPr/>
          <p:nvPr/>
        </p:nvSpPr>
        <p:spPr>
          <a:xfrm>
            <a:off x="457200" y="1417320"/>
            <a:ext cx="1783080" cy="228600"/>
          </a:xfrm>
          <a:prstGeom prst="rect">
            <a:avLst/>
          </a:prstGeom>
          <a:noFill/>
          <a:ln/>
        </p:spPr>
        <p:txBody>
          <a:bodyPr wrap="square" rtlCol="0" anchor="ctr"/>
          <a:lstStyle/>
          <a:p>
            <a:pPr indent="0" marL="0">
              <a:buNone/>
            </a:pPr>
            <a:r>
              <a:rPr lang="en-US" sz="900" dirty="0">
                <a:solidFill>
                  <a:srgbClr val="A0A0B8"/>
                </a:solidFill>
                <a:latin typeface="Calibri" pitchFamily="34" charset="0"/>
                <a:ea typeface="Calibri" pitchFamily="34" charset="-122"/>
                <a:cs typeface="Calibri" pitchFamily="34" charset="-120"/>
              </a:rPr>
              <a:t>Niveles 1-2</a:t>
            </a:r>
            <a:endParaRPr lang="en-US" sz="900" dirty="0"/>
          </a:p>
        </p:txBody>
      </p:sp>
      <p:sp>
        <p:nvSpPr>
          <p:cNvPr id="7" name="Text 5"/>
          <p:cNvSpPr/>
          <p:nvPr/>
        </p:nvSpPr>
        <p:spPr>
          <a:xfrm>
            <a:off x="457200" y="1691640"/>
            <a:ext cx="1783080" cy="640080"/>
          </a:xfrm>
          <a:prstGeom prst="rect">
            <a:avLst/>
          </a:prstGeom>
          <a:noFill/>
          <a:ln/>
        </p:spPr>
        <p:txBody>
          <a:bodyPr wrap="square" rtlCol="0" anchor="ctr"/>
          <a:lstStyle/>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Fundamentos IA</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Frameworks RCTF</a:t>
            </a:r>
            <a:endParaRPr lang="en-US" sz="1000" dirty="0"/>
          </a:p>
        </p:txBody>
      </p:sp>
      <p:sp>
        <p:nvSpPr>
          <p:cNvPr id="8" name="Shape 6"/>
          <p:cNvSpPr/>
          <p:nvPr/>
        </p:nvSpPr>
        <p:spPr>
          <a:xfrm>
            <a:off x="2514600" y="868680"/>
            <a:ext cx="2057400" cy="1645920"/>
          </a:xfrm>
          <a:prstGeom prst="rect">
            <a:avLst>
              <a:gd name="adj" fmla="val 5556"/>
            </a:avLst>
          </a:prstGeom>
          <a:solidFill>
            <a:srgbClr val="2A2A40"/>
          </a:solidFill>
          <a:ln/>
          <a:effectLst>
            <a:outerShdw sx="100000" sy="100000" kx="0" ky="0" algn="bl" rotWithShape="0" blurRad="50800" dist="25400" dir="16200000">
              <a:srgbClr val="000000">
                <a:alpha val="20000"/>
              </a:srgbClr>
            </a:outerShdw>
          </a:effectLst>
        </p:spPr>
      </p:sp>
      <p:sp>
        <p:nvSpPr>
          <p:cNvPr id="9" name="Text 7"/>
          <p:cNvSpPr/>
          <p:nvPr/>
        </p:nvSpPr>
        <p:spPr>
          <a:xfrm>
            <a:off x="2651760" y="914400"/>
            <a:ext cx="1783080" cy="274320"/>
          </a:xfrm>
          <a:prstGeom prst="rect">
            <a:avLst/>
          </a:prstGeom>
          <a:noFill/>
          <a:ln/>
        </p:spPr>
        <p:txBody>
          <a:bodyPr wrap="square" rtlCol="0" anchor="ctr"/>
          <a:lstStyle/>
          <a:p>
            <a:pPr indent="0" marL="0">
              <a:buNone/>
            </a:pPr>
            <a:r>
              <a:rPr lang="en-US" sz="900" b="1" dirty="0">
                <a:solidFill>
                  <a:srgbClr val="FF7A33"/>
                </a:solidFill>
                <a:latin typeface="Calibri" pitchFamily="34" charset="0"/>
                <a:ea typeface="Calibri" pitchFamily="34" charset="-122"/>
                <a:cs typeface="Calibri" pitchFamily="34" charset="-120"/>
              </a:rPr>
              <a:t>FASE II</a:t>
            </a:r>
            <a:endParaRPr lang="en-US" sz="900" dirty="0"/>
          </a:p>
        </p:txBody>
      </p:sp>
      <p:sp>
        <p:nvSpPr>
          <p:cNvPr id="10" name="Text 8"/>
          <p:cNvSpPr/>
          <p:nvPr/>
        </p:nvSpPr>
        <p:spPr>
          <a:xfrm>
            <a:off x="2651760" y="1143000"/>
            <a:ext cx="1783080" cy="320040"/>
          </a:xfrm>
          <a:prstGeom prst="rect">
            <a:avLst/>
          </a:prstGeom>
          <a:noFill/>
          <a:ln/>
        </p:spPr>
        <p:txBody>
          <a:bodyPr wrap="square"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USAR</a:t>
            </a:r>
            <a:endParaRPr lang="en-US" sz="1400" dirty="0"/>
          </a:p>
        </p:txBody>
      </p:sp>
      <p:sp>
        <p:nvSpPr>
          <p:cNvPr id="11" name="Text 9"/>
          <p:cNvSpPr/>
          <p:nvPr/>
        </p:nvSpPr>
        <p:spPr>
          <a:xfrm>
            <a:off x="2651760" y="1417320"/>
            <a:ext cx="1783080" cy="228600"/>
          </a:xfrm>
          <a:prstGeom prst="rect">
            <a:avLst/>
          </a:prstGeom>
          <a:noFill/>
          <a:ln/>
        </p:spPr>
        <p:txBody>
          <a:bodyPr wrap="square" rtlCol="0" anchor="ctr"/>
          <a:lstStyle/>
          <a:p>
            <a:pPr indent="0" marL="0">
              <a:buNone/>
            </a:pPr>
            <a:r>
              <a:rPr lang="en-US" sz="900" dirty="0">
                <a:solidFill>
                  <a:srgbClr val="A0A0B8"/>
                </a:solidFill>
                <a:latin typeface="Calibri" pitchFamily="34" charset="0"/>
                <a:ea typeface="Calibri" pitchFamily="34" charset="-122"/>
                <a:cs typeface="Calibri" pitchFamily="34" charset="-120"/>
              </a:rPr>
              <a:t>Niveles 3-4</a:t>
            </a:r>
            <a:endParaRPr lang="en-US" sz="900" dirty="0"/>
          </a:p>
        </p:txBody>
      </p:sp>
      <p:sp>
        <p:nvSpPr>
          <p:cNvPr id="12" name="Text 10"/>
          <p:cNvSpPr/>
          <p:nvPr/>
        </p:nvSpPr>
        <p:spPr>
          <a:xfrm>
            <a:off x="2651760" y="1691640"/>
            <a:ext cx="1783080" cy="640080"/>
          </a:xfrm>
          <a:prstGeom prst="rect">
            <a:avLst/>
          </a:prstGeom>
          <a:noFill/>
          <a:ln/>
        </p:spPr>
        <p:txBody>
          <a:bodyPr wrap="square" rtlCol="0" anchor="ctr"/>
          <a:lstStyle/>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Email y Comunicados</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Analisis de Reportes</a:t>
            </a:r>
            <a:endParaRPr lang="en-US" sz="1000" dirty="0"/>
          </a:p>
        </p:txBody>
      </p:sp>
      <p:sp>
        <p:nvSpPr>
          <p:cNvPr id="13" name="Shape 11"/>
          <p:cNvSpPr/>
          <p:nvPr/>
        </p:nvSpPr>
        <p:spPr>
          <a:xfrm>
            <a:off x="4709160" y="868680"/>
            <a:ext cx="2057400" cy="1645920"/>
          </a:xfrm>
          <a:prstGeom prst="rect">
            <a:avLst>
              <a:gd name="adj" fmla="val 5556"/>
            </a:avLst>
          </a:prstGeom>
          <a:solidFill>
            <a:srgbClr val="2A2A40"/>
          </a:solidFill>
          <a:ln/>
          <a:effectLst>
            <a:outerShdw sx="100000" sy="100000" kx="0" ky="0" algn="bl" rotWithShape="0" blurRad="50800" dist="25400" dir="16200000">
              <a:srgbClr val="000000">
                <a:alpha val="20000"/>
              </a:srgbClr>
            </a:outerShdw>
          </a:effectLst>
        </p:spPr>
      </p:sp>
      <p:sp>
        <p:nvSpPr>
          <p:cNvPr id="14" name="Text 12"/>
          <p:cNvSpPr/>
          <p:nvPr/>
        </p:nvSpPr>
        <p:spPr>
          <a:xfrm>
            <a:off x="4846320" y="914400"/>
            <a:ext cx="1783080" cy="274320"/>
          </a:xfrm>
          <a:prstGeom prst="rect">
            <a:avLst/>
          </a:prstGeom>
          <a:noFill/>
          <a:ln/>
        </p:spPr>
        <p:txBody>
          <a:bodyPr wrap="square" rtlCol="0" anchor="ctr"/>
          <a:lstStyle/>
          <a:p>
            <a:pPr indent="0" marL="0">
              <a:buNone/>
            </a:pPr>
            <a:r>
              <a:rPr lang="en-US" sz="900" b="1" dirty="0">
                <a:solidFill>
                  <a:srgbClr val="5D428C"/>
                </a:solidFill>
                <a:latin typeface="Calibri" pitchFamily="34" charset="0"/>
                <a:ea typeface="Calibri" pitchFamily="34" charset="-122"/>
                <a:cs typeface="Calibri" pitchFamily="34" charset="-120"/>
              </a:rPr>
              <a:t>FASE III</a:t>
            </a:r>
            <a:endParaRPr lang="en-US" sz="900" dirty="0"/>
          </a:p>
        </p:txBody>
      </p:sp>
      <p:sp>
        <p:nvSpPr>
          <p:cNvPr id="15" name="Text 13"/>
          <p:cNvSpPr/>
          <p:nvPr/>
        </p:nvSpPr>
        <p:spPr>
          <a:xfrm>
            <a:off x="4846320" y="1143000"/>
            <a:ext cx="1783080" cy="320040"/>
          </a:xfrm>
          <a:prstGeom prst="rect">
            <a:avLst/>
          </a:prstGeom>
          <a:noFill/>
          <a:ln/>
        </p:spPr>
        <p:txBody>
          <a:bodyPr wrap="square"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ACELERAR</a:t>
            </a:r>
            <a:endParaRPr lang="en-US" sz="1400" dirty="0"/>
          </a:p>
        </p:txBody>
      </p:sp>
      <p:sp>
        <p:nvSpPr>
          <p:cNvPr id="16" name="Text 14"/>
          <p:cNvSpPr/>
          <p:nvPr/>
        </p:nvSpPr>
        <p:spPr>
          <a:xfrm>
            <a:off x="4846320" y="1417320"/>
            <a:ext cx="1783080" cy="228600"/>
          </a:xfrm>
          <a:prstGeom prst="rect">
            <a:avLst/>
          </a:prstGeom>
          <a:noFill/>
          <a:ln/>
        </p:spPr>
        <p:txBody>
          <a:bodyPr wrap="square" rtlCol="0" anchor="ctr"/>
          <a:lstStyle/>
          <a:p>
            <a:pPr indent="0" marL="0">
              <a:buNone/>
            </a:pPr>
            <a:r>
              <a:rPr lang="en-US" sz="900" dirty="0">
                <a:solidFill>
                  <a:srgbClr val="A0A0B8"/>
                </a:solidFill>
                <a:latin typeface="Calibri" pitchFamily="34" charset="0"/>
                <a:ea typeface="Calibri" pitchFamily="34" charset="-122"/>
                <a:cs typeface="Calibri" pitchFamily="34" charset="-120"/>
              </a:rPr>
              <a:t>Niveles 5-6</a:t>
            </a:r>
            <a:endParaRPr lang="en-US" sz="900" dirty="0"/>
          </a:p>
        </p:txBody>
      </p:sp>
      <p:sp>
        <p:nvSpPr>
          <p:cNvPr id="17" name="Text 15"/>
          <p:cNvSpPr/>
          <p:nvPr/>
        </p:nvSpPr>
        <p:spPr>
          <a:xfrm>
            <a:off x="4846320" y="1691640"/>
            <a:ext cx="1783080" cy="640080"/>
          </a:xfrm>
          <a:prstGeom prst="rect">
            <a:avLst/>
          </a:prstGeom>
          <a:noFill/>
          <a:ln/>
        </p:spPr>
        <p:txBody>
          <a:bodyPr wrap="square" rtlCol="0" anchor="ctr"/>
          <a:lstStyle/>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Automatizacion</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Atencion Stakeholders</a:t>
            </a:r>
            <a:endParaRPr lang="en-US" sz="1000" dirty="0"/>
          </a:p>
        </p:txBody>
      </p:sp>
      <p:sp>
        <p:nvSpPr>
          <p:cNvPr id="18" name="Shape 16"/>
          <p:cNvSpPr/>
          <p:nvPr/>
        </p:nvSpPr>
        <p:spPr>
          <a:xfrm>
            <a:off x="6903720" y="868680"/>
            <a:ext cx="2057400" cy="1645920"/>
          </a:xfrm>
          <a:prstGeom prst="rect">
            <a:avLst>
              <a:gd name="adj" fmla="val 5556"/>
            </a:avLst>
          </a:prstGeom>
          <a:solidFill>
            <a:srgbClr val="2A2A40"/>
          </a:solidFill>
          <a:ln/>
          <a:effectLst>
            <a:outerShdw sx="100000" sy="100000" kx="0" ky="0" algn="bl" rotWithShape="0" blurRad="50800" dist="25400" dir="16200000">
              <a:srgbClr val="000000">
                <a:alpha val="20000"/>
              </a:srgbClr>
            </a:outerShdw>
          </a:effectLst>
        </p:spPr>
      </p:sp>
      <p:sp>
        <p:nvSpPr>
          <p:cNvPr id="19" name="Text 17"/>
          <p:cNvSpPr/>
          <p:nvPr/>
        </p:nvSpPr>
        <p:spPr>
          <a:xfrm>
            <a:off x="7040880" y="914400"/>
            <a:ext cx="1783080" cy="274320"/>
          </a:xfrm>
          <a:prstGeom prst="rect">
            <a:avLst/>
          </a:prstGeom>
          <a:noFill/>
          <a:ln/>
        </p:spPr>
        <p:txBody>
          <a:bodyPr wrap="square" rtlCol="0" anchor="ctr"/>
          <a:lstStyle/>
          <a:p>
            <a:pPr indent="0" marL="0">
              <a:buNone/>
            </a:pPr>
            <a:r>
              <a:rPr lang="en-US" sz="900" b="1" dirty="0">
                <a:solidFill>
                  <a:srgbClr val="432F64"/>
                </a:solidFill>
                <a:latin typeface="Calibri" pitchFamily="34" charset="0"/>
                <a:ea typeface="Calibri" pitchFamily="34" charset="-122"/>
                <a:cs typeface="Calibri" pitchFamily="34" charset="-120"/>
              </a:rPr>
              <a:t>FASE IV</a:t>
            </a:r>
            <a:endParaRPr lang="en-US" sz="900" dirty="0"/>
          </a:p>
        </p:txBody>
      </p:sp>
      <p:sp>
        <p:nvSpPr>
          <p:cNvPr id="20" name="Text 18"/>
          <p:cNvSpPr/>
          <p:nvPr/>
        </p:nvSpPr>
        <p:spPr>
          <a:xfrm>
            <a:off x="7040880" y="1143000"/>
            <a:ext cx="1783080" cy="320040"/>
          </a:xfrm>
          <a:prstGeom prst="rect">
            <a:avLst/>
          </a:prstGeom>
          <a:noFill/>
          <a:ln/>
        </p:spPr>
        <p:txBody>
          <a:bodyPr wrap="square" rtlCol="0" anchor="ctr"/>
          <a:lstStyle/>
          <a:p>
            <a:pPr indent="0" marL="0">
              <a:buNone/>
            </a:pPr>
            <a:r>
              <a:rPr lang="en-US" sz="1400" dirty="0">
                <a:solidFill>
                  <a:srgbClr val="FFFFFF"/>
                </a:solidFill>
                <a:latin typeface="Arial Black" pitchFamily="34" charset="0"/>
                <a:ea typeface="Arial Black" pitchFamily="34" charset="-122"/>
                <a:cs typeface="Arial Black" pitchFamily="34" charset="-120"/>
              </a:rPr>
              <a:t>INTEGRAR</a:t>
            </a:r>
            <a:endParaRPr lang="en-US" sz="1400" dirty="0"/>
          </a:p>
        </p:txBody>
      </p:sp>
      <p:sp>
        <p:nvSpPr>
          <p:cNvPr id="21" name="Text 19"/>
          <p:cNvSpPr/>
          <p:nvPr/>
        </p:nvSpPr>
        <p:spPr>
          <a:xfrm>
            <a:off x="7040880" y="1417320"/>
            <a:ext cx="1783080" cy="228600"/>
          </a:xfrm>
          <a:prstGeom prst="rect">
            <a:avLst/>
          </a:prstGeom>
          <a:noFill/>
          <a:ln/>
        </p:spPr>
        <p:txBody>
          <a:bodyPr wrap="square" rtlCol="0" anchor="ctr"/>
          <a:lstStyle/>
          <a:p>
            <a:pPr indent="0" marL="0">
              <a:buNone/>
            </a:pPr>
            <a:r>
              <a:rPr lang="en-US" sz="900" dirty="0">
                <a:solidFill>
                  <a:srgbClr val="A0A0B8"/>
                </a:solidFill>
                <a:latin typeface="Calibri" pitchFamily="34" charset="0"/>
                <a:ea typeface="Calibri" pitchFamily="34" charset="-122"/>
                <a:cs typeface="Calibri" pitchFamily="34" charset="-120"/>
              </a:rPr>
              <a:t>Niveles 7-8</a:t>
            </a:r>
            <a:endParaRPr lang="en-US" sz="900" dirty="0"/>
          </a:p>
        </p:txBody>
      </p:sp>
      <p:sp>
        <p:nvSpPr>
          <p:cNvPr id="22" name="Text 20"/>
          <p:cNvSpPr/>
          <p:nvPr/>
        </p:nvSpPr>
        <p:spPr>
          <a:xfrm>
            <a:off x="7040880" y="1691640"/>
            <a:ext cx="1783080" cy="640080"/>
          </a:xfrm>
          <a:prstGeom prst="rect">
            <a:avLst/>
          </a:prstGeom>
          <a:noFill/>
          <a:ln/>
        </p:spPr>
        <p:txBody>
          <a:bodyPr wrap="square" rtlCol="0" anchor="ctr"/>
          <a:lstStyle/>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Gestion Proyectos</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Agentes y Ecosistema</a:t>
            </a:r>
            <a:endParaRPr lang="en-US" sz="1000" dirty="0"/>
          </a:p>
        </p:txBody>
      </p:sp>
      <p:sp>
        <p:nvSpPr>
          <p:cNvPr id="23" name="Text 21"/>
          <p:cNvSpPr/>
          <p:nvPr/>
        </p:nvSpPr>
        <p:spPr>
          <a:xfrm>
            <a:off x="2212848" y="1463040"/>
            <a:ext cx="320040" cy="320040"/>
          </a:xfrm>
          <a:prstGeom prst="rect">
            <a:avLst/>
          </a:prstGeom>
          <a:noFill/>
          <a:ln/>
        </p:spPr>
        <p:txBody>
          <a:bodyPr wrap="square" rtlCol="0" anchor="ctr"/>
          <a:lstStyle/>
          <a:p>
            <a:pPr algn="ctr" indent="0" marL="0">
              <a:buNone/>
            </a:pPr>
            <a:r>
              <a:rPr lang="en-US" sz="1600" dirty="0">
                <a:solidFill>
                  <a:srgbClr val="FF5900"/>
                </a:solidFill>
              </a:rPr>
              <a:t>➜</a:t>
            </a:r>
            <a:endParaRPr lang="en-US" sz="1600" dirty="0"/>
          </a:p>
        </p:txBody>
      </p:sp>
      <p:sp>
        <p:nvSpPr>
          <p:cNvPr id="24" name="Text 22"/>
          <p:cNvSpPr/>
          <p:nvPr/>
        </p:nvSpPr>
        <p:spPr>
          <a:xfrm>
            <a:off x="4407408" y="1463040"/>
            <a:ext cx="320040" cy="320040"/>
          </a:xfrm>
          <a:prstGeom prst="rect">
            <a:avLst/>
          </a:prstGeom>
          <a:noFill/>
          <a:ln/>
        </p:spPr>
        <p:txBody>
          <a:bodyPr wrap="square" rtlCol="0" anchor="ctr"/>
          <a:lstStyle/>
          <a:p>
            <a:pPr algn="ctr" indent="0" marL="0">
              <a:buNone/>
            </a:pPr>
            <a:r>
              <a:rPr lang="en-US" sz="1600" dirty="0">
                <a:solidFill>
                  <a:srgbClr val="FF5900"/>
                </a:solidFill>
              </a:rPr>
              <a:t>➜</a:t>
            </a:r>
            <a:endParaRPr lang="en-US" sz="1600" dirty="0"/>
          </a:p>
        </p:txBody>
      </p:sp>
      <p:sp>
        <p:nvSpPr>
          <p:cNvPr id="25" name="Text 23"/>
          <p:cNvSpPr/>
          <p:nvPr/>
        </p:nvSpPr>
        <p:spPr>
          <a:xfrm>
            <a:off x="6601968" y="1463040"/>
            <a:ext cx="320040" cy="320040"/>
          </a:xfrm>
          <a:prstGeom prst="rect">
            <a:avLst/>
          </a:prstGeom>
          <a:noFill/>
          <a:ln/>
        </p:spPr>
        <p:txBody>
          <a:bodyPr wrap="square" rtlCol="0" anchor="ctr"/>
          <a:lstStyle/>
          <a:p>
            <a:pPr algn="ctr" indent="0" marL="0">
              <a:buNone/>
            </a:pPr>
            <a:r>
              <a:rPr lang="en-US" sz="1600" dirty="0">
                <a:solidFill>
                  <a:srgbClr val="FF5900"/>
                </a:solidFill>
              </a:rPr>
              <a:t>➜</a:t>
            </a:r>
            <a:endParaRPr lang="en-US" sz="1600" dirty="0"/>
          </a:p>
        </p:txBody>
      </p:sp>
      <p:sp>
        <p:nvSpPr>
          <p:cNvPr id="26" name="Shape 24"/>
          <p:cNvSpPr/>
          <p:nvPr/>
        </p:nvSpPr>
        <p:spPr>
          <a:xfrm>
            <a:off x="320040" y="2651760"/>
            <a:ext cx="8503920" cy="457200"/>
          </a:xfrm>
          <a:prstGeom prst="rect">
            <a:avLst>
              <a:gd name="adj" fmla="val 16000"/>
            </a:avLst>
          </a:prstGeom>
          <a:solidFill>
            <a:srgbClr val="1A1A32"/>
          </a:solidFill>
          <a:ln/>
        </p:spPr>
      </p:sp>
      <p:sp>
        <p:nvSpPr>
          <p:cNvPr id="27" name="Text 25"/>
          <p:cNvSpPr/>
          <p:nvPr/>
        </p:nvSpPr>
        <p:spPr>
          <a:xfrm>
            <a:off x="457200" y="2697480"/>
            <a:ext cx="1828800" cy="365760"/>
          </a:xfrm>
          <a:prstGeom prst="rect">
            <a:avLst/>
          </a:prstGeom>
          <a:noFill/>
          <a:ln/>
        </p:spPr>
        <p:txBody>
          <a:bodyPr wrap="square" rtlCol="0" anchor="ctr"/>
          <a:lstStyle/>
          <a:p>
            <a:pPr indent="0" marL="0">
              <a:buNone/>
            </a:pPr>
            <a:r>
              <a:rPr lang="en-US" sz="1000" b="1" dirty="0">
                <a:solidFill>
                  <a:srgbClr val="2D8A39"/>
                </a:solidFill>
                <a:latin typeface="Calibri" pitchFamily="34" charset="0"/>
                <a:ea typeface="Calibri" pitchFamily="34" charset="-122"/>
                <a:cs typeface="Calibri" pitchFamily="34" charset="-120"/>
              </a:rPr>
              <a:t>🟢 Explorador IA</a:t>
            </a:r>
            <a:endParaRPr lang="en-US" sz="1000" dirty="0"/>
          </a:p>
        </p:txBody>
      </p:sp>
      <p:sp>
        <p:nvSpPr>
          <p:cNvPr id="28" name="Text 26"/>
          <p:cNvSpPr/>
          <p:nvPr/>
        </p:nvSpPr>
        <p:spPr>
          <a:xfrm>
            <a:off x="3657600" y="2697480"/>
            <a:ext cx="1828800" cy="365760"/>
          </a:xfrm>
          <a:prstGeom prst="rect">
            <a:avLst/>
          </a:prstGeom>
          <a:noFill/>
          <a:ln/>
        </p:spPr>
        <p:txBody>
          <a:bodyPr wrap="square" rtlCol="0" anchor="ctr"/>
          <a:lstStyle/>
          <a:p>
            <a:pPr algn="ctr" indent="0" marL="0">
              <a:buNone/>
            </a:pPr>
            <a:r>
              <a:rPr lang="en-US" sz="1000" b="1" dirty="0">
                <a:solidFill>
                  <a:srgbClr val="4488FF"/>
                </a:solidFill>
                <a:latin typeface="Calibri" pitchFamily="34" charset="0"/>
                <a:ea typeface="Calibri" pitchFamily="34" charset="-122"/>
                <a:cs typeface="Calibri" pitchFamily="34" charset="-120"/>
              </a:rPr>
              <a:t>🔵 Estratega IA</a:t>
            </a:r>
            <a:endParaRPr lang="en-US" sz="1000" dirty="0"/>
          </a:p>
        </p:txBody>
      </p:sp>
      <p:sp>
        <p:nvSpPr>
          <p:cNvPr id="29" name="Text 27"/>
          <p:cNvSpPr/>
          <p:nvPr/>
        </p:nvSpPr>
        <p:spPr>
          <a:xfrm>
            <a:off x="6858000" y="2697480"/>
            <a:ext cx="1828800" cy="365760"/>
          </a:xfrm>
          <a:prstGeom prst="rect">
            <a:avLst/>
          </a:prstGeom>
          <a:noFill/>
          <a:ln/>
        </p:spPr>
        <p:txBody>
          <a:bodyPr wrap="square" rtlCol="0" anchor="ctr"/>
          <a:lstStyle/>
          <a:p>
            <a:pPr algn="r" indent="0" marL="0">
              <a:buNone/>
            </a:pPr>
            <a:r>
              <a:rPr lang="en-US" sz="1000" b="1" dirty="0">
                <a:solidFill>
                  <a:srgbClr val="5D428C"/>
                </a:solidFill>
                <a:latin typeface="Calibri" pitchFamily="34" charset="0"/>
                <a:ea typeface="Calibri" pitchFamily="34" charset="-122"/>
                <a:cs typeface="Calibri" pitchFamily="34" charset="-120"/>
              </a:rPr>
              <a:t>🟣 Lider IA</a:t>
            </a:r>
            <a:endParaRPr lang="en-US" sz="1000" dirty="0"/>
          </a:p>
        </p:txBody>
      </p:sp>
      <p:sp>
        <p:nvSpPr>
          <p:cNvPr id="30" name="Shape 28"/>
          <p:cNvSpPr/>
          <p:nvPr/>
        </p:nvSpPr>
        <p:spPr>
          <a:xfrm>
            <a:off x="320040" y="3291840"/>
            <a:ext cx="1645920" cy="914400"/>
          </a:xfrm>
          <a:prstGeom prst="rect">
            <a:avLst>
              <a:gd name="adj" fmla="val 8000"/>
            </a:avLst>
          </a:prstGeom>
          <a:solidFill>
            <a:srgbClr val="2A2A40"/>
          </a:solidFill>
          <a:ln/>
        </p:spPr>
      </p:sp>
      <p:sp>
        <p:nvSpPr>
          <p:cNvPr id="31" name="Text 29"/>
          <p:cNvSpPr/>
          <p:nvPr/>
        </p:nvSpPr>
        <p:spPr>
          <a:xfrm>
            <a:off x="320040" y="3337560"/>
            <a:ext cx="1645920" cy="457200"/>
          </a:xfrm>
          <a:prstGeom prst="rect">
            <a:avLst/>
          </a:prstGeom>
          <a:noFill/>
          <a:ln/>
        </p:spPr>
        <p:txBody>
          <a:bodyPr wrap="square" rtlCol="0" anchor="ctr"/>
          <a:lstStyle/>
          <a:p>
            <a:pPr algn="ctr" indent="0" marL="0">
              <a:buNone/>
            </a:pPr>
            <a:r>
              <a:rPr lang="en-US" sz="1300" b="1" dirty="0">
                <a:solidFill>
                  <a:srgbClr val="FF5900"/>
                </a:solidFill>
                <a:latin typeface="Arial Black" pitchFamily="34" charset="0"/>
                <a:ea typeface="Arial Black" pitchFamily="34" charset="-122"/>
                <a:cs typeface="Arial Black" pitchFamily="34" charset="-120"/>
              </a:rPr>
              <a:t>8 niveles</a:t>
            </a:r>
            <a:endParaRPr lang="en-US" sz="1300" dirty="0"/>
          </a:p>
        </p:txBody>
      </p:sp>
      <p:sp>
        <p:nvSpPr>
          <p:cNvPr id="32" name="Text 30"/>
          <p:cNvSpPr/>
          <p:nvPr/>
        </p:nvSpPr>
        <p:spPr>
          <a:xfrm>
            <a:off x="320040" y="3749040"/>
            <a:ext cx="1645920" cy="36576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Progresion completa</a:t>
            </a:r>
            <a:endParaRPr lang="en-US" sz="900" dirty="0"/>
          </a:p>
        </p:txBody>
      </p:sp>
      <p:sp>
        <p:nvSpPr>
          <p:cNvPr id="33" name="Shape 31"/>
          <p:cNvSpPr/>
          <p:nvPr/>
        </p:nvSpPr>
        <p:spPr>
          <a:xfrm>
            <a:off x="2057400" y="3291840"/>
            <a:ext cx="1645920" cy="914400"/>
          </a:xfrm>
          <a:prstGeom prst="rect">
            <a:avLst>
              <a:gd name="adj" fmla="val 8000"/>
            </a:avLst>
          </a:prstGeom>
          <a:solidFill>
            <a:srgbClr val="2A2A40"/>
          </a:solidFill>
          <a:ln/>
        </p:spPr>
      </p:sp>
      <p:sp>
        <p:nvSpPr>
          <p:cNvPr id="34" name="Text 32"/>
          <p:cNvSpPr/>
          <p:nvPr/>
        </p:nvSpPr>
        <p:spPr>
          <a:xfrm>
            <a:off x="2057400" y="3337560"/>
            <a:ext cx="1645920" cy="457200"/>
          </a:xfrm>
          <a:prstGeom prst="rect">
            <a:avLst/>
          </a:prstGeom>
          <a:noFill/>
          <a:ln/>
        </p:spPr>
        <p:txBody>
          <a:bodyPr wrap="square" rtlCol="0" anchor="ctr"/>
          <a:lstStyle/>
          <a:p>
            <a:pPr algn="ctr" indent="0" marL="0">
              <a:buNone/>
            </a:pPr>
            <a:r>
              <a:rPr lang="en-US" sz="1300" b="1" dirty="0">
                <a:solidFill>
                  <a:srgbClr val="FF5900"/>
                </a:solidFill>
                <a:latin typeface="Arial Black" pitchFamily="34" charset="0"/>
                <a:ea typeface="Arial Black" pitchFamily="34" charset="-122"/>
                <a:cs typeface="Arial Black" pitchFamily="34" charset="-120"/>
              </a:rPr>
              <a:t>2 versiones</a:t>
            </a:r>
            <a:endParaRPr lang="en-US" sz="1300" dirty="0"/>
          </a:p>
        </p:txBody>
      </p:sp>
      <p:sp>
        <p:nvSpPr>
          <p:cNvPr id="35" name="Text 33"/>
          <p:cNvSpPr/>
          <p:nvPr/>
        </p:nvSpPr>
        <p:spPr>
          <a:xfrm>
            <a:off x="2057400" y="3749040"/>
            <a:ext cx="1645920" cy="36576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Academica + Admin</a:t>
            </a:r>
            <a:endParaRPr lang="en-US" sz="900" dirty="0"/>
          </a:p>
        </p:txBody>
      </p:sp>
      <p:sp>
        <p:nvSpPr>
          <p:cNvPr id="36" name="Shape 34"/>
          <p:cNvSpPr/>
          <p:nvPr/>
        </p:nvSpPr>
        <p:spPr>
          <a:xfrm>
            <a:off x="3794760" y="3291840"/>
            <a:ext cx="1645920" cy="914400"/>
          </a:xfrm>
          <a:prstGeom prst="rect">
            <a:avLst>
              <a:gd name="adj" fmla="val 8000"/>
            </a:avLst>
          </a:prstGeom>
          <a:solidFill>
            <a:srgbClr val="2A2A40"/>
          </a:solidFill>
          <a:ln/>
        </p:spPr>
      </p:sp>
      <p:sp>
        <p:nvSpPr>
          <p:cNvPr id="37" name="Text 35"/>
          <p:cNvSpPr/>
          <p:nvPr/>
        </p:nvSpPr>
        <p:spPr>
          <a:xfrm>
            <a:off x="3794760" y="3337560"/>
            <a:ext cx="1645920" cy="457200"/>
          </a:xfrm>
          <a:prstGeom prst="rect">
            <a:avLst/>
          </a:prstGeom>
          <a:noFill/>
          <a:ln/>
        </p:spPr>
        <p:txBody>
          <a:bodyPr wrap="square" rtlCol="0" anchor="ctr"/>
          <a:lstStyle/>
          <a:p>
            <a:pPr algn="ctr" indent="0" marL="0">
              <a:buNone/>
            </a:pPr>
            <a:r>
              <a:rPr lang="en-US" sz="1300" b="1" dirty="0">
                <a:solidFill>
                  <a:srgbClr val="FF5900"/>
                </a:solidFill>
                <a:latin typeface="Arial Black" pitchFamily="34" charset="0"/>
                <a:ea typeface="Arial Black" pitchFamily="34" charset="-122"/>
                <a:cs typeface="Arial Black" pitchFamily="34" charset="-120"/>
              </a:rPr>
              <a:t>6.5 SATCA</a:t>
            </a:r>
            <a:endParaRPr lang="en-US" sz="1300" dirty="0"/>
          </a:p>
        </p:txBody>
      </p:sp>
      <p:sp>
        <p:nvSpPr>
          <p:cNvPr id="38" name="Text 36"/>
          <p:cNvSpPr/>
          <p:nvPr/>
        </p:nvSpPr>
        <p:spPr>
          <a:xfrm>
            <a:off x="3794760" y="3749040"/>
            <a:ext cx="1645920" cy="36576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Creditos formales</a:t>
            </a:r>
            <a:endParaRPr lang="en-US" sz="900" dirty="0"/>
          </a:p>
        </p:txBody>
      </p:sp>
      <p:sp>
        <p:nvSpPr>
          <p:cNvPr id="39" name="Shape 37"/>
          <p:cNvSpPr/>
          <p:nvPr/>
        </p:nvSpPr>
        <p:spPr>
          <a:xfrm>
            <a:off x="5532120" y="3291840"/>
            <a:ext cx="1645920" cy="914400"/>
          </a:xfrm>
          <a:prstGeom prst="rect">
            <a:avLst>
              <a:gd name="adj" fmla="val 8000"/>
            </a:avLst>
          </a:prstGeom>
          <a:solidFill>
            <a:srgbClr val="2A2A40"/>
          </a:solidFill>
          <a:ln/>
        </p:spPr>
      </p:sp>
      <p:sp>
        <p:nvSpPr>
          <p:cNvPr id="40" name="Text 38"/>
          <p:cNvSpPr/>
          <p:nvPr/>
        </p:nvSpPr>
        <p:spPr>
          <a:xfrm>
            <a:off x="5532120" y="3337560"/>
            <a:ext cx="1645920" cy="457200"/>
          </a:xfrm>
          <a:prstGeom prst="rect">
            <a:avLst/>
          </a:prstGeom>
          <a:noFill/>
          <a:ln/>
        </p:spPr>
        <p:txBody>
          <a:bodyPr wrap="square" rtlCol="0" anchor="ctr"/>
          <a:lstStyle/>
          <a:p>
            <a:pPr algn="ctr" indent="0" marL="0">
              <a:buNone/>
            </a:pPr>
            <a:r>
              <a:rPr lang="en-US" sz="1300" b="1" dirty="0">
                <a:solidFill>
                  <a:srgbClr val="FF5900"/>
                </a:solidFill>
                <a:latin typeface="Arial Black" pitchFamily="34" charset="0"/>
                <a:ea typeface="Arial Black" pitchFamily="34" charset="-122"/>
                <a:cs typeface="Arial Black" pitchFamily="34" charset="-120"/>
              </a:rPr>
              <a:t>3 Badges</a:t>
            </a:r>
            <a:endParaRPr lang="en-US" sz="1300" dirty="0"/>
          </a:p>
        </p:txBody>
      </p:sp>
      <p:sp>
        <p:nvSpPr>
          <p:cNvPr id="41" name="Text 39"/>
          <p:cNvSpPr/>
          <p:nvPr/>
        </p:nvSpPr>
        <p:spPr>
          <a:xfrm>
            <a:off x="5532120" y="3749040"/>
            <a:ext cx="1645920" cy="36576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Open Badges v3</a:t>
            </a:r>
            <a:endParaRPr lang="en-US" sz="900" dirty="0"/>
          </a:p>
        </p:txBody>
      </p:sp>
      <p:sp>
        <p:nvSpPr>
          <p:cNvPr id="42" name="Shape 40"/>
          <p:cNvSpPr/>
          <p:nvPr/>
        </p:nvSpPr>
        <p:spPr>
          <a:xfrm>
            <a:off x="7269480" y="3291840"/>
            <a:ext cx="1645920" cy="914400"/>
          </a:xfrm>
          <a:prstGeom prst="rect">
            <a:avLst>
              <a:gd name="adj" fmla="val 8000"/>
            </a:avLst>
          </a:prstGeom>
          <a:solidFill>
            <a:srgbClr val="2A2A40"/>
          </a:solidFill>
          <a:ln/>
        </p:spPr>
      </p:sp>
      <p:sp>
        <p:nvSpPr>
          <p:cNvPr id="43" name="Text 41"/>
          <p:cNvSpPr/>
          <p:nvPr/>
        </p:nvSpPr>
        <p:spPr>
          <a:xfrm>
            <a:off x="7269480" y="3337560"/>
            <a:ext cx="1645920" cy="457200"/>
          </a:xfrm>
          <a:prstGeom prst="rect">
            <a:avLst/>
          </a:prstGeom>
          <a:noFill/>
          <a:ln/>
        </p:spPr>
        <p:txBody>
          <a:bodyPr wrap="square" rtlCol="0" anchor="ctr"/>
          <a:lstStyle/>
          <a:p>
            <a:pPr algn="ctr" indent="0" marL="0">
              <a:buNone/>
            </a:pPr>
            <a:r>
              <a:rPr lang="en-US" sz="1300" b="1" dirty="0">
                <a:solidFill>
                  <a:srgbClr val="FF5900"/>
                </a:solidFill>
                <a:latin typeface="Arial Black" pitchFamily="34" charset="0"/>
                <a:ea typeface="Arial Black" pitchFamily="34" charset="-122"/>
                <a:cs typeface="Arial Black" pitchFamily="34" charset="-120"/>
              </a:rPr>
              <a:t>Amazon Quick</a:t>
            </a:r>
            <a:endParaRPr lang="en-US" sz="1300" dirty="0"/>
          </a:p>
        </p:txBody>
      </p:sp>
      <p:sp>
        <p:nvSpPr>
          <p:cNvPr id="44" name="Text 42"/>
          <p:cNvSpPr/>
          <p:nvPr/>
        </p:nvSpPr>
        <p:spPr>
          <a:xfrm>
            <a:off x="7269480" y="3749040"/>
            <a:ext cx="1645920" cy="36576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Herramienta principal</a:t>
            </a:r>
            <a:endParaRPr lang="en-US" sz="900" dirty="0"/>
          </a:p>
        </p:txBody>
      </p:sp>
      <p:sp>
        <p:nvSpPr>
          <p:cNvPr id="45" name="Shape 43"/>
          <p:cNvSpPr/>
          <p:nvPr/>
        </p:nvSpPr>
        <p:spPr>
          <a:xfrm>
            <a:off x="320040" y="4389120"/>
            <a:ext cx="8503920" cy="502920"/>
          </a:xfrm>
          <a:prstGeom prst="rect">
            <a:avLst>
              <a:gd name="adj" fmla="val 14545"/>
            </a:avLst>
          </a:prstGeom>
          <a:solidFill>
            <a:srgbClr val="432F64"/>
          </a:solidFill>
          <a:ln/>
        </p:spPr>
      </p:sp>
      <p:sp>
        <p:nvSpPr>
          <p:cNvPr id="46" name="Text 44"/>
          <p:cNvSpPr/>
          <p:nvPr/>
        </p:nvSpPr>
        <p:spPr>
          <a:xfrm>
            <a:off x="457200" y="4434840"/>
            <a:ext cx="8229600" cy="411480"/>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Dos versiones personalizadas: academicos con reportes de matricula y acreditaciones | administrativos con KPIs operativos</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F0F23"/>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000" b="1" dirty="0">
                <a:solidFill>
                  <a:srgbClr val="FFFFFF"/>
                </a:solidFill>
                <a:latin typeface="Arial Black" pitchFamily="34" charset="0"/>
                <a:ea typeface="Arial Black" pitchFamily="34" charset="-122"/>
                <a:cs typeface="Arial Black" pitchFamily="34" charset="-120"/>
              </a:rPr>
              <a:t>El dia a dia de un directivo: antes y despues de IA</a:t>
            </a:r>
            <a:endParaRPr lang="en-US" sz="2000" dirty="0"/>
          </a:p>
        </p:txBody>
      </p:sp>
      <p:sp>
        <p:nvSpPr>
          <p:cNvPr id="3" name="Shape 1"/>
          <p:cNvSpPr/>
          <p:nvPr/>
        </p:nvSpPr>
        <p:spPr>
          <a:xfrm>
            <a:off x="320040" y="822960"/>
            <a:ext cx="8503920" cy="365760"/>
          </a:xfrm>
          <a:prstGeom prst="rect">
            <a:avLst/>
          </a:prstGeom>
          <a:solidFill>
            <a:srgbClr val="432F64"/>
          </a:solidFill>
          <a:ln/>
        </p:spPr>
      </p:sp>
      <p:sp>
        <p:nvSpPr>
          <p:cNvPr id="4" name="Text 2"/>
          <p:cNvSpPr/>
          <p:nvPr/>
        </p:nvSpPr>
        <p:spPr>
          <a:xfrm>
            <a:off x="457200" y="841248"/>
            <a:ext cx="2743200" cy="329184"/>
          </a:xfrm>
          <a:prstGeom prst="rect">
            <a:avLst/>
          </a:prstGeom>
          <a:noFill/>
          <a:ln/>
        </p:spPr>
        <p:txBody>
          <a:bodyPr wrap="square" rtlCol="0" anchor="ctr"/>
          <a:lstStyle/>
          <a:p>
            <a:pPr indent="0" marL="0">
              <a:buNone/>
            </a:pPr>
            <a:r>
              <a:rPr lang="en-US" sz="1000" b="1" dirty="0">
                <a:solidFill>
                  <a:srgbClr val="FFFFFF"/>
                </a:solidFill>
                <a:latin typeface="Calibri" pitchFamily="34" charset="0"/>
                <a:ea typeface="Calibri" pitchFamily="34" charset="-122"/>
                <a:cs typeface="Calibri" pitchFamily="34" charset="-120"/>
              </a:rPr>
              <a:t>Tarea</a:t>
            </a:r>
            <a:endParaRPr lang="en-US" sz="1000" dirty="0"/>
          </a:p>
        </p:txBody>
      </p:sp>
      <p:sp>
        <p:nvSpPr>
          <p:cNvPr id="5" name="Text 3"/>
          <p:cNvSpPr/>
          <p:nvPr/>
        </p:nvSpPr>
        <p:spPr>
          <a:xfrm>
            <a:off x="3383280" y="841248"/>
            <a:ext cx="1645920" cy="32918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Sin IA</a:t>
            </a:r>
            <a:endParaRPr lang="en-US" sz="1000" dirty="0"/>
          </a:p>
        </p:txBody>
      </p:sp>
      <p:sp>
        <p:nvSpPr>
          <p:cNvPr id="6" name="Text 4"/>
          <p:cNvSpPr/>
          <p:nvPr/>
        </p:nvSpPr>
        <p:spPr>
          <a:xfrm>
            <a:off x="5029200" y="841248"/>
            <a:ext cx="1645920" cy="32918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 IA</a:t>
            </a:r>
            <a:endParaRPr lang="en-US" sz="1000" dirty="0"/>
          </a:p>
        </p:txBody>
      </p:sp>
      <p:sp>
        <p:nvSpPr>
          <p:cNvPr id="7" name="Text 5"/>
          <p:cNvSpPr/>
          <p:nvPr/>
        </p:nvSpPr>
        <p:spPr>
          <a:xfrm>
            <a:off x="6858000" y="841248"/>
            <a:ext cx="1828800" cy="329184"/>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Ahorro</a:t>
            </a:r>
            <a:endParaRPr lang="en-US" sz="1000" dirty="0"/>
          </a:p>
        </p:txBody>
      </p:sp>
      <p:sp>
        <p:nvSpPr>
          <p:cNvPr id="8" name="Shape 6"/>
          <p:cNvSpPr/>
          <p:nvPr/>
        </p:nvSpPr>
        <p:spPr>
          <a:xfrm>
            <a:off x="320040" y="1207008"/>
            <a:ext cx="8503920" cy="347472"/>
          </a:xfrm>
          <a:prstGeom prst="rect">
            <a:avLst/>
          </a:prstGeom>
          <a:solidFill>
            <a:srgbClr val="2A2A40"/>
          </a:solidFill>
          <a:ln/>
        </p:spPr>
      </p:sp>
      <p:sp>
        <p:nvSpPr>
          <p:cNvPr id="9" name="Text 7"/>
          <p:cNvSpPr/>
          <p:nvPr/>
        </p:nvSpPr>
        <p:spPr>
          <a:xfrm>
            <a:off x="457200" y="1207008"/>
            <a:ext cx="2743200" cy="347472"/>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Redactar comunicado</a:t>
            </a:r>
            <a:endParaRPr lang="en-US" sz="1000" dirty="0"/>
          </a:p>
        </p:txBody>
      </p:sp>
      <p:sp>
        <p:nvSpPr>
          <p:cNvPr id="10" name="Text 8"/>
          <p:cNvSpPr/>
          <p:nvPr/>
        </p:nvSpPr>
        <p:spPr>
          <a:xfrm>
            <a:off x="3383280" y="1207008"/>
            <a:ext cx="1645920" cy="347472"/>
          </a:xfrm>
          <a:prstGeom prst="rect">
            <a:avLst/>
          </a:prstGeom>
          <a:noFill/>
          <a:ln/>
        </p:spPr>
        <p:txBody>
          <a:bodyPr wrap="square" rtlCol="0" anchor="ctr"/>
          <a:lstStyle/>
          <a:p>
            <a:pPr algn="ctr" indent="0" marL="0">
              <a:buNone/>
            </a:pPr>
            <a:r>
              <a:rPr lang="en-US" sz="1000" dirty="0">
                <a:solidFill>
                  <a:srgbClr val="DC2626"/>
                </a:solidFill>
                <a:latin typeface="Calibri" pitchFamily="34" charset="0"/>
                <a:ea typeface="Calibri" pitchFamily="34" charset="-122"/>
                <a:cs typeface="Calibri" pitchFamily="34" charset="-120"/>
              </a:rPr>
              <a:t>45-60 min</a:t>
            </a:r>
            <a:endParaRPr lang="en-US" sz="1000" dirty="0"/>
          </a:p>
        </p:txBody>
      </p:sp>
      <p:sp>
        <p:nvSpPr>
          <p:cNvPr id="11" name="Text 9"/>
          <p:cNvSpPr/>
          <p:nvPr/>
        </p:nvSpPr>
        <p:spPr>
          <a:xfrm>
            <a:off x="5029200" y="1207008"/>
            <a:ext cx="1645920" cy="347472"/>
          </a:xfrm>
          <a:prstGeom prst="rect">
            <a:avLst/>
          </a:prstGeom>
          <a:noFill/>
          <a:ln/>
        </p:spPr>
        <p:txBody>
          <a:bodyPr wrap="square" rtlCol="0" anchor="ctr"/>
          <a:lstStyle/>
          <a:p>
            <a:pPr algn="ctr" indent="0" marL="0">
              <a:buNone/>
            </a:pPr>
            <a:r>
              <a:rPr lang="en-US" sz="1000" dirty="0">
                <a:solidFill>
                  <a:srgbClr val="2D8A39"/>
                </a:solidFill>
                <a:latin typeface="Calibri" pitchFamily="34" charset="0"/>
                <a:ea typeface="Calibri" pitchFamily="34" charset="-122"/>
                <a:cs typeface="Calibri" pitchFamily="34" charset="-120"/>
              </a:rPr>
              <a:t>10-15 min</a:t>
            </a:r>
            <a:endParaRPr lang="en-US" sz="1000" dirty="0"/>
          </a:p>
        </p:txBody>
      </p:sp>
      <p:sp>
        <p:nvSpPr>
          <p:cNvPr id="12" name="Text 10"/>
          <p:cNvSpPr/>
          <p:nvPr/>
        </p:nvSpPr>
        <p:spPr>
          <a:xfrm>
            <a:off x="6858000" y="1207008"/>
            <a:ext cx="1828800" cy="347472"/>
          </a:xfrm>
          <a:prstGeom prst="rect">
            <a:avLst/>
          </a:prstGeom>
          <a:noFill/>
          <a:ln/>
        </p:spPr>
        <p:txBody>
          <a:bodyPr wrap="square" rtlCol="0" anchor="ctr"/>
          <a:lstStyle/>
          <a:p>
            <a:pPr algn="ctr" indent="0" marL="0">
              <a:buNone/>
            </a:pPr>
            <a:r>
              <a:rPr lang="en-US" sz="1000" b="1" dirty="0">
                <a:solidFill>
                  <a:srgbClr val="FF5900"/>
                </a:solidFill>
                <a:latin typeface="Calibri" pitchFamily="34" charset="0"/>
                <a:ea typeface="Calibri" pitchFamily="34" charset="-122"/>
                <a:cs typeface="Calibri" pitchFamily="34" charset="-120"/>
              </a:rPr>
              <a:t>~40 min</a:t>
            </a:r>
            <a:endParaRPr lang="en-US" sz="1000" dirty="0"/>
          </a:p>
        </p:txBody>
      </p:sp>
      <p:sp>
        <p:nvSpPr>
          <p:cNvPr id="13" name="Shape 11"/>
          <p:cNvSpPr/>
          <p:nvPr/>
        </p:nvSpPr>
        <p:spPr>
          <a:xfrm>
            <a:off x="320040" y="1572768"/>
            <a:ext cx="8503920" cy="347472"/>
          </a:xfrm>
          <a:prstGeom prst="rect">
            <a:avLst/>
          </a:prstGeom>
          <a:solidFill>
            <a:srgbClr val="252540"/>
          </a:solidFill>
          <a:ln/>
        </p:spPr>
      </p:sp>
      <p:sp>
        <p:nvSpPr>
          <p:cNvPr id="14" name="Text 12"/>
          <p:cNvSpPr/>
          <p:nvPr/>
        </p:nvSpPr>
        <p:spPr>
          <a:xfrm>
            <a:off x="457200" y="1572768"/>
            <a:ext cx="2743200" cy="347472"/>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Consolidar indicadores</a:t>
            </a:r>
            <a:endParaRPr lang="en-US" sz="1000" dirty="0"/>
          </a:p>
        </p:txBody>
      </p:sp>
      <p:sp>
        <p:nvSpPr>
          <p:cNvPr id="15" name="Text 13"/>
          <p:cNvSpPr/>
          <p:nvPr/>
        </p:nvSpPr>
        <p:spPr>
          <a:xfrm>
            <a:off x="3383280" y="1572768"/>
            <a:ext cx="1645920" cy="347472"/>
          </a:xfrm>
          <a:prstGeom prst="rect">
            <a:avLst/>
          </a:prstGeom>
          <a:noFill/>
          <a:ln/>
        </p:spPr>
        <p:txBody>
          <a:bodyPr wrap="square" rtlCol="0" anchor="ctr"/>
          <a:lstStyle/>
          <a:p>
            <a:pPr algn="ctr" indent="0" marL="0">
              <a:buNone/>
            </a:pPr>
            <a:r>
              <a:rPr lang="en-US" sz="1000" dirty="0">
                <a:solidFill>
                  <a:srgbClr val="DC2626"/>
                </a:solidFill>
                <a:latin typeface="Calibri" pitchFamily="34" charset="0"/>
                <a:ea typeface="Calibri" pitchFamily="34" charset="-122"/>
                <a:cs typeface="Calibri" pitchFamily="34" charset="-120"/>
              </a:rPr>
              <a:t>2-3 horas</a:t>
            </a:r>
            <a:endParaRPr lang="en-US" sz="1000" dirty="0"/>
          </a:p>
        </p:txBody>
      </p:sp>
      <p:sp>
        <p:nvSpPr>
          <p:cNvPr id="16" name="Text 14"/>
          <p:cNvSpPr/>
          <p:nvPr/>
        </p:nvSpPr>
        <p:spPr>
          <a:xfrm>
            <a:off x="5029200" y="1572768"/>
            <a:ext cx="1645920" cy="347472"/>
          </a:xfrm>
          <a:prstGeom prst="rect">
            <a:avLst/>
          </a:prstGeom>
          <a:noFill/>
          <a:ln/>
        </p:spPr>
        <p:txBody>
          <a:bodyPr wrap="square" rtlCol="0" anchor="ctr"/>
          <a:lstStyle/>
          <a:p>
            <a:pPr algn="ctr" indent="0" marL="0">
              <a:buNone/>
            </a:pPr>
            <a:r>
              <a:rPr lang="en-US" sz="1000" dirty="0">
                <a:solidFill>
                  <a:srgbClr val="2D8A39"/>
                </a:solidFill>
                <a:latin typeface="Calibri" pitchFamily="34" charset="0"/>
                <a:ea typeface="Calibri" pitchFamily="34" charset="-122"/>
                <a:cs typeface="Calibri" pitchFamily="34" charset="-120"/>
              </a:rPr>
              <a:t>30-45 min</a:t>
            </a:r>
            <a:endParaRPr lang="en-US" sz="1000" dirty="0"/>
          </a:p>
        </p:txBody>
      </p:sp>
      <p:sp>
        <p:nvSpPr>
          <p:cNvPr id="17" name="Text 15"/>
          <p:cNvSpPr/>
          <p:nvPr/>
        </p:nvSpPr>
        <p:spPr>
          <a:xfrm>
            <a:off x="6858000" y="1572768"/>
            <a:ext cx="1828800" cy="347472"/>
          </a:xfrm>
          <a:prstGeom prst="rect">
            <a:avLst/>
          </a:prstGeom>
          <a:noFill/>
          <a:ln/>
        </p:spPr>
        <p:txBody>
          <a:bodyPr wrap="square" rtlCol="0" anchor="ctr"/>
          <a:lstStyle/>
          <a:p>
            <a:pPr algn="ctr" indent="0" marL="0">
              <a:buNone/>
            </a:pPr>
            <a:r>
              <a:rPr lang="en-US" sz="1000" b="1" dirty="0">
                <a:solidFill>
                  <a:srgbClr val="FF5900"/>
                </a:solidFill>
                <a:latin typeface="Calibri" pitchFamily="34" charset="0"/>
                <a:ea typeface="Calibri" pitchFamily="34" charset="-122"/>
                <a:cs typeface="Calibri" pitchFamily="34" charset="-120"/>
              </a:rPr>
              <a:t>~2 hrs</a:t>
            </a:r>
            <a:endParaRPr lang="en-US" sz="1000" dirty="0"/>
          </a:p>
        </p:txBody>
      </p:sp>
      <p:sp>
        <p:nvSpPr>
          <p:cNvPr id="18" name="Shape 16"/>
          <p:cNvSpPr/>
          <p:nvPr/>
        </p:nvSpPr>
        <p:spPr>
          <a:xfrm>
            <a:off x="320040" y="1938528"/>
            <a:ext cx="8503920" cy="347472"/>
          </a:xfrm>
          <a:prstGeom prst="rect">
            <a:avLst/>
          </a:prstGeom>
          <a:solidFill>
            <a:srgbClr val="2A2A40"/>
          </a:solidFill>
          <a:ln/>
        </p:spPr>
      </p:sp>
      <p:sp>
        <p:nvSpPr>
          <p:cNvPr id="19" name="Text 17"/>
          <p:cNvSpPr/>
          <p:nvPr/>
        </p:nvSpPr>
        <p:spPr>
          <a:xfrm>
            <a:off x="457200" y="1938528"/>
            <a:ext cx="2743200" cy="347472"/>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Responder 30 correos</a:t>
            </a:r>
            <a:endParaRPr lang="en-US" sz="1000" dirty="0"/>
          </a:p>
        </p:txBody>
      </p:sp>
      <p:sp>
        <p:nvSpPr>
          <p:cNvPr id="20" name="Text 18"/>
          <p:cNvSpPr/>
          <p:nvPr/>
        </p:nvSpPr>
        <p:spPr>
          <a:xfrm>
            <a:off x="3383280" y="1938528"/>
            <a:ext cx="1645920" cy="347472"/>
          </a:xfrm>
          <a:prstGeom prst="rect">
            <a:avLst/>
          </a:prstGeom>
          <a:noFill/>
          <a:ln/>
        </p:spPr>
        <p:txBody>
          <a:bodyPr wrap="square" rtlCol="0" anchor="ctr"/>
          <a:lstStyle/>
          <a:p>
            <a:pPr algn="ctr" indent="0" marL="0">
              <a:buNone/>
            </a:pPr>
            <a:r>
              <a:rPr lang="en-US" sz="1000" dirty="0">
                <a:solidFill>
                  <a:srgbClr val="DC2626"/>
                </a:solidFill>
                <a:latin typeface="Calibri" pitchFamily="34" charset="0"/>
                <a:ea typeface="Calibri" pitchFamily="34" charset="-122"/>
                <a:cs typeface="Calibri" pitchFamily="34" charset="-120"/>
              </a:rPr>
              <a:t>2 horas</a:t>
            </a:r>
            <a:endParaRPr lang="en-US" sz="1000" dirty="0"/>
          </a:p>
        </p:txBody>
      </p:sp>
      <p:sp>
        <p:nvSpPr>
          <p:cNvPr id="21" name="Text 19"/>
          <p:cNvSpPr/>
          <p:nvPr/>
        </p:nvSpPr>
        <p:spPr>
          <a:xfrm>
            <a:off x="5029200" y="1938528"/>
            <a:ext cx="1645920" cy="347472"/>
          </a:xfrm>
          <a:prstGeom prst="rect">
            <a:avLst/>
          </a:prstGeom>
          <a:noFill/>
          <a:ln/>
        </p:spPr>
        <p:txBody>
          <a:bodyPr wrap="square" rtlCol="0" anchor="ctr"/>
          <a:lstStyle/>
          <a:p>
            <a:pPr algn="ctr" indent="0" marL="0">
              <a:buNone/>
            </a:pPr>
            <a:r>
              <a:rPr lang="en-US" sz="1000" dirty="0">
                <a:solidFill>
                  <a:srgbClr val="2D8A39"/>
                </a:solidFill>
                <a:latin typeface="Calibri" pitchFamily="34" charset="0"/>
                <a:ea typeface="Calibri" pitchFamily="34" charset="-122"/>
                <a:cs typeface="Calibri" pitchFamily="34" charset="-120"/>
              </a:rPr>
              <a:t>30 min</a:t>
            </a:r>
            <a:endParaRPr lang="en-US" sz="1000" dirty="0"/>
          </a:p>
        </p:txBody>
      </p:sp>
      <p:sp>
        <p:nvSpPr>
          <p:cNvPr id="22" name="Text 20"/>
          <p:cNvSpPr/>
          <p:nvPr/>
        </p:nvSpPr>
        <p:spPr>
          <a:xfrm>
            <a:off x="6858000" y="1938528"/>
            <a:ext cx="1828800" cy="347472"/>
          </a:xfrm>
          <a:prstGeom prst="rect">
            <a:avLst/>
          </a:prstGeom>
          <a:noFill/>
          <a:ln/>
        </p:spPr>
        <p:txBody>
          <a:bodyPr wrap="square" rtlCol="0" anchor="ctr"/>
          <a:lstStyle/>
          <a:p>
            <a:pPr algn="ctr" indent="0" marL="0">
              <a:buNone/>
            </a:pPr>
            <a:r>
              <a:rPr lang="en-US" sz="1000" b="1" dirty="0">
                <a:solidFill>
                  <a:srgbClr val="FF5900"/>
                </a:solidFill>
                <a:latin typeface="Calibri" pitchFamily="34" charset="0"/>
                <a:ea typeface="Calibri" pitchFamily="34" charset="-122"/>
                <a:cs typeface="Calibri" pitchFamily="34" charset="-120"/>
              </a:rPr>
              <a:t>~90 min</a:t>
            </a:r>
            <a:endParaRPr lang="en-US" sz="1000" dirty="0"/>
          </a:p>
        </p:txBody>
      </p:sp>
      <p:sp>
        <p:nvSpPr>
          <p:cNvPr id="23" name="Shape 21"/>
          <p:cNvSpPr/>
          <p:nvPr/>
        </p:nvSpPr>
        <p:spPr>
          <a:xfrm>
            <a:off x="320040" y="2304288"/>
            <a:ext cx="8503920" cy="347472"/>
          </a:xfrm>
          <a:prstGeom prst="rect">
            <a:avLst/>
          </a:prstGeom>
          <a:solidFill>
            <a:srgbClr val="252540"/>
          </a:solidFill>
          <a:ln/>
        </p:spPr>
      </p:sp>
      <p:sp>
        <p:nvSpPr>
          <p:cNvPr id="24" name="Text 22"/>
          <p:cNvSpPr/>
          <p:nvPr/>
        </p:nvSpPr>
        <p:spPr>
          <a:xfrm>
            <a:off x="457200" y="2304288"/>
            <a:ext cx="2743200" cy="347472"/>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Preparar minuta</a:t>
            </a:r>
            <a:endParaRPr lang="en-US" sz="1000" dirty="0"/>
          </a:p>
        </p:txBody>
      </p:sp>
      <p:sp>
        <p:nvSpPr>
          <p:cNvPr id="25" name="Text 23"/>
          <p:cNvSpPr/>
          <p:nvPr/>
        </p:nvSpPr>
        <p:spPr>
          <a:xfrm>
            <a:off x="3383280" y="2304288"/>
            <a:ext cx="1645920" cy="347472"/>
          </a:xfrm>
          <a:prstGeom prst="rect">
            <a:avLst/>
          </a:prstGeom>
          <a:noFill/>
          <a:ln/>
        </p:spPr>
        <p:txBody>
          <a:bodyPr wrap="square" rtlCol="0" anchor="ctr"/>
          <a:lstStyle/>
          <a:p>
            <a:pPr algn="ctr" indent="0" marL="0">
              <a:buNone/>
            </a:pPr>
            <a:r>
              <a:rPr lang="en-US" sz="1000" dirty="0">
                <a:solidFill>
                  <a:srgbClr val="DC2626"/>
                </a:solidFill>
                <a:latin typeface="Calibri" pitchFamily="34" charset="0"/>
                <a:ea typeface="Calibri" pitchFamily="34" charset="-122"/>
                <a:cs typeface="Calibri" pitchFamily="34" charset="-120"/>
              </a:rPr>
              <a:t>40 min</a:t>
            </a:r>
            <a:endParaRPr lang="en-US" sz="1000" dirty="0"/>
          </a:p>
        </p:txBody>
      </p:sp>
      <p:sp>
        <p:nvSpPr>
          <p:cNvPr id="26" name="Text 24"/>
          <p:cNvSpPr/>
          <p:nvPr/>
        </p:nvSpPr>
        <p:spPr>
          <a:xfrm>
            <a:off x="5029200" y="2304288"/>
            <a:ext cx="1645920" cy="347472"/>
          </a:xfrm>
          <a:prstGeom prst="rect">
            <a:avLst/>
          </a:prstGeom>
          <a:noFill/>
          <a:ln/>
        </p:spPr>
        <p:txBody>
          <a:bodyPr wrap="square" rtlCol="0" anchor="ctr"/>
          <a:lstStyle/>
          <a:p>
            <a:pPr algn="ctr" indent="0" marL="0">
              <a:buNone/>
            </a:pPr>
            <a:r>
              <a:rPr lang="en-US" sz="1000" dirty="0">
                <a:solidFill>
                  <a:srgbClr val="2D8A39"/>
                </a:solidFill>
                <a:latin typeface="Calibri" pitchFamily="34" charset="0"/>
                <a:ea typeface="Calibri" pitchFamily="34" charset="-122"/>
                <a:cs typeface="Calibri" pitchFamily="34" charset="-120"/>
              </a:rPr>
              <a:t>10 min</a:t>
            </a:r>
            <a:endParaRPr lang="en-US" sz="1000" dirty="0"/>
          </a:p>
        </p:txBody>
      </p:sp>
      <p:sp>
        <p:nvSpPr>
          <p:cNvPr id="27" name="Text 25"/>
          <p:cNvSpPr/>
          <p:nvPr/>
        </p:nvSpPr>
        <p:spPr>
          <a:xfrm>
            <a:off x="6858000" y="2304288"/>
            <a:ext cx="1828800" cy="347472"/>
          </a:xfrm>
          <a:prstGeom prst="rect">
            <a:avLst/>
          </a:prstGeom>
          <a:noFill/>
          <a:ln/>
        </p:spPr>
        <p:txBody>
          <a:bodyPr wrap="square" rtlCol="0" anchor="ctr"/>
          <a:lstStyle/>
          <a:p>
            <a:pPr algn="ctr" indent="0" marL="0">
              <a:buNone/>
            </a:pPr>
            <a:r>
              <a:rPr lang="en-US" sz="1000" b="1" dirty="0">
                <a:solidFill>
                  <a:srgbClr val="FF5900"/>
                </a:solidFill>
                <a:latin typeface="Calibri" pitchFamily="34" charset="0"/>
                <a:ea typeface="Calibri" pitchFamily="34" charset="-122"/>
                <a:cs typeface="Calibri" pitchFamily="34" charset="-120"/>
              </a:rPr>
              <a:t>~30 min</a:t>
            </a:r>
            <a:endParaRPr lang="en-US" sz="1000" dirty="0"/>
          </a:p>
        </p:txBody>
      </p:sp>
      <p:sp>
        <p:nvSpPr>
          <p:cNvPr id="28" name="Shape 26"/>
          <p:cNvSpPr/>
          <p:nvPr/>
        </p:nvSpPr>
        <p:spPr>
          <a:xfrm>
            <a:off x="320040" y="2670048"/>
            <a:ext cx="8503920" cy="347472"/>
          </a:xfrm>
          <a:prstGeom prst="rect">
            <a:avLst/>
          </a:prstGeom>
          <a:solidFill>
            <a:srgbClr val="2A2A40"/>
          </a:solidFill>
          <a:ln/>
        </p:spPr>
      </p:sp>
      <p:sp>
        <p:nvSpPr>
          <p:cNvPr id="29" name="Text 27"/>
          <p:cNvSpPr/>
          <p:nvPr/>
        </p:nvSpPr>
        <p:spPr>
          <a:xfrm>
            <a:off x="457200" y="2670048"/>
            <a:ext cx="2743200" cy="347472"/>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Reporte acreditacion</a:t>
            </a:r>
            <a:endParaRPr lang="en-US" sz="1000" dirty="0"/>
          </a:p>
        </p:txBody>
      </p:sp>
      <p:sp>
        <p:nvSpPr>
          <p:cNvPr id="30" name="Text 28"/>
          <p:cNvSpPr/>
          <p:nvPr/>
        </p:nvSpPr>
        <p:spPr>
          <a:xfrm>
            <a:off x="3383280" y="2670048"/>
            <a:ext cx="1645920" cy="347472"/>
          </a:xfrm>
          <a:prstGeom prst="rect">
            <a:avLst/>
          </a:prstGeom>
          <a:noFill/>
          <a:ln/>
        </p:spPr>
        <p:txBody>
          <a:bodyPr wrap="square" rtlCol="0" anchor="ctr"/>
          <a:lstStyle/>
          <a:p>
            <a:pPr algn="ctr" indent="0" marL="0">
              <a:buNone/>
            </a:pPr>
            <a:r>
              <a:rPr lang="en-US" sz="1000" dirty="0">
                <a:solidFill>
                  <a:srgbClr val="DC2626"/>
                </a:solidFill>
                <a:latin typeface="Calibri" pitchFamily="34" charset="0"/>
                <a:ea typeface="Calibri" pitchFamily="34" charset="-122"/>
                <a:cs typeface="Calibri" pitchFamily="34" charset="-120"/>
              </a:rPr>
              <a:t>4-5 horas</a:t>
            </a:r>
            <a:endParaRPr lang="en-US" sz="1000" dirty="0"/>
          </a:p>
        </p:txBody>
      </p:sp>
      <p:sp>
        <p:nvSpPr>
          <p:cNvPr id="31" name="Text 29"/>
          <p:cNvSpPr/>
          <p:nvPr/>
        </p:nvSpPr>
        <p:spPr>
          <a:xfrm>
            <a:off x="5029200" y="2670048"/>
            <a:ext cx="1645920" cy="347472"/>
          </a:xfrm>
          <a:prstGeom prst="rect">
            <a:avLst/>
          </a:prstGeom>
          <a:noFill/>
          <a:ln/>
        </p:spPr>
        <p:txBody>
          <a:bodyPr wrap="square" rtlCol="0" anchor="ctr"/>
          <a:lstStyle/>
          <a:p>
            <a:pPr algn="ctr" indent="0" marL="0">
              <a:buNone/>
            </a:pPr>
            <a:r>
              <a:rPr lang="en-US" sz="1000" dirty="0">
                <a:solidFill>
                  <a:srgbClr val="2D8A39"/>
                </a:solidFill>
                <a:latin typeface="Calibri" pitchFamily="34" charset="0"/>
                <a:ea typeface="Calibri" pitchFamily="34" charset="-122"/>
                <a:cs typeface="Calibri" pitchFamily="34" charset="-120"/>
              </a:rPr>
              <a:t>1-2 horas</a:t>
            </a:r>
            <a:endParaRPr lang="en-US" sz="1000" dirty="0"/>
          </a:p>
        </p:txBody>
      </p:sp>
      <p:sp>
        <p:nvSpPr>
          <p:cNvPr id="32" name="Text 30"/>
          <p:cNvSpPr/>
          <p:nvPr/>
        </p:nvSpPr>
        <p:spPr>
          <a:xfrm>
            <a:off x="6858000" y="2670048"/>
            <a:ext cx="1828800" cy="347472"/>
          </a:xfrm>
          <a:prstGeom prst="rect">
            <a:avLst/>
          </a:prstGeom>
          <a:noFill/>
          <a:ln/>
        </p:spPr>
        <p:txBody>
          <a:bodyPr wrap="square" rtlCol="0" anchor="ctr"/>
          <a:lstStyle/>
          <a:p>
            <a:pPr algn="ctr" indent="0" marL="0">
              <a:buNone/>
            </a:pPr>
            <a:r>
              <a:rPr lang="en-US" sz="1000" b="1" dirty="0">
                <a:solidFill>
                  <a:srgbClr val="FF5900"/>
                </a:solidFill>
                <a:latin typeface="Calibri" pitchFamily="34" charset="0"/>
                <a:ea typeface="Calibri" pitchFamily="34" charset="-122"/>
                <a:cs typeface="Calibri" pitchFamily="34" charset="-120"/>
              </a:rPr>
              <a:t>~3 hrs</a:t>
            </a:r>
            <a:endParaRPr lang="en-US" sz="1000" dirty="0"/>
          </a:p>
        </p:txBody>
      </p:sp>
      <p:sp>
        <p:nvSpPr>
          <p:cNvPr id="33" name="Shape 31"/>
          <p:cNvSpPr/>
          <p:nvPr/>
        </p:nvSpPr>
        <p:spPr>
          <a:xfrm>
            <a:off x="320040" y="3035808"/>
            <a:ext cx="8503920" cy="347472"/>
          </a:xfrm>
          <a:prstGeom prst="rect">
            <a:avLst/>
          </a:prstGeom>
          <a:solidFill>
            <a:srgbClr val="252540"/>
          </a:solidFill>
          <a:ln/>
        </p:spPr>
      </p:sp>
      <p:sp>
        <p:nvSpPr>
          <p:cNvPr id="34" name="Text 32"/>
          <p:cNvSpPr/>
          <p:nvPr/>
        </p:nvSpPr>
        <p:spPr>
          <a:xfrm>
            <a:off x="457200" y="3035808"/>
            <a:ext cx="2743200" cy="347472"/>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Analizar desercion</a:t>
            </a:r>
            <a:endParaRPr lang="en-US" sz="1000" dirty="0"/>
          </a:p>
        </p:txBody>
      </p:sp>
      <p:sp>
        <p:nvSpPr>
          <p:cNvPr id="35" name="Text 33"/>
          <p:cNvSpPr/>
          <p:nvPr/>
        </p:nvSpPr>
        <p:spPr>
          <a:xfrm>
            <a:off x="3383280" y="3035808"/>
            <a:ext cx="1645920" cy="347472"/>
          </a:xfrm>
          <a:prstGeom prst="rect">
            <a:avLst/>
          </a:prstGeom>
          <a:noFill/>
          <a:ln/>
        </p:spPr>
        <p:txBody>
          <a:bodyPr wrap="square" rtlCol="0" anchor="ctr"/>
          <a:lstStyle/>
          <a:p>
            <a:pPr algn="ctr" indent="0" marL="0">
              <a:buNone/>
            </a:pPr>
            <a:r>
              <a:rPr lang="en-US" sz="1000" dirty="0">
                <a:solidFill>
                  <a:srgbClr val="DC2626"/>
                </a:solidFill>
                <a:latin typeface="Calibri" pitchFamily="34" charset="0"/>
                <a:ea typeface="Calibri" pitchFamily="34" charset="-122"/>
                <a:cs typeface="Calibri" pitchFamily="34" charset="-120"/>
              </a:rPr>
              <a:t>1-2 horas</a:t>
            </a:r>
            <a:endParaRPr lang="en-US" sz="1000" dirty="0"/>
          </a:p>
        </p:txBody>
      </p:sp>
      <p:sp>
        <p:nvSpPr>
          <p:cNvPr id="36" name="Text 34"/>
          <p:cNvSpPr/>
          <p:nvPr/>
        </p:nvSpPr>
        <p:spPr>
          <a:xfrm>
            <a:off x="5029200" y="3035808"/>
            <a:ext cx="1645920" cy="347472"/>
          </a:xfrm>
          <a:prstGeom prst="rect">
            <a:avLst/>
          </a:prstGeom>
          <a:noFill/>
          <a:ln/>
        </p:spPr>
        <p:txBody>
          <a:bodyPr wrap="square" rtlCol="0" anchor="ctr"/>
          <a:lstStyle/>
          <a:p>
            <a:pPr algn="ctr" indent="0" marL="0">
              <a:buNone/>
            </a:pPr>
            <a:r>
              <a:rPr lang="en-US" sz="1000" dirty="0">
                <a:solidFill>
                  <a:srgbClr val="2D8A39"/>
                </a:solidFill>
                <a:latin typeface="Calibri" pitchFamily="34" charset="0"/>
                <a:ea typeface="Calibri" pitchFamily="34" charset="-122"/>
                <a:cs typeface="Calibri" pitchFamily="34" charset="-120"/>
              </a:rPr>
              <a:t>20-30 min</a:t>
            </a:r>
            <a:endParaRPr lang="en-US" sz="1000" dirty="0"/>
          </a:p>
        </p:txBody>
      </p:sp>
      <p:sp>
        <p:nvSpPr>
          <p:cNvPr id="37" name="Text 35"/>
          <p:cNvSpPr/>
          <p:nvPr/>
        </p:nvSpPr>
        <p:spPr>
          <a:xfrm>
            <a:off x="6858000" y="3035808"/>
            <a:ext cx="1828800" cy="347472"/>
          </a:xfrm>
          <a:prstGeom prst="rect">
            <a:avLst/>
          </a:prstGeom>
          <a:noFill/>
          <a:ln/>
        </p:spPr>
        <p:txBody>
          <a:bodyPr wrap="square" rtlCol="0" anchor="ctr"/>
          <a:lstStyle/>
          <a:p>
            <a:pPr algn="ctr" indent="0" marL="0">
              <a:buNone/>
            </a:pPr>
            <a:r>
              <a:rPr lang="en-US" sz="1000" b="1" dirty="0">
                <a:solidFill>
                  <a:srgbClr val="FF5900"/>
                </a:solidFill>
                <a:latin typeface="Calibri" pitchFamily="34" charset="0"/>
                <a:ea typeface="Calibri" pitchFamily="34" charset="-122"/>
                <a:cs typeface="Calibri" pitchFamily="34" charset="-120"/>
              </a:rPr>
              <a:t>~1 hr</a:t>
            </a:r>
            <a:endParaRPr lang="en-US" sz="1000" dirty="0"/>
          </a:p>
        </p:txBody>
      </p:sp>
      <p:sp>
        <p:nvSpPr>
          <p:cNvPr id="38" name="Shape 36"/>
          <p:cNvSpPr/>
          <p:nvPr/>
        </p:nvSpPr>
        <p:spPr>
          <a:xfrm>
            <a:off x="320040" y="3566160"/>
            <a:ext cx="2057400" cy="1097280"/>
          </a:xfrm>
          <a:prstGeom prst="rect">
            <a:avLst>
              <a:gd name="adj" fmla="val 8333"/>
            </a:avLst>
          </a:prstGeom>
          <a:solidFill>
            <a:srgbClr val="2A2A40"/>
          </a:solidFill>
          <a:ln w="19050">
            <a:solidFill>
              <a:srgbClr val="FF5900"/>
            </a:solidFill>
            <a:prstDash val="solid"/>
          </a:ln>
        </p:spPr>
      </p:sp>
      <p:sp>
        <p:nvSpPr>
          <p:cNvPr id="39" name="Text 37"/>
          <p:cNvSpPr/>
          <p:nvPr/>
        </p:nvSpPr>
        <p:spPr>
          <a:xfrm>
            <a:off x="320040" y="3657600"/>
            <a:ext cx="2057400" cy="502920"/>
          </a:xfrm>
          <a:prstGeom prst="rect">
            <a:avLst/>
          </a:prstGeom>
          <a:noFill/>
          <a:ln/>
        </p:spPr>
        <p:txBody>
          <a:bodyPr wrap="square" rtlCol="0" anchor="ctr"/>
          <a:lstStyle/>
          <a:p>
            <a:pPr algn="ctr" indent="0" marL="0">
              <a:buNone/>
            </a:pPr>
            <a:r>
              <a:rPr lang="en-US" sz="1600" b="1" dirty="0">
                <a:solidFill>
                  <a:srgbClr val="FF5900"/>
                </a:solidFill>
                <a:latin typeface="Arial Black" pitchFamily="34" charset="0"/>
                <a:ea typeface="Arial Black" pitchFamily="34" charset="-122"/>
                <a:cs typeface="Arial Black" pitchFamily="34" charset="-120"/>
              </a:rPr>
              <a:t>≥ 5 hrs/sem</a:t>
            </a:r>
            <a:endParaRPr lang="en-US" sz="1600" dirty="0"/>
          </a:p>
        </p:txBody>
      </p:sp>
      <p:sp>
        <p:nvSpPr>
          <p:cNvPr id="40" name="Text 38"/>
          <p:cNvSpPr/>
          <p:nvPr/>
        </p:nvSpPr>
        <p:spPr>
          <a:xfrm>
            <a:off x="320040" y="4160520"/>
            <a:ext cx="2057400" cy="41148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Horas ahorradas</a:t>
            </a:r>
            <a:endParaRPr lang="en-US" sz="900" dirty="0"/>
          </a:p>
        </p:txBody>
      </p:sp>
      <p:sp>
        <p:nvSpPr>
          <p:cNvPr id="41" name="Shape 39"/>
          <p:cNvSpPr/>
          <p:nvPr/>
        </p:nvSpPr>
        <p:spPr>
          <a:xfrm>
            <a:off x="2514600" y="3566160"/>
            <a:ext cx="2057400" cy="1097280"/>
          </a:xfrm>
          <a:prstGeom prst="rect">
            <a:avLst>
              <a:gd name="adj" fmla="val 8333"/>
            </a:avLst>
          </a:prstGeom>
          <a:solidFill>
            <a:srgbClr val="2A2A40"/>
          </a:solidFill>
          <a:ln w="19050">
            <a:solidFill>
              <a:srgbClr val="2D8A39"/>
            </a:solidFill>
            <a:prstDash val="solid"/>
          </a:ln>
        </p:spPr>
      </p:sp>
      <p:sp>
        <p:nvSpPr>
          <p:cNvPr id="42" name="Text 40"/>
          <p:cNvSpPr/>
          <p:nvPr/>
        </p:nvSpPr>
        <p:spPr>
          <a:xfrm>
            <a:off x="2514600" y="3657600"/>
            <a:ext cx="2057400" cy="502920"/>
          </a:xfrm>
          <a:prstGeom prst="rect">
            <a:avLst/>
          </a:prstGeom>
          <a:noFill/>
          <a:ln/>
        </p:spPr>
        <p:txBody>
          <a:bodyPr wrap="square" rtlCol="0" anchor="ctr"/>
          <a:lstStyle/>
          <a:p>
            <a:pPr algn="ctr" indent="0" marL="0">
              <a:buNone/>
            </a:pPr>
            <a:r>
              <a:rPr lang="en-US" sz="1600" b="1" dirty="0">
                <a:solidFill>
                  <a:srgbClr val="2D8A39"/>
                </a:solidFill>
                <a:latin typeface="Arial Black" pitchFamily="34" charset="0"/>
                <a:ea typeface="Arial Black" pitchFamily="34" charset="-122"/>
                <a:cs typeface="Arial Black" pitchFamily="34" charset="-120"/>
              </a:rPr>
              <a:t>≥ 60%</a:t>
            </a:r>
            <a:endParaRPr lang="en-US" sz="1600" dirty="0"/>
          </a:p>
        </p:txBody>
      </p:sp>
      <p:sp>
        <p:nvSpPr>
          <p:cNvPr id="43" name="Text 41"/>
          <p:cNvSpPr/>
          <p:nvPr/>
        </p:nvSpPr>
        <p:spPr>
          <a:xfrm>
            <a:off x="2514600" y="4160520"/>
            <a:ext cx="2057400" cy="41148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Adopcion 3x/sem a 30 dias</a:t>
            </a:r>
            <a:endParaRPr lang="en-US" sz="900" dirty="0"/>
          </a:p>
        </p:txBody>
      </p:sp>
      <p:sp>
        <p:nvSpPr>
          <p:cNvPr id="44" name="Shape 42"/>
          <p:cNvSpPr/>
          <p:nvPr/>
        </p:nvSpPr>
        <p:spPr>
          <a:xfrm>
            <a:off x="4709160" y="3566160"/>
            <a:ext cx="2057400" cy="1097280"/>
          </a:xfrm>
          <a:prstGeom prst="rect">
            <a:avLst>
              <a:gd name="adj" fmla="val 8333"/>
            </a:avLst>
          </a:prstGeom>
          <a:solidFill>
            <a:srgbClr val="2A2A40"/>
          </a:solidFill>
          <a:ln w="19050">
            <a:solidFill>
              <a:srgbClr val="5D428C"/>
            </a:solidFill>
            <a:prstDash val="solid"/>
          </a:ln>
        </p:spPr>
      </p:sp>
      <p:sp>
        <p:nvSpPr>
          <p:cNvPr id="45" name="Text 43"/>
          <p:cNvSpPr/>
          <p:nvPr/>
        </p:nvSpPr>
        <p:spPr>
          <a:xfrm>
            <a:off x="4709160" y="3657600"/>
            <a:ext cx="2057400" cy="502920"/>
          </a:xfrm>
          <a:prstGeom prst="rect">
            <a:avLst/>
          </a:prstGeom>
          <a:noFill/>
          <a:ln/>
        </p:spPr>
        <p:txBody>
          <a:bodyPr wrap="square" rtlCol="0" anchor="ctr"/>
          <a:lstStyle/>
          <a:p>
            <a:pPr algn="ctr" indent="0" marL="0">
              <a:buNone/>
            </a:pPr>
            <a:r>
              <a:rPr lang="en-US" sz="1600" b="1" dirty="0">
                <a:solidFill>
                  <a:srgbClr val="5D428C"/>
                </a:solidFill>
                <a:latin typeface="Arial Black" pitchFamily="34" charset="0"/>
                <a:ea typeface="Arial Black" pitchFamily="34" charset="-122"/>
                <a:cs typeface="Arial Black" pitchFamily="34" charset="-120"/>
              </a:rPr>
              <a:t>≥ 70%</a:t>
            </a:r>
            <a:endParaRPr lang="en-US" sz="1600" dirty="0"/>
          </a:p>
        </p:txBody>
      </p:sp>
      <p:sp>
        <p:nvSpPr>
          <p:cNvPr id="46" name="Text 44"/>
          <p:cNvSpPr/>
          <p:nvPr/>
        </p:nvSpPr>
        <p:spPr>
          <a:xfrm>
            <a:off x="4709160" y="4160520"/>
            <a:ext cx="2057400" cy="41148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Completamiento</a:t>
            </a:r>
            <a:endParaRPr lang="en-US" sz="900" dirty="0"/>
          </a:p>
        </p:txBody>
      </p:sp>
      <p:sp>
        <p:nvSpPr>
          <p:cNvPr id="47" name="Shape 45"/>
          <p:cNvSpPr/>
          <p:nvPr/>
        </p:nvSpPr>
        <p:spPr>
          <a:xfrm>
            <a:off x="6903720" y="3566160"/>
            <a:ext cx="2057400" cy="1097280"/>
          </a:xfrm>
          <a:prstGeom prst="rect">
            <a:avLst>
              <a:gd name="adj" fmla="val 8333"/>
            </a:avLst>
          </a:prstGeom>
          <a:solidFill>
            <a:srgbClr val="2A2A40"/>
          </a:solidFill>
          <a:ln w="19050">
            <a:solidFill>
              <a:srgbClr val="FF5900"/>
            </a:solidFill>
            <a:prstDash val="solid"/>
          </a:ln>
        </p:spPr>
      </p:sp>
      <p:sp>
        <p:nvSpPr>
          <p:cNvPr id="48" name="Text 46"/>
          <p:cNvSpPr/>
          <p:nvPr/>
        </p:nvSpPr>
        <p:spPr>
          <a:xfrm>
            <a:off x="6903720" y="3657600"/>
            <a:ext cx="2057400" cy="502920"/>
          </a:xfrm>
          <a:prstGeom prst="rect">
            <a:avLst/>
          </a:prstGeom>
          <a:noFill/>
          <a:ln/>
        </p:spPr>
        <p:txBody>
          <a:bodyPr wrap="square" rtlCol="0" anchor="ctr"/>
          <a:lstStyle/>
          <a:p>
            <a:pPr algn="ctr" indent="0" marL="0">
              <a:buNone/>
            </a:pPr>
            <a:r>
              <a:rPr lang="en-US" sz="1600" b="1" dirty="0">
                <a:solidFill>
                  <a:srgbClr val="FF5900"/>
                </a:solidFill>
                <a:latin typeface="Arial Black" pitchFamily="34" charset="0"/>
                <a:ea typeface="Arial Black" pitchFamily="34" charset="-122"/>
                <a:cs typeface="Arial Black" pitchFamily="34" charset="-120"/>
              </a:rPr>
              <a:t>$50K MXN</a:t>
            </a:r>
            <a:endParaRPr lang="en-US" sz="1600" dirty="0"/>
          </a:p>
        </p:txBody>
      </p:sp>
      <p:sp>
        <p:nvSpPr>
          <p:cNvPr id="49" name="Text 47"/>
          <p:cNvSpPr/>
          <p:nvPr/>
        </p:nvSpPr>
        <p:spPr>
          <a:xfrm>
            <a:off x="6903720" y="4160520"/>
            <a:ext cx="2057400" cy="41148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ROI anual por persona</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F0F23"/>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Ruta de implementacion</a:t>
            </a:r>
            <a:endParaRPr lang="en-US" sz="2200" dirty="0"/>
          </a:p>
        </p:txBody>
      </p:sp>
      <p:sp>
        <p:nvSpPr>
          <p:cNvPr id="3" name="Shape 1"/>
          <p:cNvSpPr/>
          <p:nvPr/>
        </p:nvSpPr>
        <p:spPr>
          <a:xfrm>
            <a:off x="731520" y="1280160"/>
            <a:ext cx="7680960" cy="36576"/>
          </a:xfrm>
          <a:prstGeom prst="rect">
            <a:avLst/>
          </a:prstGeom>
          <a:solidFill>
            <a:srgbClr val="FF5900"/>
          </a:solidFill>
          <a:ln/>
        </p:spPr>
      </p:sp>
      <p:sp>
        <p:nvSpPr>
          <p:cNvPr id="4" name="Shape 2"/>
          <p:cNvSpPr/>
          <p:nvPr/>
        </p:nvSpPr>
        <p:spPr>
          <a:xfrm>
            <a:off x="1143000" y="1051560"/>
            <a:ext cx="457200" cy="457200"/>
          </a:xfrm>
          <a:prstGeom prst="ellipse">
            <a:avLst/>
          </a:prstGeom>
          <a:solidFill>
            <a:srgbClr val="FF5900"/>
          </a:solidFill>
          <a:ln/>
        </p:spPr>
      </p:sp>
      <p:sp>
        <p:nvSpPr>
          <p:cNvPr id="5" name="Text 3"/>
          <p:cNvSpPr/>
          <p:nvPr/>
        </p:nvSpPr>
        <p:spPr>
          <a:xfrm>
            <a:off x="1143000" y="1051560"/>
            <a:ext cx="457200" cy="45720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1</a:t>
            </a:r>
            <a:endParaRPr lang="en-US" sz="1600" dirty="0"/>
          </a:p>
        </p:txBody>
      </p:sp>
      <p:sp>
        <p:nvSpPr>
          <p:cNvPr id="6" name="Shape 4"/>
          <p:cNvSpPr/>
          <p:nvPr/>
        </p:nvSpPr>
        <p:spPr>
          <a:xfrm>
            <a:off x="274320" y="1691640"/>
            <a:ext cx="2194560" cy="2560320"/>
          </a:xfrm>
          <a:prstGeom prst="rect">
            <a:avLst>
              <a:gd name="adj" fmla="val 4167"/>
            </a:avLst>
          </a:prstGeom>
          <a:solidFill>
            <a:srgbClr val="2A2A40"/>
          </a:solidFill>
          <a:ln/>
          <a:effectLst>
            <a:outerShdw sx="100000" sy="100000" kx="0" ky="0" algn="bl" rotWithShape="0" blurRad="50800" dist="25400" dir="16200000">
              <a:srgbClr val="000000">
                <a:alpha val="20000"/>
              </a:srgbClr>
            </a:outerShdw>
          </a:effectLst>
        </p:spPr>
      </p:sp>
      <p:sp>
        <p:nvSpPr>
          <p:cNvPr id="7" name="Text 5"/>
          <p:cNvSpPr/>
          <p:nvPr/>
        </p:nvSpPr>
        <p:spPr>
          <a:xfrm>
            <a:off x="365760" y="1783080"/>
            <a:ext cx="2011680" cy="320040"/>
          </a:xfrm>
          <a:prstGeom prst="rect">
            <a:avLst/>
          </a:prstGeom>
          <a:noFill/>
          <a:ln/>
        </p:spPr>
        <p:txBody>
          <a:bodyPr wrap="square" rtlCol="0" anchor="ctr"/>
          <a:lstStyle/>
          <a:p>
            <a:pPr indent="0" marL="0">
              <a:buNone/>
            </a:pPr>
            <a:r>
              <a:rPr lang="en-US" sz="1300" b="1" dirty="0">
                <a:solidFill>
                  <a:srgbClr val="FF5900"/>
                </a:solidFill>
                <a:latin typeface="Arial Black" pitchFamily="34" charset="0"/>
                <a:ea typeface="Arial Black" pitchFamily="34" charset="-122"/>
                <a:cs typeface="Arial Black" pitchFamily="34" charset="-120"/>
              </a:rPr>
              <a:t>PILOTO</a:t>
            </a:r>
            <a:endParaRPr lang="en-US" sz="1300" dirty="0"/>
          </a:p>
        </p:txBody>
      </p:sp>
      <p:sp>
        <p:nvSpPr>
          <p:cNvPr id="8" name="Text 6"/>
          <p:cNvSpPr/>
          <p:nvPr/>
        </p:nvSpPr>
        <p:spPr>
          <a:xfrm>
            <a:off x="365760" y="2103120"/>
            <a:ext cx="2011680" cy="457200"/>
          </a:xfrm>
          <a:prstGeom prst="rect">
            <a:avLst/>
          </a:prstGeom>
          <a:noFill/>
          <a:ln/>
        </p:spPr>
        <p:txBody>
          <a:bodyPr wrap="square" rtlCol="0" anchor="ctr"/>
          <a:lstStyle/>
          <a:p>
            <a:pPr indent="0" marL="0">
              <a:lnSpc>
                <a:spcPts val="1400"/>
              </a:lnSpc>
              <a:buNone/>
            </a:pPr>
            <a:r>
              <a:rPr lang="en-US" sz="1000" dirty="0">
                <a:solidFill>
                  <a:srgbClr val="A0A0B8"/>
                </a:solidFill>
                <a:latin typeface="Calibri" pitchFamily="34" charset="0"/>
                <a:ea typeface="Calibri" pitchFamily="34" charset="-122"/>
                <a:cs typeface="Calibri" pitchFamily="34" charset="-120"/>
              </a:rPr>
              <a:t>Oct 2026</a:t>
            </a:r>
            <a:endParaRPr lang="en-US" sz="1000" dirty="0"/>
          </a:p>
          <a:p>
            <a:pPr indent="0" marL="0">
              <a:lnSpc>
                <a:spcPts val="1400"/>
              </a:lnSpc>
              <a:buNone/>
            </a:pPr>
            <a:r>
              <a:rPr lang="en-US" sz="1000" dirty="0">
                <a:solidFill>
                  <a:srgbClr val="A0A0B8"/>
                </a:solidFill>
                <a:latin typeface="Calibri" pitchFamily="34" charset="0"/>
                <a:ea typeface="Calibri" pitchFamily="34" charset="-122"/>
                <a:cs typeface="Calibri" pitchFamily="34" charset="-120"/>
              </a:rPr>
              <a:t>4-6 semanas</a:t>
            </a:r>
            <a:endParaRPr lang="en-US" sz="1000" dirty="0"/>
          </a:p>
        </p:txBody>
      </p:sp>
      <p:sp>
        <p:nvSpPr>
          <p:cNvPr id="9" name="Text 7"/>
          <p:cNvSpPr/>
          <p:nvPr/>
        </p:nvSpPr>
        <p:spPr>
          <a:xfrm>
            <a:off x="365760" y="2606040"/>
            <a:ext cx="2011680" cy="1371600"/>
          </a:xfrm>
          <a:prstGeom prst="rect">
            <a:avLst/>
          </a:prstGeom>
          <a:noFill/>
          <a:ln/>
        </p:spPr>
        <p:txBody>
          <a:bodyPr wrap="square" rtlCol="0" anchor="ctr"/>
          <a:lstStyle/>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8-10 directivos</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4-5 acad. + 4-5 admin.</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Medicion semanal</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NPS al cierre</a:t>
            </a:r>
            <a:endParaRPr lang="en-US" sz="1000" dirty="0"/>
          </a:p>
        </p:txBody>
      </p:sp>
      <p:sp>
        <p:nvSpPr>
          <p:cNvPr id="10" name="Shape 8"/>
          <p:cNvSpPr/>
          <p:nvPr/>
        </p:nvSpPr>
        <p:spPr>
          <a:xfrm>
            <a:off x="3886200" y="1051560"/>
            <a:ext cx="457200" cy="457200"/>
          </a:xfrm>
          <a:prstGeom prst="ellipse">
            <a:avLst/>
          </a:prstGeom>
          <a:solidFill>
            <a:srgbClr val="FF7A33"/>
          </a:solidFill>
          <a:ln/>
        </p:spPr>
      </p:sp>
      <p:sp>
        <p:nvSpPr>
          <p:cNvPr id="11" name="Text 9"/>
          <p:cNvSpPr/>
          <p:nvPr/>
        </p:nvSpPr>
        <p:spPr>
          <a:xfrm>
            <a:off x="3886200" y="1051560"/>
            <a:ext cx="457200" cy="45720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2</a:t>
            </a:r>
            <a:endParaRPr lang="en-US" sz="1600" dirty="0"/>
          </a:p>
        </p:txBody>
      </p:sp>
      <p:sp>
        <p:nvSpPr>
          <p:cNvPr id="12" name="Shape 10"/>
          <p:cNvSpPr/>
          <p:nvPr/>
        </p:nvSpPr>
        <p:spPr>
          <a:xfrm>
            <a:off x="3017520" y="1691640"/>
            <a:ext cx="2194560" cy="2560320"/>
          </a:xfrm>
          <a:prstGeom prst="rect">
            <a:avLst>
              <a:gd name="adj" fmla="val 4167"/>
            </a:avLst>
          </a:prstGeom>
          <a:solidFill>
            <a:srgbClr val="2A2A40"/>
          </a:solidFill>
          <a:ln/>
          <a:effectLst>
            <a:outerShdw sx="100000" sy="100000" kx="0" ky="0" algn="bl" rotWithShape="0" blurRad="50800" dist="25400" dir="16200000">
              <a:srgbClr val="000000">
                <a:alpha val="20000"/>
              </a:srgbClr>
            </a:outerShdw>
          </a:effectLst>
        </p:spPr>
      </p:sp>
      <p:sp>
        <p:nvSpPr>
          <p:cNvPr id="13" name="Text 11"/>
          <p:cNvSpPr/>
          <p:nvPr/>
        </p:nvSpPr>
        <p:spPr>
          <a:xfrm>
            <a:off x="3108960" y="1783080"/>
            <a:ext cx="2011680" cy="320040"/>
          </a:xfrm>
          <a:prstGeom prst="rect">
            <a:avLst/>
          </a:prstGeom>
          <a:noFill/>
          <a:ln/>
        </p:spPr>
        <p:txBody>
          <a:bodyPr wrap="square" rtlCol="0" anchor="ctr"/>
          <a:lstStyle/>
          <a:p>
            <a:pPr indent="0" marL="0">
              <a:buNone/>
            </a:pPr>
            <a:r>
              <a:rPr lang="en-US" sz="1300" b="1" dirty="0">
                <a:solidFill>
                  <a:srgbClr val="FF7A33"/>
                </a:solidFill>
                <a:latin typeface="Arial Black" pitchFamily="34" charset="0"/>
                <a:ea typeface="Arial Black" pitchFamily="34" charset="-122"/>
                <a:cs typeface="Arial Black" pitchFamily="34" charset="-120"/>
              </a:rPr>
              <a:t>COHORTE 1</a:t>
            </a:r>
            <a:endParaRPr lang="en-US" sz="1300" dirty="0"/>
          </a:p>
        </p:txBody>
      </p:sp>
      <p:sp>
        <p:nvSpPr>
          <p:cNvPr id="14" name="Text 12"/>
          <p:cNvSpPr/>
          <p:nvPr/>
        </p:nvSpPr>
        <p:spPr>
          <a:xfrm>
            <a:off x="3108960" y="2103120"/>
            <a:ext cx="2011680" cy="457200"/>
          </a:xfrm>
          <a:prstGeom prst="rect">
            <a:avLst/>
          </a:prstGeom>
          <a:noFill/>
          <a:ln/>
        </p:spPr>
        <p:txBody>
          <a:bodyPr wrap="square" rtlCol="0" anchor="ctr"/>
          <a:lstStyle/>
          <a:p>
            <a:pPr indent="0" marL="0">
              <a:lnSpc>
                <a:spcPts val="1400"/>
              </a:lnSpc>
              <a:buNone/>
            </a:pPr>
            <a:r>
              <a:rPr lang="en-US" sz="1000" dirty="0">
                <a:solidFill>
                  <a:srgbClr val="A0A0B8"/>
                </a:solidFill>
                <a:latin typeface="Calibri" pitchFamily="34" charset="0"/>
                <a:ea typeface="Calibri" pitchFamily="34" charset="-122"/>
                <a:cs typeface="Calibri" pitchFamily="34" charset="-120"/>
              </a:rPr>
              <a:t>Nov-Dic 2026</a:t>
            </a:r>
            <a:endParaRPr lang="en-US" sz="1000" dirty="0"/>
          </a:p>
          <a:p>
            <a:pPr indent="0" marL="0">
              <a:lnSpc>
                <a:spcPts val="1400"/>
              </a:lnSpc>
              <a:buNone/>
            </a:pPr>
            <a:r>
              <a:rPr lang="en-US" sz="1000" dirty="0">
                <a:solidFill>
                  <a:srgbClr val="A0A0B8"/>
                </a:solidFill>
                <a:latin typeface="Calibri" pitchFamily="34" charset="0"/>
                <a:ea typeface="Calibri" pitchFamily="34" charset="-122"/>
                <a:cs typeface="Calibri" pitchFamily="34" charset="-120"/>
              </a:rPr>
              <a:t>8 semanas</a:t>
            </a:r>
            <a:endParaRPr lang="en-US" sz="1000" dirty="0"/>
          </a:p>
        </p:txBody>
      </p:sp>
      <p:sp>
        <p:nvSpPr>
          <p:cNvPr id="15" name="Text 13"/>
          <p:cNvSpPr/>
          <p:nvPr/>
        </p:nvSpPr>
        <p:spPr>
          <a:xfrm>
            <a:off x="3108960" y="2606040"/>
            <a:ext cx="2011680" cy="1371600"/>
          </a:xfrm>
          <a:prstGeom prst="rect">
            <a:avLst/>
          </a:prstGeom>
          <a:noFill/>
          <a:ln/>
        </p:spPr>
        <p:txBody>
          <a:bodyPr wrap="square" rtlCol="0" anchor="ctr"/>
          <a:lstStyle/>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30-40 directivos</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Lecciones del piloto</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Sesiones sincronicas</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Badges y constancias</a:t>
            </a:r>
            <a:endParaRPr lang="en-US" sz="1000" dirty="0"/>
          </a:p>
        </p:txBody>
      </p:sp>
      <p:sp>
        <p:nvSpPr>
          <p:cNvPr id="16" name="Shape 14"/>
          <p:cNvSpPr/>
          <p:nvPr/>
        </p:nvSpPr>
        <p:spPr>
          <a:xfrm>
            <a:off x="6629400" y="1051560"/>
            <a:ext cx="457200" cy="457200"/>
          </a:xfrm>
          <a:prstGeom prst="ellipse">
            <a:avLst/>
          </a:prstGeom>
          <a:solidFill>
            <a:srgbClr val="432F64"/>
          </a:solidFill>
          <a:ln/>
        </p:spPr>
      </p:sp>
      <p:sp>
        <p:nvSpPr>
          <p:cNvPr id="17" name="Text 15"/>
          <p:cNvSpPr/>
          <p:nvPr/>
        </p:nvSpPr>
        <p:spPr>
          <a:xfrm>
            <a:off x="6629400" y="1051560"/>
            <a:ext cx="457200" cy="457200"/>
          </a:xfrm>
          <a:prstGeom prst="rect">
            <a:avLst/>
          </a:prstGeom>
          <a:noFill/>
          <a:ln/>
        </p:spPr>
        <p:txBody>
          <a:bodyPr wrap="square" rtlCol="0" anchor="ctr"/>
          <a:lstStyle/>
          <a:p>
            <a:pPr algn="ctr" indent="0" marL="0">
              <a:buNone/>
            </a:pPr>
            <a:r>
              <a:rPr lang="en-US" sz="1600" b="1" dirty="0">
                <a:solidFill>
                  <a:srgbClr val="FFFFFF"/>
                </a:solidFill>
                <a:latin typeface="Arial Black" pitchFamily="34" charset="0"/>
                <a:ea typeface="Arial Black" pitchFamily="34" charset="-122"/>
                <a:cs typeface="Arial Black" pitchFamily="34" charset="-120"/>
              </a:rPr>
              <a:t>3</a:t>
            </a:r>
            <a:endParaRPr lang="en-US" sz="1600" dirty="0"/>
          </a:p>
        </p:txBody>
      </p:sp>
      <p:sp>
        <p:nvSpPr>
          <p:cNvPr id="18" name="Shape 16"/>
          <p:cNvSpPr/>
          <p:nvPr/>
        </p:nvSpPr>
        <p:spPr>
          <a:xfrm>
            <a:off x="5760720" y="1691640"/>
            <a:ext cx="2194560" cy="2560320"/>
          </a:xfrm>
          <a:prstGeom prst="rect">
            <a:avLst>
              <a:gd name="adj" fmla="val 4167"/>
            </a:avLst>
          </a:prstGeom>
          <a:solidFill>
            <a:srgbClr val="2A2A40"/>
          </a:solidFill>
          <a:ln/>
          <a:effectLst>
            <a:outerShdw sx="100000" sy="100000" kx="0" ky="0" algn="bl" rotWithShape="0" blurRad="50800" dist="25400" dir="16200000">
              <a:srgbClr val="000000">
                <a:alpha val="20000"/>
              </a:srgbClr>
            </a:outerShdw>
          </a:effectLst>
        </p:spPr>
      </p:sp>
      <p:sp>
        <p:nvSpPr>
          <p:cNvPr id="19" name="Text 17"/>
          <p:cNvSpPr/>
          <p:nvPr/>
        </p:nvSpPr>
        <p:spPr>
          <a:xfrm>
            <a:off x="5852160" y="1783080"/>
            <a:ext cx="2011680" cy="320040"/>
          </a:xfrm>
          <a:prstGeom prst="rect">
            <a:avLst/>
          </a:prstGeom>
          <a:noFill/>
          <a:ln/>
        </p:spPr>
        <p:txBody>
          <a:bodyPr wrap="square" rtlCol="0" anchor="ctr"/>
          <a:lstStyle/>
          <a:p>
            <a:pPr indent="0" marL="0">
              <a:buNone/>
            </a:pPr>
            <a:r>
              <a:rPr lang="en-US" sz="1300" b="1" dirty="0">
                <a:solidFill>
                  <a:srgbClr val="432F64"/>
                </a:solidFill>
                <a:latin typeface="Arial Black" pitchFamily="34" charset="0"/>
                <a:ea typeface="Arial Black" pitchFamily="34" charset="-122"/>
                <a:cs typeface="Arial Black" pitchFamily="34" charset="-120"/>
              </a:rPr>
              <a:t>ESCALAMIENTO</a:t>
            </a:r>
            <a:endParaRPr lang="en-US" sz="1300" dirty="0"/>
          </a:p>
        </p:txBody>
      </p:sp>
      <p:sp>
        <p:nvSpPr>
          <p:cNvPr id="20" name="Text 18"/>
          <p:cNvSpPr/>
          <p:nvPr/>
        </p:nvSpPr>
        <p:spPr>
          <a:xfrm>
            <a:off x="5852160" y="2103120"/>
            <a:ext cx="2011680" cy="457200"/>
          </a:xfrm>
          <a:prstGeom prst="rect">
            <a:avLst/>
          </a:prstGeom>
          <a:noFill/>
          <a:ln/>
        </p:spPr>
        <p:txBody>
          <a:bodyPr wrap="square" rtlCol="0" anchor="ctr"/>
          <a:lstStyle/>
          <a:p>
            <a:pPr indent="0" marL="0">
              <a:lnSpc>
                <a:spcPts val="1400"/>
              </a:lnSpc>
              <a:buNone/>
            </a:pPr>
            <a:r>
              <a:rPr lang="en-US" sz="1000" dirty="0">
                <a:solidFill>
                  <a:srgbClr val="A0A0B8"/>
                </a:solidFill>
                <a:latin typeface="Calibri" pitchFamily="34" charset="0"/>
                <a:ea typeface="Calibri" pitchFamily="34" charset="-122"/>
                <a:cs typeface="Calibri" pitchFamily="34" charset="-120"/>
              </a:rPr>
              <a:t>Q1-Q2 2027</a:t>
            </a:r>
            <a:endParaRPr lang="en-US" sz="1000" dirty="0"/>
          </a:p>
        </p:txBody>
      </p:sp>
      <p:sp>
        <p:nvSpPr>
          <p:cNvPr id="21" name="Text 19"/>
          <p:cNvSpPr/>
          <p:nvPr/>
        </p:nvSpPr>
        <p:spPr>
          <a:xfrm>
            <a:off x="5852160" y="2606040"/>
            <a:ext cx="2011680" cy="1371600"/>
          </a:xfrm>
          <a:prstGeom prst="rect">
            <a:avLst/>
          </a:prstGeom>
          <a:noFill/>
          <a:ln/>
        </p:spPr>
        <p:txBody>
          <a:bodyPr wrap="square" rtlCol="0" anchor="ctr"/>
          <a:lstStyle/>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Todos los directivos</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Modelo white-label</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Red Anahuac (12 campus)</a:t>
            </a:r>
            <a:endParaRPr lang="en-US" sz="1000" dirty="0"/>
          </a:p>
          <a:p>
            <a:pPr indent="0" marL="0">
              <a:lnSpc>
                <a:spcPts val="1600"/>
              </a:lnSpc>
              <a:buNone/>
            </a:pPr>
            <a:r>
              <a:rPr lang="en-US" sz="1000" dirty="0">
                <a:solidFill>
                  <a:srgbClr val="E8E8F0"/>
                </a:solidFill>
                <a:latin typeface="Calibri" pitchFamily="34" charset="0"/>
                <a:ea typeface="Calibri" pitchFamily="34" charset="-122"/>
                <a:cs typeface="Calibri" pitchFamily="34" charset="-120"/>
              </a:rPr>
              <a:t>Ed. Continua publica</a:t>
            </a:r>
            <a:endParaRPr lang="en-US" sz="1000" dirty="0"/>
          </a:p>
        </p:txBody>
      </p:sp>
      <p:sp>
        <p:nvSpPr>
          <p:cNvPr id="22" name="Shape 20"/>
          <p:cNvSpPr/>
          <p:nvPr/>
        </p:nvSpPr>
        <p:spPr>
          <a:xfrm>
            <a:off x="2286000" y="4480560"/>
            <a:ext cx="4572000" cy="457200"/>
          </a:xfrm>
          <a:prstGeom prst="rect">
            <a:avLst>
              <a:gd name="adj" fmla="val 50000"/>
            </a:avLst>
          </a:prstGeom>
          <a:solidFill>
            <a:srgbClr val="FF5900"/>
          </a:solidFill>
          <a:ln/>
        </p:spPr>
      </p:sp>
      <p:sp>
        <p:nvSpPr>
          <p:cNvPr id="23" name="Text 21"/>
          <p:cNvSpPr/>
          <p:nvPr/>
        </p:nvSpPr>
        <p:spPr>
          <a:xfrm>
            <a:off x="2286000" y="4480560"/>
            <a:ext cx="4572000" cy="457200"/>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Hoy solo pedimos la Fase 1. Solo el piloto.</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F0F23"/>
        </a:solidFill>
      </p:bgPr>
    </p:bg>
    <p:spTree>
      <p:nvGrpSpPr>
        <p:cNvPr id="1" name=""/>
        <p:cNvGrpSpPr/>
        <p:nvPr/>
      </p:nvGrpSpPr>
      <p:grpSpPr>
        <a:xfrm>
          <a:off x="0" y="0"/>
          <a:ext cx="0" cy="0"/>
          <a:chOff x="0" y="0"/>
          <a:chExt cx="0" cy="0"/>
        </a:xfrm>
      </p:grpSpPr>
      <p:sp>
        <p:nvSpPr>
          <p:cNvPr id="2" name="Text 0"/>
          <p:cNvSpPr/>
          <p:nvPr/>
        </p:nvSpPr>
        <p:spPr>
          <a:xfrm>
            <a:off x="457200" y="182880"/>
            <a:ext cx="8229600" cy="548640"/>
          </a:xfrm>
          <a:prstGeom prst="rect">
            <a:avLst/>
          </a:prstGeom>
          <a:noFill/>
          <a:ln/>
        </p:spPr>
        <p:txBody>
          <a:bodyPr wrap="square" rtlCol="0" anchor="ctr"/>
          <a:lstStyle/>
          <a:p>
            <a:pPr indent="0" marL="0">
              <a:buNone/>
            </a:pPr>
            <a:r>
              <a:rPr lang="en-US" sz="2200" b="1" dirty="0">
                <a:solidFill>
                  <a:srgbClr val="FFFFFF"/>
                </a:solidFill>
                <a:latin typeface="Arial Black" pitchFamily="34" charset="0"/>
                <a:ea typeface="Arial Black" pitchFamily="34" charset="-122"/>
                <a:cs typeface="Arial Black" pitchFamily="34" charset="-120"/>
              </a:rPr>
              <a:t>Que necesitamos?</a:t>
            </a:r>
            <a:endParaRPr lang="en-US" sz="2200" dirty="0"/>
          </a:p>
        </p:txBody>
      </p:sp>
      <p:sp>
        <p:nvSpPr>
          <p:cNvPr id="3" name="Text 1"/>
          <p:cNvSpPr/>
          <p:nvPr/>
        </p:nvSpPr>
        <p:spPr>
          <a:xfrm>
            <a:off x="457200" y="822960"/>
            <a:ext cx="4114800" cy="365760"/>
          </a:xfrm>
          <a:prstGeom prst="rect">
            <a:avLst/>
          </a:prstGeom>
          <a:noFill/>
          <a:ln/>
        </p:spPr>
        <p:txBody>
          <a:bodyPr wrap="square" rtlCol="0" anchor="ctr"/>
          <a:lstStyle/>
          <a:p>
            <a:pPr indent="0" marL="0">
              <a:buNone/>
            </a:pPr>
            <a:r>
              <a:rPr lang="en-US" sz="1400" dirty="0">
                <a:solidFill>
                  <a:srgbClr val="2D8A39"/>
                </a:solidFill>
                <a:latin typeface="Arial Black" pitchFamily="34" charset="0"/>
                <a:ea typeface="Arial Black" pitchFamily="34" charset="-122"/>
                <a:cs typeface="Arial Black" pitchFamily="34" charset="-120"/>
              </a:rPr>
              <a:t>✅  Ya esta listo</a:t>
            </a:r>
            <a:endParaRPr lang="en-US" sz="1400" dirty="0"/>
          </a:p>
        </p:txBody>
      </p:sp>
      <p:sp>
        <p:nvSpPr>
          <p:cNvPr id="4" name="Text 2"/>
          <p:cNvSpPr/>
          <p:nvPr/>
        </p:nvSpPr>
        <p:spPr>
          <a:xfrm>
            <a:off x="548640" y="123444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Contenido de los 8 niveles</a:t>
            </a:r>
            <a:endParaRPr lang="en-US" sz="1000" dirty="0"/>
          </a:p>
        </p:txBody>
      </p:sp>
      <p:sp>
        <p:nvSpPr>
          <p:cNvPr id="5" name="Text 3"/>
          <p:cNvSpPr/>
          <p:nvPr/>
        </p:nvSpPr>
        <p:spPr>
          <a:xfrm>
            <a:off x="548640" y="155448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Plan de estudios (6.5 SATCA)</a:t>
            </a:r>
            <a:endParaRPr lang="en-US" sz="1000" dirty="0"/>
          </a:p>
        </p:txBody>
      </p:sp>
      <p:sp>
        <p:nvSpPr>
          <p:cNvPr id="6" name="Text 4"/>
          <p:cNvSpPr/>
          <p:nvPr/>
        </p:nvSpPr>
        <p:spPr>
          <a:xfrm>
            <a:off x="548640" y="187452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Evaluacion y rubricas</a:t>
            </a:r>
            <a:endParaRPr lang="en-US" sz="1000" dirty="0"/>
          </a:p>
        </p:txBody>
      </p:sp>
      <p:sp>
        <p:nvSpPr>
          <p:cNvPr id="7" name="Text 5"/>
          <p:cNvSpPr/>
          <p:nvPr/>
        </p:nvSpPr>
        <p:spPr>
          <a:xfrm>
            <a:off x="548640" y="219456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Micro-credenciales Open Badges</a:t>
            </a:r>
            <a:endParaRPr lang="en-US" sz="1000" dirty="0"/>
          </a:p>
        </p:txBody>
      </p:sp>
      <p:sp>
        <p:nvSpPr>
          <p:cNvPr id="8" name="Text 6"/>
          <p:cNvSpPr/>
          <p:nvPr/>
        </p:nvSpPr>
        <p:spPr>
          <a:xfrm>
            <a:off x="548640" y="251460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Mini sitio web funcional</a:t>
            </a:r>
            <a:endParaRPr lang="en-US" sz="1000" dirty="0"/>
          </a:p>
        </p:txBody>
      </p:sp>
      <p:sp>
        <p:nvSpPr>
          <p:cNvPr id="9" name="Text 7"/>
          <p:cNvSpPr/>
          <p:nvPr/>
        </p:nvSpPr>
        <p:spPr>
          <a:xfrm>
            <a:off x="548640" y="283464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Dos versiones (acad. + admin.)</a:t>
            </a:r>
            <a:endParaRPr lang="en-US" sz="1000" dirty="0"/>
          </a:p>
        </p:txBody>
      </p:sp>
      <p:sp>
        <p:nvSpPr>
          <p:cNvPr id="10" name="Text 8"/>
          <p:cNvSpPr/>
          <p:nvPr/>
        </p:nvSpPr>
        <p:spPr>
          <a:xfrm>
            <a:off x="548640" y="315468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Marcos: UNESCO, DigComp, SFIA</a:t>
            </a:r>
            <a:endParaRPr lang="en-US" sz="1000" dirty="0"/>
          </a:p>
        </p:txBody>
      </p:sp>
      <p:sp>
        <p:nvSpPr>
          <p:cNvPr id="11" name="Text 9"/>
          <p:cNvSpPr/>
          <p:nvPr/>
        </p:nvSpPr>
        <p:spPr>
          <a:xfrm>
            <a:off x="4754880" y="822960"/>
            <a:ext cx="4114800" cy="365760"/>
          </a:xfrm>
          <a:prstGeom prst="rect">
            <a:avLst/>
          </a:prstGeom>
          <a:noFill/>
          <a:ln/>
        </p:spPr>
        <p:txBody>
          <a:bodyPr wrap="square" rtlCol="0" anchor="ctr"/>
          <a:lstStyle/>
          <a:p>
            <a:pPr indent="0" marL="0">
              <a:buNone/>
            </a:pPr>
            <a:r>
              <a:rPr lang="en-US" sz="1400" dirty="0">
                <a:solidFill>
                  <a:srgbClr val="FF5900"/>
                </a:solidFill>
                <a:latin typeface="Arial Black" pitchFamily="34" charset="0"/>
                <a:ea typeface="Arial Black" pitchFamily="34" charset="-122"/>
                <a:cs typeface="Arial Black" pitchFamily="34" charset="-120"/>
              </a:rPr>
              <a:t>🔲  Se necesita</a:t>
            </a:r>
            <a:endParaRPr lang="en-US" sz="1400" dirty="0"/>
          </a:p>
        </p:txBody>
      </p:sp>
      <p:sp>
        <p:nvSpPr>
          <p:cNvPr id="12" name="Text 10"/>
          <p:cNvSpPr/>
          <p:nvPr/>
        </p:nvSpPr>
        <p:spPr>
          <a:xfrm>
            <a:off x="4846320" y="123444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Aprobacion de Rectoria</a:t>
            </a:r>
            <a:endParaRPr lang="en-US" sz="1000" dirty="0"/>
          </a:p>
        </p:txBody>
      </p:sp>
      <p:sp>
        <p:nvSpPr>
          <p:cNvPr id="13" name="Text 11"/>
          <p:cNvSpPr/>
          <p:nvPr/>
        </p:nvSpPr>
        <p:spPr>
          <a:xfrm>
            <a:off x="4846320" y="155448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Seleccion de 8-10 directivos</a:t>
            </a:r>
            <a:endParaRPr lang="en-US" sz="1000" dirty="0"/>
          </a:p>
        </p:txBody>
      </p:sp>
      <p:sp>
        <p:nvSpPr>
          <p:cNvPr id="14" name="Text 12"/>
          <p:cNvSpPr/>
          <p:nvPr/>
        </p:nvSpPr>
        <p:spPr>
          <a:xfrm>
            <a:off x="4846320" y="187452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Cuenta Amazon Quick</a:t>
            </a:r>
            <a:endParaRPr lang="en-US" sz="1000" dirty="0"/>
          </a:p>
        </p:txBody>
      </p:sp>
      <p:sp>
        <p:nvSpPr>
          <p:cNvPr id="15" name="Text 13"/>
          <p:cNvSpPr/>
          <p:nvPr/>
        </p:nvSpPr>
        <p:spPr>
          <a:xfrm>
            <a:off x="4846320" y="219456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Fecha de inicio (oct 2026)</a:t>
            </a:r>
            <a:endParaRPr lang="en-US" sz="1000" dirty="0"/>
          </a:p>
        </p:txBody>
      </p:sp>
      <p:sp>
        <p:nvSpPr>
          <p:cNvPr id="16" name="Text 14"/>
          <p:cNvSpPr/>
          <p:nvPr/>
        </p:nvSpPr>
        <p:spPr>
          <a:xfrm>
            <a:off x="4846320" y="251460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Facilitador del piloto</a:t>
            </a:r>
            <a:endParaRPr lang="en-US" sz="1000" dirty="0"/>
          </a:p>
        </p:txBody>
      </p:sp>
      <p:sp>
        <p:nvSpPr>
          <p:cNvPr id="17" name="Text 15"/>
          <p:cNvSpPr/>
          <p:nvPr/>
        </p:nvSpPr>
        <p:spPr>
          <a:xfrm>
            <a:off x="4846320" y="2834640"/>
            <a:ext cx="3931920" cy="320040"/>
          </a:xfrm>
          <a:prstGeom prst="rect">
            <a:avLst/>
          </a:prstGeom>
          <a:noFill/>
          <a:ln/>
        </p:spPr>
        <p:txBody>
          <a:bodyPr wrap="square" rtlCol="0" anchor="ctr"/>
          <a:lstStyle/>
          <a:p>
            <a:pPr indent="0" marL="0">
              <a:buNone/>
            </a:pPr>
            <a:r>
              <a:rPr lang="en-US" sz="1000" dirty="0">
                <a:solidFill>
                  <a:srgbClr val="E8E8F0"/>
                </a:solidFill>
                <a:latin typeface="Calibri" pitchFamily="34" charset="0"/>
                <a:ea typeface="Calibri" pitchFamily="34" charset="-122"/>
                <a:cs typeface="Calibri" pitchFamily="34" charset="-120"/>
              </a:rPr>
              <a:t>▸  Comunicacion interna</a:t>
            </a:r>
            <a:endParaRPr lang="en-US" sz="1000" dirty="0"/>
          </a:p>
        </p:txBody>
      </p:sp>
      <p:sp>
        <p:nvSpPr>
          <p:cNvPr id="18" name="Shape 16"/>
          <p:cNvSpPr/>
          <p:nvPr/>
        </p:nvSpPr>
        <p:spPr>
          <a:xfrm>
            <a:off x="457200" y="3611880"/>
            <a:ext cx="8229600" cy="1234440"/>
          </a:xfrm>
          <a:prstGeom prst="rect">
            <a:avLst>
              <a:gd name="adj" fmla="val 8889"/>
            </a:avLst>
          </a:prstGeom>
          <a:solidFill>
            <a:srgbClr val="2A2A40"/>
          </a:solidFill>
          <a:ln w="19050">
            <a:solidFill>
              <a:srgbClr val="FF5900"/>
            </a:solidFill>
            <a:prstDash val="solid"/>
          </a:ln>
        </p:spPr>
      </p:sp>
      <p:sp>
        <p:nvSpPr>
          <p:cNvPr id="19" name="Text 17"/>
          <p:cNvSpPr/>
          <p:nvPr/>
        </p:nvSpPr>
        <p:spPr>
          <a:xfrm>
            <a:off x="640080" y="3703320"/>
            <a:ext cx="1828800" cy="548640"/>
          </a:xfrm>
          <a:prstGeom prst="rect">
            <a:avLst/>
          </a:prstGeom>
          <a:noFill/>
          <a:ln/>
        </p:spPr>
        <p:txBody>
          <a:bodyPr wrap="square" rtlCol="0" anchor="ctr"/>
          <a:lstStyle/>
          <a:p>
            <a:pPr algn="ctr" indent="0" marL="0">
              <a:buNone/>
            </a:pPr>
            <a:r>
              <a:rPr lang="en-US" sz="1600" b="1" dirty="0">
                <a:solidFill>
                  <a:srgbClr val="FF5900"/>
                </a:solidFill>
                <a:latin typeface="Arial Black" pitchFamily="34" charset="0"/>
                <a:ea typeface="Arial Black" pitchFamily="34" charset="-122"/>
                <a:cs typeface="Arial Black" pitchFamily="34" charset="-120"/>
              </a:rPr>
              <a:t>$2,500-$3,500</a:t>
            </a:r>
            <a:endParaRPr lang="en-US" sz="1600" dirty="0"/>
          </a:p>
        </p:txBody>
      </p:sp>
      <p:sp>
        <p:nvSpPr>
          <p:cNvPr id="20" name="Text 18"/>
          <p:cNvSpPr/>
          <p:nvPr/>
        </p:nvSpPr>
        <p:spPr>
          <a:xfrm>
            <a:off x="640080" y="4251960"/>
            <a:ext cx="1828800" cy="36576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Costo por persona</a:t>
            </a:r>
            <a:endParaRPr lang="en-US" sz="900" dirty="0"/>
          </a:p>
        </p:txBody>
      </p:sp>
      <p:sp>
        <p:nvSpPr>
          <p:cNvPr id="21" name="Text 19"/>
          <p:cNvSpPr/>
          <p:nvPr/>
        </p:nvSpPr>
        <p:spPr>
          <a:xfrm>
            <a:off x="2651760" y="3703320"/>
            <a:ext cx="1828800" cy="548640"/>
          </a:xfrm>
          <a:prstGeom prst="rect">
            <a:avLst/>
          </a:prstGeom>
          <a:noFill/>
          <a:ln/>
        </p:spPr>
        <p:txBody>
          <a:bodyPr wrap="square" rtlCol="0" anchor="ctr"/>
          <a:lstStyle/>
          <a:p>
            <a:pPr algn="ctr" indent="0" marL="0">
              <a:buNone/>
            </a:pPr>
            <a:r>
              <a:rPr lang="en-US" sz="1600" b="1" dirty="0">
                <a:solidFill>
                  <a:srgbClr val="FF5900"/>
                </a:solidFill>
                <a:latin typeface="Arial Black" pitchFamily="34" charset="0"/>
                <a:ea typeface="Arial Black" pitchFamily="34" charset="-122"/>
                <a:cs typeface="Arial Black" pitchFamily="34" charset="-120"/>
              </a:rPr>
              <a:t>$25K-$35K</a:t>
            </a:r>
            <a:endParaRPr lang="en-US" sz="1600" dirty="0"/>
          </a:p>
        </p:txBody>
      </p:sp>
      <p:sp>
        <p:nvSpPr>
          <p:cNvPr id="22" name="Text 20"/>
          <p:cNvSpPr/>
          <p:nvPr/>
        </p:nvSpPr>
        <p:spPr>
          <a:xfrm>
            <a:off x="2651760" y="4251960"/>
            <a:ext cx="1828800" cy="36576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Piloto (10 personas)</a:t>
            </a:r>
            <a:endParaRPr lang="en-US" sz="900" dirty="0"/>
          </a:p>
        </p:txBody>
      </p:sp>
      <p:sp>
        <p:nvSpPr>
          <p:cNvPr id="23" name="Text 21"/>
          <p:cNvSpPr/>
          <p:nvPr/>
        </p:nvSpPr>
        <p:spPr>
          <a:xfrm>
            <a:off x="4663440" y="3703320"/>
            <a:ext cx="1828800" cy="548640"/>
          </a:xfrm>
          <a:prstGeom prst="rect">
            <a:avLst/>
          </a:prstGeom>
          <a:noFill/>
          <a:ln/>
        </p:spPr>
        <p:txBody>
          <a:bodyPr wrap="square" rtlCol="0" anchor="ctr"/>
          <a:lstStyle/>
          <a:p>
            <a:pPr algn="ctr" indent="0" marL="0">
              <a:buNone/>
            </a:pPr>
            <a:r>
              <a:rPr lang="en-US" sz="1600" b="1" dirty="0">
                <a:solidFill>
                  <a:srgbClr val="FF5900"/>
                </a:solidFill>
                <a:latin typeface="Arial Black" pitchFamily="34" charset="0"/>
                <a:ea typeface="Arial Black" pitchFamily="34" charset="-122"/>
                <a:cs typeface="Arial Black" pitchFamily="34" charset="-120"/>
              </a:rPr>
              <a:t>$500K MXN</a:t>
            </a:r>
            <a:endParaRPr lang="en-US" sz="1600" dirty="0"/>
          </a:p>
        </p:txBody>
      </p:sp>
      <p:sp>
        <p:nvSpPr>
          <p:cNvPr id="24" name="Text 22"/>
          <p:cNvSpPr/>
          <p:nvPr/>
        </p:nvSpPr>
        <p:spPr>
          <a:xfrm>
            <a:off x="4663440" y="4251960"/>
            <a:ext cx="1828800" cy="36576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ROI primer ano (10 pers.)</a:t>
            </a:r>
            <a:endParaRPr lang="en-US" sz="900" dirty="0"/>
          </a:p>
        </p:txBody>
      </p:sp>
      <p:sp>
        <p:nvSpPr>
          <p:cNvPr id="25" name="Text 23"/>
          <p:cNvSpPr/>
          <p:nvPr/>
        </p:nvSpPr>
        <p:spPr>
          <a:xfrm>
            <a:off x="6675120" y="3703320"/>
            <a:ext cx="1828800" cy="548640"/>
          </a:xfrm>
          <a:prstGeom prst="rect">
            <a:avLst/>
          </a:prstGeom>
          <a:noFill/>
          <a:ln/>
        </p:spPr>
        <p:txBody>
          <a:bodyPr wrap="square" rtlCol="0" anchor="ctr"/>
          <a:lstStyle/>
          <a:p>
            <a:pPr algn="ctr" indent="0" marL="0">
              <a:buNone/>
            </a:pPr>
            <a:r>
              <a:rPr lang="en-US" sz="1600" b="1" dirty="0">
                <a:solidFill>
                  <a:srgbClr val="FF5900"/>
                </a:solidFill>
                <a:latin typeface="Arial Black" pitchFamily="34" charset="0"/>
                <a:ea typeface="Arial Black" pitchFamily="34" charset="-122"/>
                <a:cs typeface="Arial Black" pitchFamily="34" charset="-120"/>
              </a:rPr>
              <a:t>$1 → $14-20</a:t>
            </a:r>
            <a:endParaRPr lang="en-US" sz="1600" dirty="0"/>
          </a:p>
        </p:txBody>
      </p:sp>
      <p:sp>
        <p:nvSpPr>
          <p:cNvPr id="26" name="Text 24"/>
          <p:cNvSpPr/>
          <p:nvPr/>
        </p:nvSpPr>
        <p:spPr>
          <a:xfrm>
            <a:off x="6675120" y="4251960"/>
            <a:ext cx="1828800" cy="365760"/>
          </a:xfrm>
          <a:prstGeom prst="rect">
            <a:avLst/>
          </a:prstGeom>
          <a:noFill/>
          <a:ln/>
        </p:spPr>
        <p:txBody>
          <a:bodyPr wrap="square" rtlCol="0" anchor="ctr"/>
          <a:lstStyle/>
          <a:p>
            <a:pPr algn="ctr" indent="0" marL="0">
              <a:buNone/>
            </a:pPr>
            <a:r>
              <a:rPr lang="en-US" sz="900" dirty="0">
                <a:solidFill>
                  <a:srgbClr val="A0A0B8"/>
                </a:solidFill>
                <a:latin typeface="Calibri" pitchFamily="34" charset="0"/>
                <a:ea typeface="Calibri" pitchFamily="34" charset="-122"/>
                <a:cs typeface="Calibri" pitchFamily="34" charset="-120"/>
              </a:rPr>
              <a:t>Relacion costo-beneficio</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F0F23"/>
        </a:solidFill>
      </p:bgPr>
    </p:bg>
    <p:spTree>
      <p:nvGrpSpPr>
        <p:cNvPr id="1" name=""/>
        <p:cNvGrpSpPr/>
        <p:nvPr/>
      </p:nvGrpSpPr>
      <p:grpSpPr>
        <a:xfrm>
          <a:off x="0" y="0"/>
          <a:ext cx="0" cy="0"/>
          <a:chOff x="0" y="0"/>
          <a:chExt cx="0" cy="0"/>
        </a:xfrm>
      </p:grpSpPr>
      <p:sp>
        <p:nvSpPr>
          <p:cNvPr id="2" name="Text 0"/>
          <p:cNvSpPr/>
          <p:nvPr/>
        </p:nvSpPr>
        <p:spPr>
          <a:xfrm>
            <a:off x="457200" y="182880"/>
            <a:ext cx="8229600" cy="640080"/>
          </a:xfrm>
          <a:prstGeom prst="rect">
            <a:avLst/>
          </a:prstGeom>
          <a:noFill/>
          <a:ln/>
        </p:spPr>
        <p:txBody>
          <a:bodyPr wrap="square" rtlCol="0" anchor="ctr"/>
          <a:lstStyle/>
          <a:p>
            <a:pPr indent="0" marL="0">
              <a:buNone/>
            </a:pPr>
            <a:r>
              <a:rPr lang="en-US" sz="2800" b="1" dirty="0">
                <a:solidFill>
                  <a:srgbClr val="FFFFFF"/>
                </a:solidFill>
                <a:latin typeface="Arial Black" pitchFamily="34" charset="0"/>
                <a:ea typeface="Arial Black" pitchFamily="34" charset="-122"/>
                <a:cs typeface="Arial Black" pitchFamily="34" charset="-120"/>
              </a:rPr>
              <a:t>La solicitud</a:t>
            </a:r>
            <a:endParaRPr lang="en-US" sz="2800" dirty="0"/>
          </a:p>
        </p:txBody>
      </p:sp>
      <p:sp>
        <p:nvSpPr>
          <p:cNvPr id="3" name="Shape 1"/>
          <p:cNvSpPr/>
          <p:nvPr/>
        </p:nvSpPr>
        <p:spPr>
          <a:xfrm>
            <a:off x="731520" y="1188720"/>
            <a:ext cx="548640" cy="548640"/>
          </a:xfrm>
          <a:prstGeom prst="ellipse">
            <a:avLst/>
          </a:prstGeom>
          <a:solidFill>
            <a:srgbClr val="FF5900"/>
          </a:solidFill>
          <a:ln/>
        </p:spPr>
      </p:sp>
      <p:sp>
        <p:nvSpPr>
          <p:cNvPr id="4" name="Text 2"/>
          <p:cNvSpPr/>
          <p:nvPr/>
        </p:nvSpPr>
        <p:spPr>
          <a:xfrm>
            <a:off x="731520" y="1188720"/>
            <a:ext cx="548640" cy="54864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1</a:t>
            </a:r>
            <a:endParaRPr lang="en-US" sz="2200" dirty="0"/>
          </a:p>
        </p:txBody>
      </p:sp>
      <p:sp>
        <p:nvSpPr>
          <p:cNvPr id="5" name="Text 3"/>
          <p:cNvSpPr/>
          <p:nvPr/>
        </p:nvSpPr>
        <p:spPr>
          <a:xfrm>
            <a:off x="1508760" y="1143000"/>
            <a:ext cx="6858000" cy="365760"/>
          </a:xfrm>
          <a:prstGeom prst="rect">
            <a:avLst/>
          </a:prstGeom>
          <a:noFill/>
          <a:ln/>
        </p:spPr>
        <p:txBody>
          <a:bodyPr wrap="square"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Aprobar el piloto</a:t>
            </a:r>
            <a:endParaRPr lang="en-US" sz="1800" dirty="0"/>
          </a:p>
        </p:txBody>
      </p:sp>
      <p:sp>
        <p:nvSpPr>
          <p:cNvPr id="6" name="Text 4"/>
          <p:cNvSpPr/>
          <p:nvPr/>
        </p:nvSpPr>
        <p:spPr>
          <a:xfrm>
            <a:off x="1508760" y="1508760"/>
            <a:ext cx="6858000" cy="320040"/>
          </a:xfrm>
          <a:prstGeom prst="rect">
            <a:avLst/>
          </a:prstGeom>
          <a:noFill/>
          <a:ln/>
        </p:spPr>
        <p:txBody>
          <a:bodyPr wrap="square" rtlCol="0" anchor="ctr"/>
          <a:lstStyle/>
          <a:p>
            <a:pPr indent="0" marL="0">
              <a:buNone/>
            </a:pPr>
            <a:r>
              <a:rPr lang="en-US" sz="1200" dirty="0">
                <a:solidFill>
                  <a:srgbClr val="A0A0B8"/>
                </a:solidFill>
                <a:latin typeface="Calibri" pitchFamily="34" charset="0"/>
                <a:ea typeface="Calibri" pitchFamily="34" charset="-122"/>
                <a:cs typeface="Calibri" pitchFamily="34" charset="-120"/>
              </a:rPr>
              <a:t>Autorizacion institucional con respaldo de Rectoria</a:t>
            </a:r>
            <a:endParaRPr lang="en-US" sz="1200" dirty="0"/>
          </a:p>
        </p:txBody>
      </p:sp>
      <p:sp>
        <p:nvSpPr>
          <p:cNvPr id="7" name="Shape 5"/>
          <p:cNvSpPr/>
          <p:nvPr/>
        </p:nvSpPr>
        <p:spPr>
          <a:xfrm>
            <a:off x="731520" y="2240280"/>
            <a:ext cx="548640" cy="548640"/>
          </a:xfrm>
          <a:prstGeom prst="ellipse">
            <a:avLst/>
          </a:prstGeom>
          <a:solidFill>
            <a:srgbClr val="FF5900"/>
          </a:solidFill>
          <a:ln/>
        </p:spPr>
      </p:sp>
      <p:sp>
        <p:nvSpPr>
          <p:cNvPr id="8" name="Text 6"/>
          <p:cNvSpPr/>
          <p:nvPr/>
        </p:nvSpPr>
        <p:spPr>
          <a:xfrm>
            <a:off x="731520" y="2240280"/>
            <a:ext cx="548640" cy="54864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2</a:t>
            </a:r>
            <a:endParaRPr lang="en-US" sz="2200" dirty="0"/>
          </a:p>
        </p:txBody>
      </p:sp>
      <p:sp>
        <p:nvSpPr>
          <p:cNvPr id="9" name="Text 7"/>
          <p:cNvSpPr/>
          <p:nvPr/>
        </p:nvSpPr>
        <p:spPr>
          <a:xfrm>
            <a:off x="1508760" y="2194560"/>
            <a:ext cx="6858000" cy="365760"/>
          </a:xfrm>
          <a:prstGeom prst="rect">
            <a:avLst/>
          </a:prstGeom>
          <a:noFill/>
          <a:ln/>
        </p:spPr>
        <p:txBody>
          <a:bodyPr wrap="square"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Designar 8-10 directivos</a:t>
            </a:r>
            <a:endParaRPr lang="en-US" sz="1800" dirty="0"/>
          </a:p>
        </p:txBody>
      </p:sp>
      <p:sp>
        <p:nvSpPr>
          <p:cNvPr id="10" name="Text 8"/>
          <p:cNvSpPr/>
          <p:nvPr/>
        </p:nvSpPr>
        <p:spPr>
          <a:xfrm>
            <a:off x="1508760" y="2560320"/>
            <a:ext cx="6858000" cy="320040"/>
          </a:xfrm>
          <a:prstGeom prst="rect">
            <a:avLst/>
          </a:prstGeom>
          <a:noFill/>
          <a:ln/>
        </p:spPr>
        <p:txBody>
          <a:bodyPr wrap="square" rtlCol="0" anchor="ctr"/>
          <a:lstStyle/>
          <a:p>
            <a:pPr indent="0" marL="0">
              <a:buNone/>
            </a:pPr>
            <a:r>
              <a:rPr lang="en-US" sz="1200" dirty="0">
                <a:solidFill>
                  <a:srgbClr val="A0A0B8"/>
                </a:solidFill>
                <a:latin typeface="Calibri" pitchFamily="34" charset="0"/>
                <a:ea typeface="Calibri" pitchFamily="34" charset="-122"/>
                <a:cs typeface="Calibri" pitchFamily="34" charset="-120"/>
              </a:rPr>
              <a:t>4-5 academicos + 4-5 administrativos — voluntarios o designados</a:t>
            </a:r>
            <a:endParaRPr lang="en-US" sz="1200" dirty="0"/>
          </a:p>
        </p:txBody>
      </p:sp>
      <p:sp>
        <p:nvSpPr>
          <p:cNvPr id="11" name="Shape 9"/>
          <p:cNvSpPr/>
          <p:nvPr/>
        </p:nvSpPr>
        <p:spPr>
          <a:xfrm>
            <a:off x="731520" y="3291840"/>
            <a:ext cx="548640" cy="548640"/>
          </a:xfrm>
          <a:prstGeom prst="ellipse">
            <a:avLst/>
          </a:prstGeom>
          <a:solidFill>
            <a:srgbClr val="FF5900"/>
          </a:solidFill>
          <a:ln/>
        </p:spPr>
      </p:sp>
      <p:sp>
        <p:nvSpPr>
          <p:cNvPr id="12" name="Text 10"/>
          <p:cNvSpPr/>
          <p:nvPr/>
        </p:nvSpPr>
        <p:spPr>
          <a:xfrm>
            <a:off x="731520" y="3291840"/>
            <a:ext cx="548640" cy="548640"/>
          </a:xfrm>
          <a:prstGeom prst="rect">
            <a:avLst/>
          </a:prstGeom>
          <a:noFill/>
          <a:ln/>
        </p:spPr>
        <p:txBody>
          <a:bodyPr wrap="square" rtlCol="0" anchor="ctr"/>
          <a:lstStyle/>
          <a:p>
            <a:pPr algn="ctr" indent="0" marL="0">
              <a:buNone/>
            </a:pPr>
            <a:r>
              <a:rPr lang="en-US" sz="2200" b="1" dirty="0">
                <a:solidFill>
                  <a:srgbClr val="FFFFFF"/>
                </a:solidFill>
                <a:latin typeface="Arial Black" pitchFamily="34" charset="0"/>
                <a:ea typeface="Arial Black" pitchFamily="34" charset="-122"/>
                <a:cs typeface="Arial Black" pitchFamily="34" charset="-120"/>
              </a:rPr>
              <a:t>3</a:t>
            </a:r>
            <a:endParaRPr lang="en-US" sz="2200" dirty="0"/>
          </a:p>
        </p:txBody>
      </p:sp>
      <p:sp>
        <p:nvSpPr>
          <p:cNvPr id="13" name="Text 11"/>
          <p:cNvSpPr/>
          <p:nvPr/>
        </p:nvSpPr>
        <p:spPr>
          <a:xfrm>
            <a:off x="1508760" y="3246120"/>
            <a:ext cx="6858000" cy="365760"/>
          </a:xfrm>
          <a:prstGeom prst="rect">
            <a:avLst/>
          </a:prstGeom>
          <a:noFill/>
          <a:ln/>
        </p:spPr>
        <p:txBody>
          <a:bodyPr wrap="square" rtlCol="0" anchor="ctr"/>
          <a:lstStyle/>
          <a:p>
            <a:pPr indent="0" marL="0">
              <a:buNone/>
            </a:pPr>
            <a:r>
              <a:rPr lang="en-US" sz="1800" b="1" dirty="0">
                <a:solidFill>
                  <a:srgbClr val="FFFFFF"/>
                </a:solidFill>
                <a:latin typeface="Arial Black" pitchFamily="34" charset="0"/>
                <a:ea typeface="Arial Black" pitchFamily="34" charset="-122"/>
                <a:cs typeface="Arial Black" pitchFamily="34" charset="-120"/>
              </a:rPr>
              <a:t>Fecha: octubre 2026</a:t>
            </a:r>
            <a:endParaRPr lang="en-US" sz="1800" dirty="0"/>
          </a:p>
        </p:txBody>
      </p:sp>
      <p:sp>
        <p:nvSpPr>
          <p:cNvPr id="14" name="Text 12"/>
          <p:cNvSpPr/>
          <p:nvPr/>
        </p:nvSpPr>
        <p:spPr>
          <a:xfrm>
            <a:off x="1508760" y="3611880"/>
            <a:ext cx="6858000" cy="320040"/>
          </a:xfrm>
          <a:prstGeom prst="rect">
            <a:avLst/>
          </a:prstGeom>
          <a:noFill/>
          <a:ln/>
        </p:spPr>
        <p:txBody>
          <a:bodyPr wrap="square" rtlCol="0" anchor="ctr"/>
          <a:lstStyle/>
          <a:p>
            <a:pPr indent="0" marL="0">
              <a:buNone/>
            </a:pPr>
            <a:r>
              <a:rPr lang="en-US" sz="1200" dirty="0">
                <a:solidFill>
                  <a:srgbClr val="A0A0B8"/>
                </a:solidFill>
                <a:latin typeface="Calibri" pitchFamily="34" charset="0"/>
                <a:ea typeface="Calibri" pitchFamily="34" charset="-122"/>
                <a:cs typeface="Calibri" pitchFamily="34" charset="-120"/>
              </a:rPr>
              <a:t>4-6 semanas piloto → resultados noviembre → decision diciembre</a:t>
            </a:r>
            <a:endParaRPr lang="en-US" sz="1200" dirty="0"/>
          </a:p>
        </p:txBody>
      </p:sp>
      <p:sp>
        <p:nvSpPr>
          <p:cNvPr id="15" name="Shape 13"/>
          <p:cNvSpPr/>
          <p:nvPr/>
        </p:nvSpPr>
        <p:spPr>
          <a:xfrm>
            <a:off x="457200" y="4114800"/>
            <a:ext cx="8229600" cy="777240"/>
          </a:xfrm>
          <a:prstGeom prst="rect">
            <a:avLst>
              <a:gd name="adj" fmla="val 11765"/>
            </a:avLst>
          </a:prstGeom>
          <a:solidFill>
            <a:srgbClr val="432F64"/>
          </a:solidFill>
          <a:ln/>
        </p:spPr>
      </p:sp>
      <p:sp>
        <p:nvSpPr>
          <p:cNvPr id="16" name="Text 14"/>
          <p:cNvSpPr/>
          <p:nvPr/>
        </p:nvSpPr>
        <p:spPr>
          <a:xfrm>
            <a:off x="640080" y="4160520"/>
            <a:ext cx="7863840" cy="685800"/>
          </a:xfrm>
          <a:prstGeom prst="rect">
            <a:avLst/>
          </a:prstGeom>
          <a:noFill/>
          <a:ln/>
        </p:spPr>
        <p:txBody>
          <a:bodyPr wrap="square" rtlCol="0" anchor="ctr"/>
          <a:lstStyle/>
          <a:p>
            <a:pPr algn="ctr" indent="0" marL="0">
              <a:lnSpc>
                <a:spcPts val="1600"/>
              </a:lnSpc>
              <a:buNone/>
            </a:pPr>
            <a:r>
              <a:rPr lang="en-US" sz="1000" dirty="0">
                <a:solidFill>
                  <a:srgbClr val="E8E8F0"/>
                </a:solidFill>
                <a:latin typeface="Calibri" pitchFamily="34" charset="0"/>
                <a:ea typeface="Calibri" pitchFamily="34" charset="-122"/>
                <a:cs typeface="Calibri" pitchFamily="34" charset="-120"/>
              </a:rPr>
              <a:t>Nuestro compromiso: reporte semanal del piloto | NPS y metricas al cierre |</a:t>
            </a:r>
            <a:endParaRPr lang="en-US" sz="1000" dirty="0"/>
          </a:p>
          <a:p>
            <a:pPr algn="ctr" indent="0" marL="0">
              <a:lnSpc>
                <a:spcPts val="1600"/>
              </a:lnSpc>
              <a:buNone/>
            </a:pPr>
            <a:r>
              <a:rPr lang="en-US" sz="1000" dirty="0">
                <a:solidFill>
                  <a:srgbClr val="E8E8F0"/>
                </a:solidFill>
                <a:latin typeface="Calibri" pitchFamily="34" charset="0"/>
                <a:ea typeface="Calibri" pitchFamily="34" charset="-122"/>
                <a:cs typeface="Calibri" pitchFamily="34" charset="-120"/>
              </a:rPr>
              <a:t>caso de exito documentado | recomendacion de escalamiento con evidencia</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432F64"/>
        </a:solidFill>
      </p:bgPr>
    </p:bg>
    <p:spTree>
      <p:nvGrpSpPr>
        <p:cNvPr id="1" name=""/>
        <p:cNvGrpSpPr/>
        <p:nvPr/>
      </p:nvGrpSpPr>
      <p:grpSpPr>
        <a:xfrm>
          <a:off x="0" y="0"/>
          <a:ext cx="0" cy="0"/>
          <a:chOff x="0" y="0"/>
          <a:chExt cx="0" cy="0"/>
        </a:xfrm>
      </p:grpSpPr>
      <p:sp>
        <p:nvSpPr>
          <p:cNvPr id="2" name="Text 0"/>
          <p:cNvSpPr/>
          <p:nvPr/>
        </p:nvSpPr>
        <p:spPr>
          <a:xfrm>
            <a:off x="457200" y="731520"/>
            <a:ext cx="8229600" cy="2011680"/>
          </a:xfrm>
          <a:prstGeom prst="rect">
            <a:avLst/>
          </a:prstGeom>
          <a:noFill/>
          <a:ln/>
        </p:spPr>
        <p:txBody>
          <a:bodyPr wrap="square" rtlCol="0" anchor="ctr"/>
          <a:lstStyle/>
          <a:p>
            <a:pPr algn="ctr" indent="0" marL="0">
              <a:lnSpc>
                <a:spcPts val="3800"/>
              </a:lnSpc>
              <a:buNone/>
            </a:pPr>
            <a:r>
              <a:rPr lang="en-US" sz="2600" i="1" dirty="0">
                <a:solidFill>
                  <a:srgbClr val="FFFFFF"/>
                </a:solidFill>
                <a:latin typeface="Arial Black" pitchFamily="34" charset="0"/>
                <a:ea typeface="Arial Black" pitchFamily="34" charset="-122"/>
                <a:cs typeface="Arial Black" pitchFamily="34" charset="-120"/>
              </a:rPr>
              <a:t>"Un curso que no cambia el comportamiento</a:t>
            </a:r>
            <a:endParaRPr lang="en-US" sz="2600" dirty="0"/>
          </a:p>
          <a:p>
            <a:pPr algn="ctr" indent="0" marL="0">
              <a:lnSpc>
                <a:spcPts val="3800"/>
              </a:lnSpc>
              <a:buNone/>
            </a:pPr>
            <a:r>
              <a:rPr lang="en-US" sz="2600" i="1" dirty="0">
                <a:solidFill>
                  <a:srgbClr val="FFFFFF"/>
                </a:solidFill>
                <a:latin typeface="Arial Black" pitchFamily="34" charset="0"/>
                <a:ea typeface="Arial Black" pitchFamily="34" charset="-122"/>
                <a:cs typeface="Arial Black" pitchFamily="34" charset="-120"/>
              </a:rPr>
              <a:t>del lunes siguiente es entretenimiento,</a:t>
            </a:r>
            <a:endParaRPr lang="en-US" sz="2600" dirty="0"/>
          </a:p>
          <a:p>
            <a:pPr algn="ctr" indent="0" marL="0">
              <a:lnSpc>
                <a:spcPts val="3800"/>
              </a:lnSpc>
              <a:buNone/>
            </a:pPr>
            <a:r>
              <a:rPr lang="en-US" sz="2600" i="1" dirty="0">
                <a:solidFill>
                  <a:srgbClr val="FFFFFF"/>
                </a:solidFill>
                <a:latin typeface="Arial Black" pitchFamily="34" charset="0"/>
                <a:ea typeface="Arial Black" pitchFamily="34" charset="-122"/>
                <a:cs typeface="Arial Black" pitchFamily="34" charset="-120"/>
              </a:rPr>
              <a:t>no formacion."</a:t>
            </a:r>
            <a:endParaRPr lang="en-US" sz="2600" dirty="0"/>
          </a:p>
        </p:txBody>
      </p:sp>
      <p:sp>
        <p:nvSpPr>
          <p:cNvPr id="3" name="Text 1"/>
          <p:cNvSpPr/>
          <p:nvPr/>
        </p:nvSpPr>
        <p:spPr>
          <a:xfrm>
            <a:off x="914400" y="3017520"/>
            <a:ext cx="7315200" cy="548640"/>
          </a:xfrm>
          <a:prstGeom prst="rect">
            <a:avLst/>
          </a:prstGeom>
          <a:noFill/>
          <a:ln/>
        </p:spPr>
        <p:txBody>
          <a:bodyPr wrap="square" rtlCol="0" anchor="ctr"/>
          <a:lstStyle/>
          <a:p>
            <a:pPr algn="ctr" indent="0" marL="0">
              <a:buNone/>
            </a:pPr>
            <a:r>
              <a:rPr lang="en-US" sz="2200" b="1" dirty="0">
                <a:solidFill>
                  <a:srgbClr val="FF5900"/>
                </a:solidFill>
                <a:latin typeface="Arial Black" pitchFamily="34" charset="0"/>
                <a:ea typeface="Arial Black" pitchFamily="34" charset="-122"/>
                <a:cs typeface="Arial Black" pitchFamily="34" charset="-120"/>
              </a:rPr>
              <a:t>IA Practica para Lideres Anahuac</a:t>
            </a:r>
            <a:endParaRPr lang="en-US" sz="2200" dirty="0"/>
          </a:p>
        </p:txBody>
      </p:sp>
      <p:sp>
        <p:nvSpPr>
          <p:cNvPr id="4" name="Text 2"/>
          <p:cNvSpPr/>
          <p:nvPr/>
        </p:nvSpPr>
        <p:spPr>
          <a:xfrm>
            <a:off x="914400" y="3657600"/>
            <a:ext cx="7315200" cy="457200"/>
          </a:xfrm>
          <a:prstGeom prst="rect">
            <a:avLst/>
          </a:prstGeom>
          <a:noFill/>
          <a:ln/>
        </p:spPr>
        <p:txBody>
          <a:bodyPr wrap="square" rtlCol="0" anchor="ctr"/>
          <a:lstStyle/>
          <a:p>
            <a:pPr algn="ctr" indent="0" marL="0">
              <a:buNone/>
            </a:pPr>
            <a:r>
              <a:rPr lang="en-US" sz="1600" dirty="0">
                <a:solidFill>
                  <a:srgbClr val="E8E8F0"/>
                </a:solidFill>
                <a:latin typeface="Calibri" pitchFamily="34" charset="0"/>
                <a:ea typeface="Calibri" pitchFamily="34" charset="-122"/>
                <a:cs typeface="Calibri" pitchFamily="34" charset="-120"/>
              </a:rPr>
              <a:t>cursos.memovaldez.com</a:t>
            </a:r>
            <a:endParaRPr lang="en-US" sz="1600" dirty="0"/>
          </a:p>
        </p:txBody>
      </p:sp>
      <p:sp>
        <p:nvSpPr>
          <p:cNvPr id="5" name="Text 3"/>
          <p:cNvSpPr/>
          <p:nvPr/>
        </p:nvSpPr>
        <p:spPr>
          <a:xfrm>
            <a:off x="2286000" y="4297680"/>
            <a:ext cx="4572000" cy="365760"/>
          </a:xfrm>
          <a:prstGeom prst="rect">
            <a:avLst/>
          </a:prstGeom>
          <a:noFill/>
          <a:ln/>
        </p:spPr>
        <p:txBody>
          <a:bodyPr wrap="square" rtlCol="0" anchor="ctr"/>
          <a:lstStyle/>
          <a:p>
            <a:pPr algn="ctr" indent="0" marL="0">
              <a:buNone/>
            </a:pPr>
            <a:r>
              <a:rPr lang="en-US" sz="1100" dirty="0">
                <a:solidFill>
                  <a:srgbClr val="A0A0B8"/>
                </a:solidFill>
                <a:latin typeface="Calibri" pitchFamily="34" charset="0"/>
                <a:ea typeface="Calibri" pitchFamily="34" charset="-122"/>
                <a:cs typeface="Calibri" pitchFamily="34" charset="-120"/>
              </a:rPr>
              <a:t>Universidad Anahuac Mayab</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IA Practica para Lideres Anahuac - Pitch Junta Directiva</dc:title>
  <dc:subject>PptxGenJS Presentation</dc:subject>
  <dc:creator>Universidad Anahuac Mayab</dc:creator>
  <cp:lastModifiedBy>Universidad Anahuac Mayab</cp:lastModifiedBy>
  <cp:revision>1</cp:revision>
  <dcterms:created xsi:type="dcterms:W3CDTF">2026-09-08T15:42:40Z</dcterms:created>
  <dcterms:modified xsi:type="dcterms:W3CDTF">2026-09-08T15:42:40Z</dcterms:modified>
</cp:coreProperties>
</file>