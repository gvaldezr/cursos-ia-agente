
<file path=[Content_Types].xml><?xml version="1.0" encoding="utf-8"?>
<ns0:Types xmlns:ns0="http://schemas.openxmlformats.org/package/2006/content-types">
  <ns0:Default Extension="xml" ContentType="application/xml"/>
  <ns0:Default Extension="rels" ContentType="application/vnd.openxmlformats-package.relationships+xml"/>
  <ns0:Default Extension="jpeg" ContentType="image/jpeg"/>
  <ns0:Default Extension="jpg" ContentType="image/jpg"/>
  <ns0:Default Extension="svg" ContentType="image/svg+xml"/>
  <ns0:Default Extension="png" ContentType="image/png"/>
  <ns0:Default Extension="gif" ContentType="image/gif"/>
  <ns0:Default Extension="m4v" ContentType="video/mp4"/>
  <ns0:Default Extension="mp4" ContentType="video/mp4"/>
  <ns0:Default Extension="vml" ContentType="application/vnd.openxmlformats-officedocument.vmlDrawing"/>
  <ns0:Default Extension="xlsx" ContentType="application/vnd.openxmlformats-officedocument.spreadsheetml.sheet"/>
  <ns0:Override PartName="/ppt/presentation.xml" ContentType="application/vnd.openxmlformats-officedocument.presentationml.presentation.main+xml"/>
  <ns0:Override PartName="/ppt/notesMasters/notesMaster1.xml" ContentType="application/vnd.openxmlformats-officedocument.presentationml.notesMaster+xml"/>
  <ns0:Override PartName="/ppt/slideMasters/slideMaster1.xml" ContentType="application/vnd.openxmlformats-officedocument.presentationml.slideMaster+xml"/>
  <ns0:Override PartName="/ppt/slides/slide1.xml" ContentType="application/vnd.openxmlformats-officedocument.presentationml.slide+xml"/>
  <ns0:Override PartName="/ppt/slideMasters/slideMaster2.xml" ContentType="application/vnd.openxmlformats-officedocument.presentationml.slideMaster+xml"/>
  <ns0:Override PartName="/ppt/slides/slide2.xml" ContentType="application/vnd.openxmlformats-officedocument.presentationml.slide+xml"/>
  <ns0:Override PartName="/ppt/slideMasters/slideMaster3.xml" ContentType="application/vnd.openxmlformats-officedocument.presentationml.slideMaster+xml"/>
  <ns0:Override PartName="/ppt/slides/slide3.xml" ContentType="application/vnd.openxmlformats-officedocument.presentationml.slide+xml"/>
  <ns0:Override PartName="/ppt/slideMasters/slideMaster4.xml" ContentType="application/vnd.openxmlformats-officedocument.presentationml.slideMaster+xml"/>
  <ns0:Override PartName="/ppt/slides/slide4.xml" ContentType="application/vnd.openxmlformats-officedocument.presentationml.slide+xml"/>
  <ns0:Override PartName="/ppt/slideMasters/slideMaster5.xml" ContentType="application/vnd.openxmlformats-officedocument.presentationml.slideMaster+xml"/>
  <ns0:Override PartName="/ppt/slides/slide5.xml" ContentType="application/vnd.openxmlformats-officedocument.presentationml.slide+xml"/>
  <ns0:Override PartName="/ppt/slideMasters/slideMaster6.xml" ContentType="application/vnd.openxmlformats-officedocument.presentationml.slideMaster+xml"/>
  <ns0:Override PartName="/ppt/slides/slide6.xml" ContentType="application/vnd.openxmlformats-officedocument.presentationml.slide+xml"/>
  <ns0:Override PartName="/ppt/slideMasters/slideMaster7.xml" ContentType="application/vnd.openxmlformats-officedocument.presentationml.slideMaster+xml"/>
  <ns0:Override PartName="/ppt/slides/slide7.xml" ContentType="application/vnd.openxmlformats-officedocument.presentationml.slide+xml"/>
  <ns0:Override PartName="/ppt/slideMasters/slideMaster8.xml" ContentType="application/vnd.openxmlformats-officedocument.presentationml.slideMaster+xml"/>
  <ns0:Override PartName="/ppt/slides/slide8.xml" ContentType="application/vnd.openxmlformats-officedocument.presentationml.slide+xml"/>
  <ns0:Override PartName="/ppt/slideMasters/slideMaster9.xml" ContentType="application/vnd.openxmlformats-officedocument.presentationml.slideMaster+xml"/>
  <ns0:Override PartName="/ppt/slides/slide9.xml" ContentType="application/vnd.openxmlformats-officedocument.presentationml.slide+xml"/>
  <ns0:Override PartName="/ppt/presProps.xml" ContentType="application/vnd.openxmlformats-officedocument.presentationml.presProps+xml"/>
  <ns0:Override PartName="/ppt/viewProps.xml" ContentType="application/vnd.openxmlformats-officedocument.presentationml.viewProps+xml"/>
  <ns0:Override PartName="/ppt/theme/theme1.xml" ContentType="application/vnd.openxmlformats-officedocument.theme+xml"/>
  <ns0:Override PartName="/ppt/tableStyles.xml" ContentType="application/vnd.openxmlformats-officedocument.presentationml.tableStyles+xml"/>
  <ns0:Override PartName="/ppt/slideLayouts/slideLayout1.xml" ContentType="application/vnd.openxmlformats-officedocument.presentationml.slideLayout+xml"/>
  <ns0:Override PartName="/ppt/notesSlides/notesSlide1.xml" ContentType="application/vnd.openxmlformats-officedocument.presentationml.notesSlide+xml"/>
  <ns0:Override PartName="/ppt/notesSlides/notesSlide2.xml" ContentType="application/vnd.openxmlformats-officedocument.presentationml.notesSlide+xml"/>
  <ns0:Override PartName="/ppt/notesSlides/notesSlide3.xml" ContentType="application/vnd.openxmlformats-officedocument.presentationml.notesSlide+xml"/>
  <ns0:Override PartName="/ppt/notesSlides/notesSlide4.xml" ContentType="application/vnd.openxmlformats-officedocument.presentationml.notesSlide+xml"/>
  <ns0:Override PartName="/ppt/notesSlides/notesSlide5.xml" ContentType="application/vnd.openxmlformats-officedocument.presentationml.notesSlide+xml"/>
  <ns0:Override PartName="/ppt/notesSlides/notesSlide6.xml" ContentType="application/vnd.openxmlformats-officedocument.presentationml.notesSlide+xml"/>
  <ns0:Override PartName="/ppt/notesSlides/notesSlide7.xml" ContentType="application/vnd.openxmlformats-officedocument.presentationml.notesSlide+xml"/>
  <ns0:Override PartName="/ppt/notesSlides/notesSlide8.xml" ContentType="application/vnd.openxmlformats-officedocument.presentationml.notesSlide+xml"/>
  <ns0:Override PartName="/ppt/notesSlides/notesSlide9.xml" ContentType="application/vnd.openxmlformats-officedocument.presentationml.notesSlide+xml"/>
  <ns0:Override PartName="/docProps/core.xml" ContentType="application/vnd.openxmlformats-package.core-properties+xml"/>
  <ns0:Override PartName="/docProps/app.xml" ContentType="application/vnd.openxmlformats-officedocument.extended-properties+xml"/>
  <ns0:Override PartName="/ppt/webextensions/taskpanes.xml" ContentType="application/vnd.ms-office.webextensiontaskpanes+xml"/>
  <ns0:Override PartName="/ppt/webextensions/webextension1.xml" ContentType="application/vnd.ms-office.webextension+xml"/>
</ns0:Types>
</file>

<file path=_rels/.rels><?xml version='1.0' encoding='UTF-8'?>
<ns0:Relationships xmlns:ns0="http://schemas.openxmlformats.org/package/2006/relationships">
		<ns0:Relationship Id="rId1" Type="http://schemas.openxmlformats.org/officeDocument/2006/relationships/extended-properties" Target="docProps/app.xml" />
		<ns0:Relationship Id="rId2" Type="http://schemas.openxmlformats.org/package/2006/relationships/metadata/core-properties" Target="docProps/core.xml" />
		<ns0:Relationship Id="rId3" Type="http://schemas.openxmlformats.org/officeDocument/2006/relationships/officeDocument" Target="ppt/presentation.xml" />
		<ns0:Relationship Id="rId4" Type="http://schemas.microsoft.com/office/2011/relationships/webextensiontaskpanes" Target="ppt/webextensions/taskpanes.xml" /></ns0: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dias / Buenas tardes. Gracias por su tiempo.
Voy a ser directo: el 85% de nuestros directivos no ha incorporado la IA generativa en su trabajo diario. No hablo de nuestros alumnos — ellos ya la usan para todo. Hablo de nosotros.
La IA generativa no es una tendencia pasajera. Es la transformacion mas importante en productividad profesional desde la hoja de calculo.
En los proximos 12 minutos les voy a mostrar exactamente como cerrar esa brecha.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real no es que nuestros directivos "no sepan de IA". El problema es que no existe un puente entre su realidad diaria y lo que la IA puede hacer.
10-15 horas por semana por persona invertidas en tareas que podrian tomar una fraccion del tiempo. Los pocos que han probado la IA lo hacen sin estructura. No tenemos un framework institucional.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UNESCO publico en 2024 su AI Competency Framework. Stanford tiene su marco de AI Literacy. El Tec ya capacita directivos.
Ningun campus de la Red Anahuac tiene programa formal. Somos los primeros si actuamos ahora. Modelo escalable a 12 campus.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 Practica para Lideres Anahuac — programa de formacion continua con 8 modulos progresivos. 4 fases: Entender, Usar, Acelerar, Integrar. Dos versiones: academica y administrativa. 6.5 creditos SATCA. 3 Open Badges. Herramienta principal: Amazon Quick. Todo en un mini sitio funcional: cursos.memovaldez.com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horas por semana por directivo recuperadas. Si hacemos la cuenta: 5 horas x 50 semanas x $200/hr = $50,000 MXN al ano por persona en productividad recuperada. ROI: por cada $1 invertido, $14-20 en retorno.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fases claras. Fase 1: Piloto con 8-10 voluntarios, 4-6 semanas. Fase 2: 30-40 directivos con lecciones incorporadas. Fase 3: Rollout completo + modelo para 12 campus de la Red Anahuac. Hoy solo pedimos la Fase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contenido ya esta desarrollado. No estamos pidiendo crear algo — estamos pidiendo luz verde. Costo: $2,500-3,500 por participante. Piloto de 10: $25,000-35,000. ROI del primer ano: medio millon de pesos. Por cada peso invertido: 14-20 en retorno.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 solicitud es clara: 1) Aprobar el piloto. 2) Seleccionar 8-10 directivos. 3) Fecha de inicio: octubre 2026. No estamos pidiendo un gran presupuesto ni un ano de desarrollo. Estamos pidiendo 6 semanas para demostrar que esto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curso que no cambia el comportamiento del lunes siguiente es entretenimiento, no formacion. Este programa esta disenado para que cada participante use lo aprendido al dia siguiente. El mini sitio esta en pantalla. El contenido esta listo. La oportunidad esta ahora.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23"/>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F5900"/>
          </a:solidFill>
          <a:ln/>
        </p:spPr>
      </p:sp>
      <p:sp>
        <p:nvSpPr>
          <p:cNvPr id="3" name="Text 1"/>
          <p:cNvSpPr/>
          <p:nvPr/>
        </p:nvSpPr>
        <p:spPr>
          <a:xfrm>
            <a:off x="1371600" y="731520"/>
            <a:ext cx="6400800" cy="365760"/>
          </a:xfrm>
          <a:prstGeom prst="rect">
            <a:avLst/>
          </a:prstGeom>
          <a:noFill/>
          <a:ln/>
        </p:spPr>
        <p:txBody>
          <a:bodyPr wrap="square" rtlCol="0" anchor="ctr"/>
          <a:lstStyle/>
          <a:p>
            <a:pPr algn="ctr" indent="0" marL="0">
              <a:buNone/>
            </a:pPr>
            <a:r>
              <a:rPr lang="en-US" sz="1100" spc="400" kern="0" dirty="0">
                <a:solidFill>
                  <a:srgbClr val="9CA3AF"/>
                </a:solidFill>
                <a:latin typeface="Calibri" pitchFamily="34" charset="0"/>
                <a:ea typeface="Calibri" pitchFamily="34" charset="-122"/>
                <a:cs typeface="Calibri" pitchFamily="34" charset="-120"/>
              </a:rPr>
              <a:t>UNIVERSIDAD ANAHUAC MAYAB</a:t>
            </a:r>
            <a:endParaRPr lang="en-US" sz="1100" dirty="0"/>
          </a:p>
        </p:txBody>
      </p:sp>
      <p:sp>
        <p:nvSpPr>
          <p:cNvPr id="4" name="Text 2"/>
          <p:cNvSpPr/>
          <p:nvPr/>
        </p:nvSpPr>
        <p:spPr>
          <a:xfrm>
            <a:off x="1828800" y="1188720"/>
            <a:ext cx="5486400" cy="2011680"/>
          </a:xfrm>
          <a:prstGeom prst="rect">
            <a:avLst/>
          </a:prstGeom>
          <a:noFill/>
          <a:ln/>
        </p:spPr>
        <p:txBody>
          <a:bodyPr wrap="square" rtlCol="0" anchor="ctr"/>
          <a:lstStyle/>
          <a:p>
            <a:pPr algn="ctr" indent="0" marL="0">
              <a:buNone/>
            </a:pPr>
            <a:r>
              <a:rPr lang="en-US" sz="12000" b="1" dirty="0">
                <a:solidFill>
                  <a:srgbClr val="FF5900"/>
                </a:solidFill>
                <a:latin typeface="Arial Black" pitchFamily="34" charset="0"/>
                <a:ea typeface="Arial Black" pitchFamily="34" charset="-122"/>
                <a:cs typeface="Arial Black" pitchFamily="34" charset="-120"/>
              </a:rPr>
              <a:t>85%</a:t>
            </a:r>
            <a:endParaRPr lang="en-US" sz="12000" dirty="0"/>
          </a:p>
        </p:txBody>
      </p:sp>
      <p:sp>
        <p:nvSpPr>
          <p:cNvPr id="5" name="Text 3"/>
          <p:cNvSpPr/>
          <p:nvPr/>
        </p:nvSpPr>
        <p:spPr>
          <a:xfrm>
            <a:off x="914400" y="3017520"/>
            <a:ext cx="7315200" cy="914400"/>
          </a:xfrm>
          <a:prstGeom prst="rect">
            <a:avLst/>
          </a:prstGeom>
          <a:noFill/>
          <a:ln/>
        </p:spPr>
        <p:txBody>
          <a:bodyPr wrap="square" rtlCol="0" anchor="ctr"/>
          <a:lstStyle/>
          <a:p>
            <a:pPr algn="ctr" indent="0" marL="0">
              <a:lnSpc>
                <a:spcPts val="2800"/>
              </a:lnSpc>
              <a:buNone/>
            </a:pPr>
            <a:r>
              <a:rPr lang="en-US" sz="2000" dirty="0">
                <a:solidFill>
                  <a:srgbClr val="FFFFFF"/>
                </a:solidFill>
                <a:latin typeface="Calibri" pitchFamily="34" charset="0"/>
                <a:ea typeface="Calibri" pitchFamily="34" charset="-122"/>
                <a:cs typeface="Calibri" pitchFamily="34" charset="-120"/>
              </a:rPr>
              <a:t>de los directivos de nuestra universidad</a:t>
            </a:r>
            <a:endParaRPr lang="en-US" sz="2000" dirty="0"/>
          </a:p>
          <a:p>
            <a:pPr algn="ctr" indent="0" marL="0">
              <a:lnSpc>
                <a:spcPts val="2800"/>
              </a:lnSpc>
              <a:buNone/>
            </a:pPr>
            <a:r>
              <a:rPr lang="en-US" sz="2000" dirty="0">
                <a:solidFill>
                  <a:srgbClr val="FFFFFF"/>
                </a:solidFill>
                <a:latin typeface="Calibri" pitchFamily="34" charset="0"/>
                <a:ea typeface="Calibri" pitchFamily="34" charset="-122"/>
                <a:cs typeface="Calibri" pitchFamily="34" charset="-120"/>
              </a:rPr>
              <a:t>no usa IA generativa en su trabajo diario.</a:t>
            </a:r>
            <a:endParaRPr lang="en-US" sz="2000" dirty="0"/>
          </a:p>
        </p:txBody>
      </p:sp>
      <p:sp>
        <p:nvSpPr>
          <p:cNvPr id="6" name="Text 4"/>
          <p:cNvSpPr/>
          <p:nvPr/>
        </p:nvSpPr>
        <p:spPr>
          <a:xfrm>
            <a:off x="1371600" y="4023360"/>
            <a:ext cx="6400800" cy="457200"/>
          </a:xfrm>
          <a:prstGeom prst="rect">
            <a:avLst/>
          </a:prstGeom>
          <a:noFill/>
          <a:ln/>
        </p:spPr>
        <p:txBody>
          <a:bodyPr wrap="square" rtlCol="0" anchor="ctr"/>
          <a:lstStyle/>
          <a:p>
            <a:pPr algn="ctr" indent="0" marL="0">
              <a:buNone/>
            </a:pPr>
            <a:r>
              <a:rPr lang="en-US" sz="1400" i="1" dirty="0">
                <a:solidFill>
                  <a:srgbClr val="9CA3AF"/>
                </a:solidFill>
                <a:latin typeface="Calibri" pitchFamily="34" charset="0"/>
                <a:ea typeface="Calibri" pitchFamily="34" charset="-122"/>
                <a:cs typeface="Calibri" pitchFamily="34" charset="-120"/>
              </a:rPr>
              <a:t>Mientras tanto, nuestros alumnos ya la usan para todo.</a:t>
            </a:r>
            <a:endParaRPr lang="en-US" sz="1400" dirty="0"/>
          </a:p>
        </p:txBody>
      </p:sp>
      <p:sp>
        <p:nvSpPr>
          <p:cNvPr id="7" name="Shape 5"/>
          <p:cNvSpPr/>
          <p:nvPr/>
        </p:nvSpPr>
        <p:spPr>
          <a:xfrm>
            <a:off x="0" y="4846320"/>
            <a:ext cx="9144000" cy="297180"/>
          </a:xfrm>
          <a:prstGeom prst="rect">
            <a:avLst/>
          </a:prstGeom>
          <a:solidFill>
            <a:srgbClr val="432F64"/>
          </a:solidFill>
          <a:ln/>
        </p:spPr>
      </p:sp>
      <p:sp>
        <p:nvSpPr>
          <p:cNvPr id="8" name="Text 6"/>
          <p:cNvSpPr/>
          <p:nvPr/>
        </p:nvSpPr>
        <p:spPr>
          <a:xfrm>
            <a:off x="457200" y="4846320"/>
            <a:ext cx="8229600" cy="297180"/>
          </a:xfrm>
          <a:prstGeom prst="rect">
            <a:avLst/>
          </a:prstGeom>
          <a:noFill/>
          <a:ln/>
        </p:spPr>
        <p:txBody>
          <a:bodyPr wrap="square" rtlCol="0" anchor="ctr"/>
          <a:lstStyle/>
          <a:p>
            <a:pPr algn="ctr" indent="0" marL="0">
              <a:buNone/>
            </a:pPr>
            <a:r>
              <a:rPr lang="en-US" sz="900" dirty="0">
                <a:solidFill>
                  <a:srgbClr val="C8C8D8"/>
                </a:solidFill>
                <a:latin typeface="Calibri" pitchFamily="34" charset="0"/>
                <a:ea typeface="Calibri" pitchFamily="34" charset="-122"/>
                <a:cs typeface="Calibri" pitchFamily="34" charset="-120"/>
              </a:rPr>
              <a:t>IA Practica para Lideres Anahuac · Septiembre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F23"/>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F5900"/>
          </a:solidFill>
          <a:ln/>
        </p:spPr>
      </p:sp>
      <p:sp>
        <p:nvSpPr>
          <p:cNvPr id="3" name="Text 1"/>
          <p:cNvSpPr/>
          <p:nvPr/>
        </p:nvSpPr>
        <p:spPr>
          <a:xfrm>
            <a:off x="914400" y="320040"/>
            <a:ext cx="7315200" cy="548640"/>
          </a:xfrm>
          <a:prstGeom prst="rect">
            <a:avLst/>
          </a:prstGeom>
          <a:noFill/>
          <a:ln/>
        </p:spPr>
        <p:txBody>
          <a:bodyPr wrap="square" rtlCol="0" anchor="ctr"/>
          <a:lstStyle/>
          <a:p>
            <a:pPr algn="ctr" indent="0" marL="0">
              <a:buNone/>
            </a:pPr>
            <a:r>
              <a:rPr lang="en-US" sz="2200" dirty="0">
                <a:solidFill>
                  <a:srgbClr val="FFFFFF"/>
                </a:solidFill>
                <a:latin typeface="Arial Black" pitchFamily="34" charset="0"/>
                <a:ea typeface="Arial Black" pitchFamily="34" charset="-122"/>
                <a:cs typeface="Arial Black" pitchFamily="34" charset="-120"/>
              </a:rPr>
              <a:t>El problema no es que no sepamos de IA</a:t>
            </a:r>
            <a:endParaRPr lang="en-US" sz="2200" dirty="0"/>
          </a:p>
        </p:txBody>
      </p:sp>
      <p:sp>
        <p:nvSpPr>
          <p:cNvPr id="4" name="Shape 2"/>
          <p:cNvSpPr/>
          <p:nvPr/>
        </p:nvSpPr>
        <p:spPr>
          <a:xfrm>
            <a:off x="594360" y="1097280"/>
            <a:ext cx="2377440" cy="2743200"/>
          </a:xfrm>
          <a:prstGeom prst="roundRect">
            <a:avLst>
              <a:gd name="adj" fmla="val 5769"/>
            </a:avLst>
          </a:prstGeom>
          <a:solidFill>
            <a:srgbClr val="2A2A40"/>
          </a:solidFill>
          <a:ln w="12700">
            <a:solidFill>
              <a:srgbClr val="3A3A5C"/>
            </a:solidFill>
            <a:prstDash val="solid"/>
          </a:ln>
        </p:spPr>
      </p:sp>
      <p:sp>
        <p:nvSpPr>
          <p:cNvPr id="5" name="Text 3"/>
          <p:cNvSpPr/>
          <p:nvPr/>
        </p:nvSpPr>
        <p:spPr>
          <a:xfrm>
            <a:off x="594360" y="1234440"/>
            <a:ext cx="2377440" cy="411480"/>
          </a:xfrm>
          <a:prstGeom prst="rect">
            <a:avLst/>
          </a:prstGeom>
          <a:noFill/>
          <a:ln/>
        </p:spPr>
        <p:txBody>
          <a:bodyPr wrap="square" rtlCol="0" anchor="ctr"/>
          <a:lstStyle/>
          <a:p>
            <a:pPr algn="ctr" indent="0" marL="0">
              <a:buNone/>
            </a:pPr>
            <a:r>
              <a:rPr lang="en-US" sz="1400" b="1" dirty="0">
                <a:solidFill>
                  <a:srgbClr val="EF4444"/>
                </a:solidFill>
                <a:latin typeface="Arial Black" pitchFamily="34" charset="0"/>
                <a:ea typeface="Arial Black" pitchFamily="34" charset="-122"/>
                <a:cs typeface="Arial Black" pitchFamily="34" charset="-120"/>
              </a:rPr>
              <a:t>Tiempo perdido</a:t>
            </a:r>
            <a:endParaRPr lang="en-US" sz="1400" dirty="0"/>
          </a:p>
        </p:txBody>
      </p:sp>
      <p:sp>
        <p:nvSpPr>
          <p:cNvPr id="6" name="Text 4"/>
          <p:cNvSpPr/>
          <p:nvPr/>
        </p:nvSpPr>
        <p:spPr>
          <a:xfrm>
            <a:off x="777240" y="1737360"/>
            <a:ext cx="2011680" cy="1828800"/>
          </a:xfrm>
          <a:prstGeom prst="rect">
            <a:avLst/>
          </a:prstGeom>
          <a:noFill/>
          <a:ln/>
        </p:spPr>
        <p:txBody>
          <a:bodyPr wrap="square" rtlCol="0" anchor="t"/>
          <a:lstStyle/>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60-70% de la jornada</a:t>
            </a:r>
            <a:endParaRPr lang="en-US" sz="1100" dirty="0"/>
          </a:p>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en tareas automatizables</a:t>
            </a:r>
            <a:endParaRPr lang="en-US" sz="1100" dirty="0"/>
          </a:p>
          <a:p>
            <a:pPr algn="ctr" indent="0" marL="0">
              <a:lnSpc>
                <a:spcPts val="1600"/>
              </a:lnSpc>
              <a:buNone/>
            </a:pPr>
            <a:endParaRPr lang="en-US" sz="1100" dirty="0"/>
          </a:p>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 10-15 horas/semana</a:t>
            </a:r>
            <a:endParaRPr lang="en-US" sz="1100" dirty="0"/>
          </a:p>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por lider</a:t>
            </a:r>
            <a:endParaRPr lang="en-US" sz="1100" dirty="0"/>
          </a:p>
        </p:txBody>
      </p:sp>
      <p:sp>
        <p:nvSpPr>
          <p:cNvPr id="7" name="Shape 5"/>
          <p:cNvSpPr/>
          <p:nvPr/>
        </p:nvSpPr>
        <p:spPr>
          <a:xfrm>
            <a:off x="3246120" y="1097280"/>
            <a:ext cx="2377440" cy="2743200"/>
          </a:xfrm>
          <a:prstGeom prst="roundRect">
            <a:avLst>
              <a:gd name="adj" fmla="val 5769"/>
            </a:avLst>
          </a:prstGeom>
          <a:solidFill>
            <a:srgbClr val="2A2A40"/>
          </a:solidFill>
          <a:ln w="12700">
            <a:solidFill>
              <a:srgbClr val="3A3A5C"/>
            </a:solidFill>
            <a:prstDash val="solid"/>
          </a:ln>
        </p:spPr>
      </p:sp>
      <p:sp>
        <p:nvSpPr>
          <p:cNvPr id="8" name="Text 6"/>
          <p:cNvSpPr/>
          <p:nvPr/>
        </p:nvSpPr>
        <p:spPr>
          <a:xfrm>
            <a:off x="3246120" y="1234440"/>
            <a:ext cx="2377440" cy="411480"/>
          </a:xfrm>
          <a:prstGeom prst="rect">
            <a:avLst/>
          </a:prstGeom>
          <a:noFill/>
          <a:ln/>
        </p:spPr>
        <p:txBody>
          <a:bodyPr wrap="square" rtlCol="0" anchor="ctr"/>
          <a:lstStyle/>
          <a:p>
            <a:pPr algn="ctr" indent="0" marL="0">
              <a:buNone/>
            </a:pPr>
            <a:r>
              <a:rPr lang="en-US" sz="1400" b="1" dirty="0">
                <a:solidFill>
                  <a:srgbClr val="F59E0B"/>
                </a:solidFill>
                <a:latin typeface="Arial Black" pitchFamily="34" charset="0"/>
                <a:ea typeface="Arial Black" pitchFamily="34" charset="-122"/>
                <a:cs typeface="Arial Black" pitchFamily="34" charset="-120"/>
              </a:rPr>
              <a:t>Uso superficial</a:t>
            </a:r>
            <a:endParaRPr lang="en-US" sz="1400" dirty="0"/>
          </a:p>
        </p:txBody>
      </p:sp>
      <p:sp>
        <p:nvSpPr>
          <p:cNvPr id="9" name="Text 7"/>
          <p:cNvSpPr/>
          <p:nvPr/>
        </p:nvSpPr>
        <p:spPr>
          <a:xfrm>
            <a:off x="3429000" y="1737360"/>
            <a:ext cx="2011680" cy="1828800"/>
          </a:xfrm>
          <a:prstGeom prst="rect">
            <a:avLst/>
          </a:prstGeom>
          <a:noFill/>
          <a:ln/>
        </p:spPr>
        <p:txBody>
          <a:bodyPr wrap="square" rtlCol="0" anchor="t"/>
          <a:lstStyle/>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Pidele algo a ChatGPT</a:t>
            </a:r>
            <a:endParaRPr lang="en-US" sz="1100" dirty="0"/>
          </a:p>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sin metodo ni framework</a:t>
            </a:r>
            <a:endParaRPr lang="en-US" sz="1100" dirty="0"/>
          </a:p>
          <a:p>
            <a:pPr algn="ctr" indent="0" marL="0">
              <a:lnSpc>
                <a:spcPts val="1600"/>
              </a:lnSpc>
              <a:buNone/>
            </a:pPr>
            <a:endParaRPr lang="en-US" sz="1100" dirty="0"/>
          </a:p>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Sin framework</a:t>
            </a:r>
            <a:endParaRPr lang="en-US" sz="1100" dirty="0"/>
          </a:p>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institucional de IA</a:t>
            </a:r>
            <a:endParaRPr lang="en-US" sz="1100" dirty="0"/>
          </a:p>
        </p:txBody>
      </p:sp>
      <p:sp>
        <p:nvSpPr>
          <p:cNvPr id="10" name="Shape 8"/>
          <p:cNvSpPr/>
          <p:nvPr/>
        </p:nvSpPr>
        <p:spPr>
          <a:xfrm>
            <a:off x="5897880" y="1097280"/>
            <a:ext cx="2377440" cy="2743200"/>
          </a:xfrm>
          <a:prstGeom prst="roundRect">
            <a:avLst>
              <a:gd name="adj" fmla="val 5769"/>
            </a:avLst>
          </a:prstGeom>
          <a:solidFill>
            <a:srgbClr val="2A2A40"/>
          </a:solidFill>
          <a:ln w="12700">
            <a:solidFill>
              <a:srgbClr val="3A3A5C"/>
            </a:solidFill>
            <a:prstDash val="solid"/>
          </a:ln>
        </p:spPr>
      </p:sp>
      <p:sp>
        <p:nvSpPr>
          <p:cNvPr id="11" name="Text 9"/>
          <p:cNvSpPr/>
          <p:nvPr/>
        </p:nvSpPr>
        <p:spPr>
          <a:xfrm>
            <a:off x="5897880" y="1234440"/>
            <a:ext cx="2377440" cy="411480"/>
          </a:xfrm>
          <a:prstGeom prst="rect">
            <a:avLst/>
          </a:prstGeom>
          <a:noFill/>
          <a:ln/>
        </p:spPr>
        <p:txBody>
          <a:bodyPr wrap="square" rtlCol="0" anchor="ctr"/>
          <a:lstStyle/>
          <a:p>
            <a:pPr algn="ctr" indent="0" marL="0">
              <a:buNone/>
            </a:pPr>
            <a:r>
              <a:rPr lang="en-US" sz="1400" b="1" dirty="0">
                <a:solidFill>
                  <a:srgbClr val="FF5900"/>
                </a:solidFill>
                <a:latin typeface="Arial Black" pitchFamily="34" charset="0"/>
                <a:ea typeface="Arial Black" pitchFamily="34" charset="-122"/>
                <a:cs typeface="Arial Black" pitchFamily="34" charset="-120"/>
              </a:rPr>
              <a:t>Brecha creciente</a:t>
            </a:r>
            <a:endParaRPr lang="en-US" sz="1400" dirty="0"/>
          </a:p>
        </p:txBody>
      </p:sp>
      <p:sp>
        <p:nvSpPr>
          <p:cNvPr id="12" name="Text 10"/>
          <p:cNvSpPr/>
          <p:nvPr/>
        </p:nvSpPr>
        <p:spPr>
          <a:xfrm>
            <a:off x="6080760" y="1737360"/>
            <a:ext cx="2011680" cy="1828800"/>
          </a:xfrm>
          <a:prstGeom prst="rect">
            <a:avLst/>
          </a:prstGeom>
          <a:noFill/>
          <a:ln/>
        </p:spPr>
        <p:txBody>
          <a:bodyPr wrap="square" rtlCol="0" anchor="t"/>
          <a:lstStyle/>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Alumnos y equipos avanzan;</a:t>
            </a:r>
            <a:endParaRPr lang="en-US" sz="1100" dirty="0"/>
          </a:p>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directivos se quedan atras</a:t>
            </a:r>
            <a:endParaRPr lang="en-US" sz="1100" dirty="0"/>
          </a:p>
          <a:p>
            <a:pPr algn="ctr" indent="0" marL="0">
              <a:lnSpc>
                <a:spcPts val="1600"/>
              </a:lnSpc>
              <a:buNone/>
            </a:pPr>
            <a:endParaRPr lang="en-US" sz="1100" dirty="0"/>
          </a:p>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Riesgo de obsolescencia</a:t>
            </a:r>
            <a:endParaRPr lang="en-US" sz="1100" dirty="0"/>
          </a:p>
          <a:p>
            <a:pPr algn="ctr" indent="0" marL="0">
              <a:lnSpc>
                <a:spcPts val="1600"/>
              </a:lnSpc>
              <a:buNone/>
            </a:pPr>
            <a:r>
              <a:rPr lang="en-US" sz="1100" dirty="0">
                <a:solidFill>
                  <a:srgbClr val="C8C8D8"/>
                </a:solidFill>
                <a:latin typeface="Calibri" pitchFamily="34" charset="0"/>
                <a:ea typeface="Calibri" pitchFamily="34" charset="-122"/>
                <a:cs typeface="Calibri" pitchFamily="34" charset="-120"/>
              </a:rPr>
              <a:t>operativa</a:t>
            </a:r>
            <a:endParaRPr lang="en-US" sz="1100" dirty="0"/>
          </a:p>
        </p:txBody>
      </p:sp>
      <p:sp>
        <p:nvSpPr>
          <p:cNvPr id="13" name="Shape 11"/>
          <p:cNvSpPr/>
          <p:nvPr/>
        </p:nvSpPr>
        <p:spPr>
          <a:xfrm>
            <a:off x="594360" y="4114800"/>
            <a:ext cx="7955280" cy="731520"/>
          </a:xfrm>
          <a:prstGeom prst="rect">
            <a:avLst>
              <a:gd name="adj" fmla="val 12500"/>
            </a:avLst>
          </a:prstGeom>
          <a:solidFill>
            <a:srgbClr val="2A2A40"/>
          </a:solidFill>
          <a:ln w="19050">
            <a:solidFill>
              <a:srgbClr val="FF5900"/>
            </a:solidFill>
            <a:prstDash val="solid"/>
          </a:ln>
        </p:spPr>
      </p:sp>
      <p:sp>
        <p:nvSpPr>
          <p:cNvPr id="14" name="Text 12"/>
          <p:cNvSpPr/>
          <p:nvPr/>
        </p:nvSpPr>
        <p:spPr>
          <a:xfrm>
            <a:off x="777240" y="4114800"/>
            <a:ext cx="7589520" cy="731520"/>
          </a:xfrm>
          <a:prstGeom prst="rect">
            <a:avLst/>
          </a:prstGeom>
          <a:noFill/>
          <a:ln/>
        </p:spPr>
        <p:txBody>
          <a:bodyPr wrap="square" rtlCol="0" anchor="ctr"/>
          <a:lstStyle/>
          <a:p>
            <a:pPr algn="ctr" indent="0" marL="0">
              <a:buNone/>
            </a:pPr>
            <a:r>
              <a:rPr lang="en-US" sz="1100" i="1" dirty="0">
                <a:solidFill>
                  <a:srgbClr val="C8C8D8"/>
                </a:solidFill>
                <a:latin typeface="Calibri" pitchFamily="34" charset="0"/>
                <a:ea typeface="Calibri" pitchFamily="34" charset="-122"/>
                <a:cs typeface="Calibri" pitchFamily="34" charset="-120"/>
              </a:rPr>
              <a:t>"Soy coordinadora en Anahuac, tengo 47 correos por responder y un reporte de desercion que entregar el viernes — como me ayuda la IA HOY?"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F23"/>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F5900"/>
          </a:solidFill>
          <a:ln/>
        </p:spPr>
      </p:sp>
      <p:sp>
        <p:nvSpPr>
          <p:cNvPr id="3" name="Text 1"/>
          <p:cNvSpPr/>
          <p:nvPr/>
        </p:nvSpPr>
        <p:spPr>
          <a:xfrm>
            <a:off x="457200" y="274320"/>
            <a:ext cx="8229600" cy="548640"/>
          </a:xfrm>
          <a:prstGeom prst="rect">
            <a:avLst/>
          </a:prstGeom>
          <a:noFill/>
          <a:ln/>
        </p:spPr>
        <p:txBody>
          <a:bodyPr wrap="square" rtlCol="0" anchor="ctr"/>
          <a:lstStyle/>
          <a:p>
            <a:pPr algn="ctr" indent="0" marL="0">
              <a:buNone/>
            </a:pPr>
            <a:r>
              <a:rPr lang="en-US" sz="2000" dirty="0">
                <a:solidFill>
                  <a:srgbClr val="FFFFFF"/>
                </a:solidFill>
                <a:latin typeface="Arial Black" pitchFamily="34" charset="0"/>
                <a:ea typeface="Arial Black" pitchFamily="34" charset="-122"/>
                <a:cs typeface="Arial Black" pitchFamily="34" charset="-120"/>
              </a:rPr>
              <a:t>Benchmark: el mundo universitario ya se mueve</a:t>
            </a:r>
            <a:endParaRPr lang="en-US" sz="2000" dirty="0"/>
          </a:p>
        </p:txBody>
      </p:sp>
      <p:sp>
        <p:nvSpPr>
          <p:cNvPr id="4" name="Text 2"/>
          <p:cNvSpPr/>
          <p:nvPr/>
        </p:nvSpPr>
        <p:spPr>
          <a:xfrm>
            <a:off x="365760" y="914400"/>
            <a:ext cx="4114800" cy="320040"/>
          </a:xfrm>
          <a:prstGeom prst="rect">
            <a:avLst/>
          </a:prstGeom>
          <a:noFill/>
          <a:ln/>
        </p:spPr>
        <p:txBody>
          <a:bodyPr wrap="square" rtlCol="0" anchor="ctr"/>
          <a:lstStyle/>
          <a:p>
            <a:pPr indent="0" marL="0">
              <a:buNone/>
            </a:pPr>
            <a:r>
              <a:rPr lang="en-US" sz="1200" b="1" dirty="0">
                <a:solidFill>
                  <a:srgbClr val="FF5900"/>
                </a:solidFill>
                <a:latin typeface="Arial Black" pitchFamily="34" charset="0"/>
                <a:ea typeface="Arial Black" pitchFamily="34" charset="-122"/>
                <a:cs typeface="Arial Black" pitchFamily="34" charset="-120"/>
              </a:rPr>
              <a:t>Lo que hacen otros</a:t>
            </a:r>
            <a:endParaRPr lang="en-US" sz="1200" dirty="0"/>
          </a:p>
        </p:txBody>
      </p:sp>
      <p:sp>
        <p:nvSpPr>
          <p:cNvPr id="5" name="Shape 3"/>
          <p:cNvSpPr/>
          <p:nvPr/>
        </p:nvSpPr>
        <p:spPr>
          <a:xfrm>
            <a:off x="365760" y="1325880"/>
            <a:ext cx="4114800" cy="502920"/>
          </a:xfrm>
          <a:prstGeom prst="roundRect">
            <a:avLst>
              <a:gd name="adj" fmla="val 14545"/>
            </a:avLst>
          </a:prstGeom>
          <a:solidFill>
            <a:srgbClr val="2A2A40"/>
          </a:solidFill>
          <a:ln/>
        </p:spPr>
      </p:sp>
      <p:sp>
        <p:nvSpPr>
          <p:cNvPr id="6" name="Text 4"/>
          <p:cNvSpPr/>
          <p:nvPr/>
        </p:nvSpPr>
        <p:spPr>
          <a:xfrm>
            <a:off x="548640" y="1344168"/>
            <a:ext cx="1645920" cy="228600"/>
          </a:xfrm>
          <a:prstGeom prst="rect">
            <a:avLst/>
          </a:prstGeom>
          <a:noFill/>
          <a:ln/>
        </p:spPr>
        <p:txBody>
          <a:bodyPr wrap="square" rtlCol="0" anchor="ctr"/>
          <a:lstStyle/>
          <a:p>
            <a:pPr indent="0" marL="0">
              <a:buNone/>
            </a:pPr>
            <a:r>
              <a:rPr lang="en-US" sz="1000" b="1" dirty="0">
                <a:solidFill>
                  <a:srgbClr val="FF5900"/>
                </a:solidFill>
                <a:latin typeface="Arial Black" pitchFamily="34" charset="0"/>
                <a:ea typeface="Arial Black" pitchFamily="34" charset="-122"/>
                <a:cs typeface="Arial Black" pitchFamily="34" charset="-120"/>
              </a:rPr>
              <a:t>Stanford HAI</a:t>
            </a:r>
            <a:endParaRPr lang="en-US" sz="1000" dirty="0"/>
          </a:p>
        </p:txBody>
      </p:sp>
      <p:sp>
        <p:nvSpPr>
          <p:cNvPr id="7" name="Text 5"/>
          <p:cNvSpPr/>
          <p:nvPr/>
        </p:nvSpPr>
        <p:spPr>
          <a:xfrm>
            <a:off x="548640" y="1572768"/>
            <a:ext cx="3749040" cy="228600"/>
          </a:xfrm>
          <a:prstGeom prst="rect">
            <a:avLst/>
          </a:prstGeom>
          <a:noFill/>
          <a:ln/>
        </p:spPr>
        <p:txBody>
          <a:bodyPr wrap="square" rtlCol="0" anchor="ctr"/>
          <a:lstStyle/>
          <a:p>
            <a:pPr indent="0" marL="0">
              <a:buNone/>
            </a:pPr>
            <a:r>
              <a:rPr lang="en-US" sz="900" dirty="0">
                <a:solidFill>
                  <a:srgbClr val="C8C8D8"/>
                </a:solidFill>
                <a:latin typeface="Calibri" pitchFamily="34" charset="0"/>
                <a:ea typeface="Calibri" pitchFamily="34" charset="-122"/>
                <a:cs typeface="Calibri" pitchFamily="34" charset="-120"/>
              </a:rPr>
              <a:t>Framework de AI Literacy para lideres academicos</a:t>
            </a:r>
            <a:endParaRPr lang="en-US" sz="900" dirty="0"/>
          </a:p>
        </p:txBody>
      </p:sp>
      <p:sp>
        <p:nvSpPr>
          <p:cNvPr id="8" name="Shape 6"/>
          <p:cNvSpPr/>
          <p:nvPr/>
        </p:nvSpPr>
        <p:spPr>
          <a:xfrm>
            <a:off x="365760" y="1920240"/>
            <a:ext cx="4114800" cy="502920"/>
          </a:xfrm>
          <a:prstGeom prst="roundRect">
            <a:avLst>
              <a:gd name="adj" fmla="val 14545"/>
            </a:avLst>
          </a:prstGeom>
          <a:solidFill>
            <a:srgbClr val="2A2A40"/>
          </a:solidFill>
          <a:ln/>
        </p:spPr>
      </p:sp>
      <p:sp>
        <p:nvSpPr>
          <p:cNvPr id="9" name="Text 7"/>
          <p:cNvSpPr/>
          <p:nvPr/>
        </p:nvSpPr>
        <p:spPr>
          <a:xfrm>
            <a:off x="548640" y="1938528"/>
            <a:ext cx="1645920" cy="228600"/>
          </a:xfrm>
          <a:prstGeom prst="rect">
            <a:avLst/>
          </a:prstGeom>
          <a:noFill/>
          <a:ln/>
        </p:spPr>
        <p:txBody>
          <a:bodyPr wrap="square" rtlCol="0" anchor="ctr"/>
          <a:lstStyle/>
          <a:p>
            <a:pPr indent="0" marL="0">
              <a:buNone/>
            </a:pPr>
            <a:r>
              <a:rPr lang="en-US" sz="1000" b="1" dirty="0">
                <a:solidFill>
                  <a:srgbClr val="FF5900"/>
                </a:solidFill>
                <a:latin typeface="Arial Black" pitchFamily="34" charset="0"/>
                <a:ea typeface="Arial Black" pitchFamily="34" charset="-122"/>
                <a:cs typeface="Arial Black" pitchFamily="34" charset="-120"/>
              </a:rPr>
              <a:t>UNESCO (2024)</a:t>
            </a:r>
            <a:endParaRPr lang="en-US" sz="1000" dirty="0"/>
          </a:p>
        </p:txBody>
      </p:sp>
      <p:sp>
        <p:nvSpPr>
          <p:cNvPr id="10" name="Text 8"/>
          <p:cNvSpPr/>
          <p:nvPr/>
        </p:nvSpPr>
        <p:spPr>
          <a:xfrm>
            <a:off x="548640" y="2167128"/>
            <a:ext cx="3749040" cy="228600"/>
          </a:xfrm>
          <a:prstGeom prst="rect">
            <a:avLst/>
          </a:prstGeom>
          <a:noFill/>
          <a:ln/>
        </p:spPr>
        <p:txBody>
          <a:bodyPr wrap="square" rtlCol="0" anchor="ctr"/>
          <a:lstStyle/>
          <a:p>
            <a:pPr indent="0" marL="0">
              <a:buNone/>
            </a:pPr>
            <a:r>
              <a:rPr lang="en-US" sz="900" dirty="0">
                <a:solidFill>
                  <a:srgbClr val="C8C8D8"/>
                </a:solidFill>
                <a:latin typeface="Calibri" pitchFamily="34" charset="0"/>
                <a:ea typeface="Calibri" pitchFamily="34" charset="-122"/>
                <a:cs typeface="Calibri" pitchFamily="34" charset="-120"/>
              </a:rPr>
              <a:t>AI Competency Framework — estandar global</a:t>
            </a:r>
            <a:endParaRPr lang="en-US" sz="900" dirty="0"/>
          </a:p>
        </p:txBody>
      </p:sp>
      <p:sp>
        <p:nvSpPr>
          <p:cNvPr id="11" name="Shape 9"/>
          <p:cNvSpPr/>
          <p:nvPr/>
        </p:nvSpPr>
        <p:spPr>
          <a:xfrm>
            <a:off x="365760" y="2514600"/>
            <a:ext cx="4114800" cy="502920"/>
          </a:xfrm>
          <a:prstGeom prst="roundRect">
            <a:avLst>
              <a:gd name="adj" fmla="val 14545"/>
            </a:avLst>
          </a:prstGeom>
          <a:solidFill>
            <a:srgbClr val="2A2A40"/>
          </a:solidFill>
          <a:ln/>
        </p:spPr>
      </p:sp>
      <p:sp>
        <p:nvSpPr>
          <p:cNvPr id="12" name="Text 10"/>
          <p:cNvSpPr/>
          <p:nvPr/>
        </p:nvSpPr>
        <p:spPr>
          <a:xfrm>
            <a:off x="548640" y="2532888"/>
            <a:ext cx="1645920" cy="228600"/>
          </a:xfrm>
          <a:prstGeom prst="rect">
            <a:avLst/>
          </a:prstGeom>
          <a:noFill/>
          <a:ln/>
        </p:spPr>
        <p:txBody>
          <a:bodyPr wrap="square" rtlCol="0" anchor="ctr"/>
          <a:lstStyle/>
          <a:p>
            <a:pPr indent="0" marL="0">
              <a:buNone/>
            </a:pPr>
            <a:r>
              <a:rPr lang="en-US" sz="1000" b="1" dirty="0">
                <a:solidFill>
                  <a:srgbClr val="FF5900"/>
                </a:solidFill>
                <a:latin typeface="Arial Black" pitchFamily="34" charset="0"/>
                <a:ea typeface="Arial Black" pitchFamily="34" charset="-122"/>
                <a:cs typeface="Arial Black" pitchFamily="34" charset="-120"/>
              </a:rPr>
              <a:t>Tec de Monterrey</a:t>
            </a:r>
            <a:endParaRPr lang="en-US" sz="1000" dirty="0"/>
          </a:p>
        </p:txBody>
      </p:sp>
      <p:sp>
        <p:nvSpPr>
          <p:cNvPr id="13" name="Text 11"/>
          <p:cNvSpPr/>
          <p:nvPr/>
        </p:nvSpPr>
        <p:spPr>
          <a:xfrm>
            <a:off x="548640" y="2761488"/>
            <a:ext cx="3749040" cy="228600"/>
          </a:xfrm>
          <a:prstGeom prst="rect">
            <a:avLst/>
          </a:prstGeom>
          <a:noFill/>
          <a:ln/>
        </p:spPr>
        <p:txBody>
          <a:bodyPr wrap="square" rtlCol="0" anchor="ctr"/>
          <a:lstStyle/>
          <a:p>
            <a:pPr indent="0" marL="0">
              <a:buNone/>
            </a:pPr>
            <a:r>
              <a:rPr lang="en-US" sz="900" dirty="0">
                <a:solidFill>
                  <a:srgbClr val="C8C8D8"/>
                </a:solidFill>
                <a:latin typeface="Calibri" pitchFamily="34" charset="0"/>
                <a:ea typeface="Calibri" pitchFamily="34" charset="-122"/>
                <a:cs typeface="Calibri" pitchFamily="34" charset="-120"/>
              </a:rPr>
              <a:t>Programa interno de IA para directivos desde 2024</a:t>
            </a:r>
            <a:endParaRPr lang="en-US" sz="900" dirty="0"/>
          </a:p>
        </p:txBody>
      </p:sp>
      <p:sp>
        <p:nvSpPr>
          <p:cNvPr id="14" name="Shape 12"/>
          <p:cNvSpPr/>
          <p:nvPr/>
        </p:nvSpPr>
        <p:spPr>
          <a:xfrm>
            <a:off x="365760" y="3108960"/>
            <a:ext cx="4114800" cy="502920"/>
          </a:xfrm>
          <a:prstGeom prst="roundRect">
            <a:avLst>
              <a:gd name="adj" fmla="val 14545"/>
            </a:avLst>
          </a:prstGeom>
          <a:solidFill>
            <a:srgbClr val="2A2A40"/>
          </a:solidFill>
          <a:ln/>
        </p:spPr>
      </p:sp>
      <p:sp>
        <p:nvSpPr>
          <p:cNvPr id="15" name="Text 13"/>
          <p:cNvSpPr/>
          <p:nvPr/>
        </p:nvSpPr>
        <p:spPr>
          <a:xfrm>
            <a:off x="548640" y="3127248"/>
            <a:ext cx="1645920" cy="228600"/>
          </a:xfrm>
          <a:prstGeom prst="rect">
            <a:avLst/>
          </a:prstGeom>
          <a:noFill/>
          <a:ln/>
        </p:spPr>
        <p:txBody>
          <a:bodyPr wrap="square" rtlCol="0" anchor="ctr"/>
          <a:lstStyle/>
          <a:p>
            <a:pPr indent="0" marL="0">
              <a:buNone/>
            </a:pPr>
            <a:r>
              <a:rPr lang="en-US" sz="1000" b="1" dirty="0">
                <a:solidFill>
                  <a:srgbClr val="FF5900"/>
                </a:solidFill>
                <a:latin typeface="Arial Black" pitchFamily="34" charset="0"/>
                <a:ea typeface="Arial Black" pitchFamily="34" charset="-122"/>
                <a:cs typeface="Arial Black" pitchFamily="34" charset="-120"/>
              </a:rPr>
              <a:t>ANUIES</a:t>
            </a:r>
            <a:endParaRPr lang="en-US" sz="1000" dirty="0"/>
          </a:p>
        </p:txBody>
      </p:sp>
      <p:sp>
        <p:nvSpPr>
          <p:cNvPr id="16" name="Text 14"/>
          <p:cNvSpPr/>
          <p:nvPr/>
        </p:nvSpPr>
        <p:spPr>
          <a:xfrm>
            <a:off x="548640" y="3355848"/>
            <a:ext cx="3749040" cy="228600"/>
          </a:xfrm>
          <a:prstGeom prst="rect">
            <a:avLst/>
          </a:prstGeom>
          <a:noFill/>
          <a:ln/>
        </p:spPr>
        <p:txBody>
          <a:bodyPr wrap="square" rtlCol="0" anchor="ctr"/>
          <a:lstStyle/>
          <a:p>
            <a:pPr indent="0" marL="0">
              <a:buNone/>
            </a:pPr>
            <a:r>
              <a:rPr lang="en-US" sz="900" dirty="0">
                <a:solidFill>
                  <a:srgbClr val="C8C8D8"/>
                </a:solidFill>
                <a:latin typeface="Calibri" pitchFamily="34" charset="0"/>
                <a:ea typeface="Calibri" pitchFamily="34" charset="-122"/>
                <a:cs typeface="Calibri" pitchFamily="34" charset="-120"/>
              </a:rPr>
              <a:t>Comites de transformacion digital en formacion</a:t>
            </a:r>
            <a:endParaRPr lang="en-US" sz="900" dirty="0"/>
          </a:p>
        </p:txBody>
      </p:sp>
      <p:sp>
        <p:nvSpPr>
          <p:cNvPr id="17" name="Text 15"/>
          <p:cNvSpPr/>
          <p:nvPr/>
        </p:nvSpPr>
        <p:spPr>
          <a:xfrm>
            <a:off x="4754880" y="914400"/>
            <a:ext cx="4114800" cy="320040"/>
          </a:xfrm>
          <a:prstGeom prst="rect">
            <a:avLst/>
          </a:prstGeom>
          <a:noFill/>
          <a:ln/>
        </p:spPr>
        <p:txBody>
          <a:bodyPr wrap="square" rtlCol="0" anchor="ctr"/>
          <a:lstStyle/>
          <a:p>
            <a:pPr indent="0" marL="0">
              <a:buNone/>
            </a:pPr>
            <a:r>
              <a:rPr lang="en-US" sz="1200" b="1" dirty="0">
                <a:solidFill>
                  <a:srgbClr val="FF5900"/>
                </a:solidFill>
                <a:latin typeface="Arial Black" pitchFamily="34" charset="0"/>
                <a:ea typeface="Arial Black" pitchFamily="34" charset="-122"/>
                <a:cs typeface="Arial Black" pitchFamily="34" charset="-120"/>
              </a:rPr>
              <a:t>Ventaja Anahuac Mayab</a:t>
            </a:r>
            <a:endParaRPr lang="en-US" sz="1200" dirty="0"/>
          </a:p>
        </p:txBody>
      </p:sp>
      <p:sp>
        <p:nvSpPr>
          <p:cNvPr id="18" name="Shape 16"/>
          <p:cNvSpPr/>
          <p:nvPr/>
        </p:nvSpPr>
        <p:spPr>
          <a:xfrm>
            <a:off x="4754880" y="1325880"/>
            <a:ext cx="4114800" cy="502920"/>
          </a:xfrm>
          <a:prstGeom prst="roundRect">
            <a:avLst>
              <a:gd name="adj" fmla="val 14545"/>
            </a:avLst>
          </a:prstGeom>
          <a:solidFill>
            <a:srgbClr val="2A2A40"/>
          </a:solidFill>
          <a:ln/>
        </p:spPr>
      </p:sp>
      <p:sp>
        <p:nvSpPr>
          <p:cNvPr id="19" name="Text 17"/>
          <p:cNvSpPr/>
          <p:nvPr/>
        </p:nvSpPr>
        <p:spPr>
          <a:xfrm>
            <a:off x="4937760" y="1344168"/>
            <a:ext cx="1828800" cy="228600"/>
          </a:xfrm>
          <a:prstGeom prst="rect">
            <a:avLst/>
          </a:prstGeom>
          <a:noFill/>
          <a:ln/>
        </p:spPr>
        <p:txBody>
          <a:bodyPr wrap="square" rtlCol="0" anchor="ctr"/>
          <a:lstStyle/>
          <a:p>
            <a:pPr indent="0" marL="0">
              <a:buNone/>
            </a:pPr>
            <a:r>
              <a:rPr lang="en-US" sz="1000" b="1" dirty="0">
                <a:solidFill>
                  <a:srgbClr val="FFFFFF"/>
                </a:solidFill>
                <a:latin typeface="Arial Black" pitchFamily="34" charset="0"/>
                <a:ea typeface="Arial Black" pitchFamily="34" charset="-122"/>
                <a:cs typeface="Arial Black" pitchFamily="34" charset="-120"/>
              </a:rPr>
              <a:t>Primeros en la Red</a:t>
            </a:r>
            <a:endParaRPr lang="en-US" sz="1000" dirty="0"/>
          </a:p>
        </p:txBody>
      </p:sp>
      <p:sp>
        <p:nvSpPr>
          <p:cNvPr id="20" name="Text 18"/>
          <p:cNvSpPr/>
          <p:nvPr/>
        </p:nvSpPr>
        <p:spPr>
          <a:xfrm>
            <a:off x="4937760" y="1572768"/>
            <a:ext cx="3749040" cy="228600"/>
          </a:xfrm>
          <a:prstGeom prst="rect">
            <a:avLst/>
          </a:prstGeom>
          <a:noFill/>
          <a:ln/>
        </p:spPr>
        <p:txBody>
          <a:bodyPr wrap="square" rtlCol="0" anchor="ctr"/>
          <a:lstStyle/>
          <a:p>
            <a:pPr indent="0" marL="0">
              <a:buNone/>
            </a:pPr>
            <a:r>
              <a:rPr lang="en-US" sz="900" dirty="0">
                <a:solidFill>
                  <a:srgbClr val="C8C8D8"/>
                </a:solidFill>
                <a:latin typeface="Calibri" pitchFamily="34" charset="0"/>
                <a:ea typeface="Calibri" pitchFamily="34" charset="-122"/>
                <a:cs typeface="Calibri" pitchFamily="34" charset="-120"/>
              </a:rPr>
              <a:t>Ningun campus tiene programa formal de IA para directivos</a:t>
            </a:r>
            <a:endParaRPr lang="en-US" sz="900" dirty="0"/>
          </a:p>
        </p:txBody>
      </p:sp>
      <p:sp>
        <p:nvSpPr>
          <p:cNvPr id="21" name="Shape 19"/>
          <p:cNvSpPr/>
          <p:nvPr/>
        </p:nvSpPr>
        <p:spPr>
          <a:xfrm>
            <a:off x="4754880" y="1920240"/>
            <a:ext cx="4114800" cy="502920"/>
          </a:xfrm>
          <a:prstGeom prst="roundRect">
            <a:avLst>
              <a:gd name="adj" fmla="val 14545"/>
            </a:avLst>
          </a:prstGeom>
          <a:solidFill>
            <a:srgbClr val="2A2A40"/>
          </a:solidFill>
          <a:ln/>
        </p:spPr>
      </p:sp>
      <p:sp>
        <p:nvSpPr>
          <p:cNvPr id="22" name="Text 20"/>
          <p:cNvSpPr/>
          <p:nvPr/>
        </p:nvSpPr>
        <p:spPr>
          <a:xfrm>
            <a:off x="4937760" y="1938528"/>
            <a:ext cx="1828800" cy="228600"/>
          </a:xfrm>
          <a:prstGeom prst="rect">
            <a:avLst/>
          </a:prstGeom>
          <a:noFill/>
          <a:ln/>
        </p:spPr>
        <p:txBody>
          <a:bodyPr wrap="square" rtlCol="0" anchor="ctr"/>
          <a:lstStyle/>
          <a:p>
            <a:pPr indent="0" marL="0">
              <a:buNone/>
            </a:pPr>
            <a:r>
              <a:rPr lang="en-US" sz="1000" b="1" dirty="0">
                <a:solidFill>
                  <a:srgbClr val="FFFFFF"/>
                </a:solidFill>
                <a:latin typeface="Arial Black" pitchFamily="34" charset="0"/>
                <a:ea typeface="Arial Black" pitchFamily="34" charset="-122"/>
                <a:cs typeface="Arial Black" pitchFamily="34" charset="-120"/>
              </a:rPr>
              <a:t>Contenido a la medida</a:t>
            </a:r>
            <a:endParaRPr lang="en-US" sz="1000" dirty="0"/>
          </a:p>
        </p:txBody>
      </p:sp>
      <p:sp>
        <p:nvSpPr>
          <p:cNvPr id="23" name="Text 21"/>
          <p:cNvSpPr/>
          <p:nvPr/>
        </p:nvSpPr>
        <p:spPr>
          <a:xfrm>
            <a:off x="4937760" y="2167128"/>
            <a:ext cx="3749040" cy="228600"/>
          </a:xfrm>
          <a:prstGeom prst="rect">
            <a:avLst/>
          </a:prstGeom>
          <a:noFill/>
          <a:ln/>
        </p:spPr>
        <p:txBody>
          <a:bodyPr wrap="square" rtlCol="0" anchor="ctr"/>
          <a:lstStyle/>
          <a:p>
            <a:pPr indent="0" marL="0">
              <a:buNone/>
            </a:pPr>
            <a:r>
              <a:rPr lang="en-US" sz="900" dirty="0">
                <a:solidFill>
                  <a:srgbClr val="C8C8D8"/>
                </a:solidFill>
                <a:latin typeface="Calibri" pitchFamily="34" charset="0"/>
                <a:ea typeface="Calibri" pitchFamily="34" charset="-122"/>
                <a:cs typeface="Calibri" pitchFamily="34" charset="-120"/>
              </a:rPr>
              <a:t>Disenado para gestion universitaria mexicana</a:t>
            </a:r>
            <a:endParaRPr lang="en-US" sz="900" dirty="0"/>
          </a:p>
        </p:txBody>
      </p:sp>
      <p:sp>
        <p:nvSpPr>
          <p:cNvPr id="24" name="Shape 22"/>
          <p:cNvSpPr/>
          <p:nvPr/>
        </p:nvSpPr>
        <p:spPr>
          <a:xfrm>
            <a:off x="4754880" y="2514600"/>
            <a:ext cx="4114800" cy="502920"/>
          </a:xfrm>
          <a:prstGeom prst="roundRect">
            <a:avLst>
              <a:gd name="adj" fmla="val 14545"/>
            </a:avLst>
          </a:prstGeom>
          <a:solidFill>
            <a:srgbClr val="2A2A40"/>
          </a:solidFill>
          <a:ln/>
        </p:spPr>
      </p:sp>
      <p:sp>
        <p:nvSpPr>
          <p:cNvPr id="25" name="Text 23"/>
          <p:cNvSpPr/>
          <p:nvPr/>
        </p:nvSpPr>
        <p:spPr>
          <a:xfrm>
            <a:off x="4937760" y="2532888"/>
            <a:ext cx="1828800" cy="228600"/>
          </a:xfrm>
          <a:prstGeom prst="rect">
            <a:avLst/>
          </a:prstGeom>
          <a:noFill/>
          <a:ln/>
        </p:spPr>
        <p:txBody>
          <a:bodyPr wrap="square" rtlCol="0" anchor="ctr"/>
          <a:lstStyle/>
          <a:p>
            <a:pPr indent="0" marL="0">
              <a:buNone/>
            </a:pPr>
            <a:r>
              <a:rPr lang="en-US" sz="1000" b="1" dirty="0">
                <a:solidFill>
                  <a:srgbClr val="FFFFFF"/>
                </a:solidFill>
                <a:latin typeface="Arial Black" pitchFamily="34" charset="0"/>
                <a:ea typeface="Arial Black" pitchFamily="34" charset="-122"/>
                <a:cs typeface="Arial Black" pitchFamily="34" charset="-120"/>
              </a:rPr>
              <a:t>Timing perfecto</a:t>
            </a:r>
            <a:endParaRPr lang="en-US" sz="1000" dirty="0"/>
          </a:p>
        </p:txBody>
      </p:sp>
      <p:sp>
        <p:nvSpPr>
          <p:cNvPr id="26" name="Text 24"/>
          <p:cNvSpPr/>
          <p:nvPr/>
        </p:nvSpPr>
        <p:spPr>
          <a:xfrm>
            <a:off x="4937760" y="2761488"/>
            <a:ext cx="3749040" cy="228600"/>
          </a:xfrm>
          <a:prstGeom prst="rect">
            <a:avLst/>
          </a:prstGeom>
          <a:noFill/>
          <a:ln/>
        </p:spPr>
        <p:txBody>
          <a:bodyPr wrap="square" rtlCol="0" anchor="ctr"/>
          <a:lstStyle/>
          <a:p>
            <a:pPr indent="0" marL="0">
              <a:buNone/>
            </a:pPr>
            <a:r>
              <a:rPr lang="en-US" sz="900" dirty="0">
                <a:solidFill>
                  <a:srgbClr val="C8C8D8"/>
                </a:solidFill>
                <a:latin typeface="Calibri" pitchFamily="34" charset="0"/>
                <a:ea typeface="Calibri" pitchFamily="34" charset="-122"/>
                <a:cs typeface="Calibri" pitchFamily="34" charset="-120"/>
              </a:rPr>
              <a:t>Antes de la planeacion 2027 — impacto inmediato</a:t>
            </a:r>
            <a:endParaRPr lang="en-US" sz="900" dirty="0"/>
          </a:p>
        </p:txBody>
      </p:sp>
      <p:sp>
        <p:nvSpPr>
          <p:cNvPr id="27" name="Shape 25"/>
          <p:cNvSpPr/>
          <p:nvPr/>
        </p:nvSpPr>
        <p:spPr>
          <a:xfrm>
            <a:off x="4754880" y="3108960"/>
            <a:ext cx="4114800" cy="502920"/>
          </a:xfrm>
          <a:prstGeom prst="roundRect">
            <a:avLst>
              <a:gd name="adj" fmla="val 14545"/>
            </a:avLst>
          </a:prstGeom>
          <a:solidFill>
            <a:srgbClr val="2A2A40"/>
          </a:solidFill>
          <a:ln/>
        </p:spPr>
      </p:sp>
      <p:sp>
        <p:nvSpPr>
          <p:cNvPr id="28" name="Text 26"/>
          <p:cNvSpPr/>
          <p:nvPr/>
        </p:nvSpPr>
        <p:spPr>
          <a:xfrm>
            <a:off x="4937760" y="3127248"/>
            <a:ext cx="1828800" cy="228600"/>
          </a:xfrm>
          <a:prstGeom prst="rect">
            <a:avLst/>
          </a:prstGeom>
          <a:noFill/>
          <a:ln/>
        </p:spPr>
        <p:txBody>
          <a:bodyPr wrap="square" rtlCol="0" anchor="ctr"/>
          <a:lstStyle/>
          <a:p>
            <a:pPr indent="0" marL="0">
              <a:buNone/>
            </a:pPr>
            <a:r>
              <a:rPr lang="en-US" sz="1000" b="1" dirty="0">
                <a:solidFill>
                  <a:srgbClr val="FFFFFF"/>
                </a:solidFill>
                <a:latin typeface="Arial Black" pitchFamily="34" charset="0"/>
                <a:ea typeface="Arial Black" pitchFamily="34" charset="-122"/>
                <a:cs typeface="Arial Black" pitchFamily="34" charset="-120"/>
              </a:rPr>
              <a:t>Escalable a Red</a:t>
            </a:r>
            <a:endParaRPr lang="en-US" sz="1000" dirty="0"/>
          </a:p>
        </p:txBody>
      </p:sp>
      <p:sp>
        <p:nvSpPr>
          <p:cNvPr id="29" name="Text 27"/>
          <p:cNvSpPr/>
          <p:nvPr/>
        </p:nvSpPr>
        <p:spPr>
          <a:xfrm>
            <a:off x="4937760" y="3355848"/>
            <a:ext cx="3749040" cy="228600"/>
          </a:xfrm>
          <a:prstGeom prst="rect">
            <a:avLst/>
          </a:prstGeom>
          <a:noFill/>
          <a:ln/>
        </p:spPr>
        <p:txBody>
          <a:bodyPr wrap="square" rtlCol="0" anchor="ctr"/>
          <a:lstStyle/>
          <a:p>
            <a:pPr indent="0" marL="0">
              <a:buNone/>
            </a:pPr>
            <a:r>
              <a:rPr lang="en-US" sz="900" dirty="0">
                <a:solidFill>
                  <a:srgbClr val="C8C8D8"/>
                </a:solidFill>
                <a:latin typeface="Calibri" pitchFamily="34" charset="0"/>
                <a:ea typeface="Calibri" pitchFamily="34" charset="-122"/>
                <a:cs typeface="Calibri" pitchFamily="34" charset="-120"/>
              </a:rPr>
              <a:t>Modelo replicable a 12 campus</a:t>
            </a:r>
            <a:endParaRPr lang="en-US" sz="900" dirty="0"/>
          </a:p>
        </p:txBody>
      </p:sp>
      <p:sp>
        <p:nvSpPr>
          <p:cNvPr id="30" name="Text 28"/>
          <p:cNvSpPr/>
          <p:nvPr/>
        </p:nvSpPr>
        <p:spPr>
          <a:xfrm>
            <a:off x="914400" y="4206240"/>
            <a:ext cx="7315200" cy="457200"/>
          </a:xfrm>
          <a:prstGeom prst="rect">
            <a:avLst/>
          </a:prstGeom>
          <a:noFill/>
          <a:ln/>
        </p:spPr>
        <p:txBody>
          <a:bodyPr wrap="square" rtlCol="0" anchor="ctr"/>
          <a:lstStyle/>
          <a:p>
            <a:pPr algn="ctr" indent="0" marL="0">
              <a:buNone/>
            </a:pPr>
            <a:r>
              <a:rPr lang="en-US" sz="1300" b="1" i="1" dirty="0">
                <a:solidFill>
                  <a:srgbClr val="FF5900"/>
                </a:solidFill>
                <a:latin typeface="Calibri" pitchFamily="34" charset="0"/>
                <a:ea typeface="Calibri" pitchFamily="34" charset="-122"/>
                <a:cs typeface="Calibri" pitchFamily="34" charset="-120"/>
              </a:rPr>
              <a:t>"No ser los primeros es una opcion. Pero ser los ultimos es un riesgo."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23"/>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F5900"/>
          </a:solidFill>
          <a:ln/>
        </p:spPr>
      </p:sp>
      <p:sp>
        <p:nvSpPr>
          <p:cNvPr id="3" name="Text 1"/>
          <p:cNvSpPr/>
          <p:nvPr/>
        </p:nvSpPr>
        <p:spPr>
          <a:xfrm>
            <a:off x="914400" y="228600"/>
            <a:ext cx="7315200" cy="457200"/>
          </a:xfrm>
          <a:prstGeom prst="rect">
            <a:avLst/>
          </a:prstGeom>
          <a:noFill/>
          <a:ln/>
        </p:spPr>
        <p:txBody>
          <a:bodyPr wrap="square" rtlCol="0" anchor="ctr"/>
          <a:lstStyle/>
          <a:p>
            <a:pPr algn="ctr" indent="0" marL="0">
              <a:buNone/>
            </a:pPr>
            <a:r>
              <a:rPr lang="en-US" sz="2000" dirty="0">
                <a:solidFill>
                  <a:srgbClr val="FFFFFF"/>
                </a:solidFill>
                <a:latin typeface="Arial Black" pitchFamily="34" charset="0"/>
                <a:ea typeface="Arial Black" pitchFamily="34" charset="-122"/>
                <a:cs typeface="Arial Black" pitchFamily="34" charset="-120"/>
              </a:rPr>
              <a:t>IA Practica para Lideres Anahuac</a:t>
            </a:r>
            <a:endParaRPr lang="en-US" sz="2000" dirty="0"/>
          </a:p>
        </p:txBody>
      </p:sp>
      <p:sp>
        <p:nvSpPr>
          <p:cNvPr id="4" name="Shape 2"/>
          <p:cNvSpPr/>
          <p:nvPr/>
        </p:nvSpPr>
        <p:spPr>
          <a:xfrm>
            <a:off x="411480" y="868680"/>
            <a:ext cx="1965960" cy="2194560"/>
          </a:xfrm>
          <a:prstGeom prst="roundRect">
            <a:avLst>
              <a:gd name="adj" fmla="val 5581"/>
            </a:avLst>
          </a:prstGeom>
          <a:solidFill>
            <a:srgbClr val="2A2A40"/>
          </a:solidFill>
          <a:ln w="12700">
            <a:solidFill>
              <a:srgbClr val="3A3A5C"/>
            </a:solidFill>
            <a:prstDash val="solid"/>
          </a:ln>
        </p:spPr>
      </p:sp>
      <p:sp>
        <p:nvSpPr>
          <p:cNvPr id="5" name="Text 3"/>
          <p:cNvSpPr/>
          <p:nvPr/>
        </p:nvSpPr>
        <p:spPr>
          <a:xfrm>
            <a:off x="411480" y="960120"/>
            <a:ext cx="1965960" cy="228600"/>
          </a:xfrm>
          <a:prstGeom prst="rect">
            <a:avLst/>
          </a:prstGeom>
          <a:noFill/>
          <a:ln/>
        </p:spPr>
        <p:txBody>
          <a:bodyPr wrap="square" rtlCol="0" anchor="ctr"/>
          <a:lstStyle/>
          <a:p>
            <a:pPr algn="ctr" indent="0" marL="0">
              <a:buNone/>
            </a:pPr>
            <a:r>
              <a:rPr lang="en-US" sz="900" spc="300" kern="0" dirty="0">
                <a:solidFill>
                  <a:srgbClr val="9CA3AF"/>
                </a:solidFill>
                <a:latin typeface="Calibri" pitchFamily="34" charset="0"/>
                <a:ea typeface="Calibri" pitchFamily="34" charset="-122"/>
                <a:cs typeface="Calibri" pitchFamily="34" charset="-120"/>
              </a:rPr>
              <a:t>FASE I</a:t>
            </a:r>
            <a:endParaRPr lang="en-US" sz="900" dirty="0"/>
          </a:p>
        </p:txBody>
      </p:sp>
      <p:sp>
        <p:nvSpPr>
          <p:cNvPr id="6" name="Text 4"/>
          <p:cNvSpPr/>
          <p:nvPr/>
        </p:nvSpPr>
        <p:spPr>
          <a:xfrm>
            <a:off x="411480" y="1188720"/>
            <a:ext cx="1965960" cy="320040"/>
          </a:xfrm>
          <a:prstGeom prst="rect">
            <a:avLst/>
          </a:prstGeom>
          <a:noFill/>
          <a:ln/>
        </p:spPr>
        <p:txBody>
          <a:bodyPr wrap="square" rtlCol="0" anchor="ctr"/>
          <a:lstStyle/>
          <a:p>
            <a:pPr algn="ctr" indent="0" marL="0">
              <a:buNone/>
            </a:pPr>
            <a:r>
              <a:rPr lang="en-US" sz="1400" b="1" dirty="0">
                <a:solidFill>
                  <a:srgbClr val="FF5900"/>
                </a:solidFill>
                <a:latin typeface="Arial Black" pitchFamily="34" charset="0"/>
                <a:ea typeface="Arial Black" pitchFamily="34" charset="-122"/>
                <a:cs typeface="Arial Black" pitchFamily="34" charset="-120"/>
              </a:rPr>
              <a:t>ENTENDER</a:t>
            </a:r>
            <a:endParaRPr lang="en-US" sz="1400" dirty="0"/>
          </a:p>
        </p:txBody>
      </p:sp>
      <p:sp>
        <p:nvSpPr>
          <p:cNvPr id="7" name="Text 5"/>
          <p:cNvSpPr/>
          <p:nvPr/>
        </p:nvSpPr>
        <p:spPr>
          <a:xfrm>
            <a:off x="548640" y="1600200"/>
            <a:ext cx="1691640" cy="822960"/>
          </a:xfrm>
          <a:prstGeom prst="rect">
            <a:avLst/>
          </a:prstGeom>
          <a:noFill/>
          <a:ln/>
        </p:spPr>
        <p:txBody>
          <a:bodyPr wrap="square" rtlCol="0" anchor="ctr"/>
          <a:lstStyle/>
          <a:p>
            <a:pPr indent="0" marL="0">
              <a:lnSpc>
                <a:spcPts val="1500"/>
              </a:lnSpc>
              <a:buNone/>
            </a:pPr>
            <a:r>
              <a:rPr lang="en-US" sz="950" dirty="0">
                <a:solidFill>
                  <a:srgbClr val="C8C8D8"/>
                </a:solidFill>
                <a:latin typeface="Calibri" pitchFamily="34" charset="0"/>
                <a:ea typeface="Calibri" pitchFamily="34" charset="-122"/>
                <a:cs typeface="Calibri" pitchFamily="34" charset="-120"/>
              </a:rPr>
              <a:t>M1: Fundamentos IA</a:t>
            </a:r>
            <a:endParaRPr lang="en-US" sz="950" dirty="0"/>
          </a:p>
          <a:p>
            <a:pPr indent="0" marL="0">
              <a:lnSpc>
                <a:spcPts val="1500"/>
              </a:lnSpc>
              <a:buNone/>
            </a:pPr>
            <a:r>
              <a:rPr lang="en-US" sz="950" dirty="0">
                <a:solidFill>
                  <a:srgbClr val="C8C8D8"/>
                </a:solidFill>
                <a:latin typeface="Calibri" pitchFamily="34" charset="0"/>
                <a:ea typeface="Calibri" pitchFamily="34" charset="-122"/>
                <a:cs typeface="Calibri" pitchFamily="34" charset="-120"/>
              </a:rPr>
              <a:t>M2: Frameworks de Prompts</a:t>
            </a:r>
            <a:endParaRPr lang="en-US" sz="950" dirty="0"/>
          </a:p>
        </p:txBody>
      </p:sp>
      <p:sp>
        <p:nvSpPr>
          <p:cNvPr id="8" name="Shape 6"/>
          <p:cNvSpPr/>
          <p:nvPr/>
        </p:nvSpPr>
        <p:spPr>
          <a:xfrm>
            <a:off x="594360" y="2560320"/>
            <a:ext cx="1600200" cy="320040"/>
          </a:xfrm>
          <a:prstGeom prst="roundRect">
            <a:avLst>
              <a:gd name="adj" fmla="val 48571"/>
            </a:avLst>
          </a:prstGeom>
          <a:solidFill>
            <a:srgbClr val="10B981"/>
          </a:solidFill>
          <a:ln/>
        </p:spPr>
      </p:sp>
      <p:sp>
        <p:nvSpPr>
          <p:cNvPr id="9" name="Text 7"/>
          <p:cNvSpPr/>
          <p:nvPr/>
        </p:nvSpPr>
        <p:spPr>
          <a:xfrm>
            <a:off x="594360" y="2560320"/>
            <a:ext cx="1600200" cy="32004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Explorador IA</a:t>
            </a:r>
            <a:endParaRPr lang="en-US" sz="900" dirty="0"/>
          </a:p>
        </p:txBody>
      </p:sp>
      <p:sp>
        <p:nvSpPr>
          <p:cNvPr id="10" name="Shape 8"/>
          <p:cNvSpPr/>
          <p:nvPr/>
        </p:nvSpPr>
        <p:spPr>
          <a:xfrm>
            <a:off x="2560320" y="868680"/>
            <a:ext cx="1965960" cy="2194560"/>
          </a:xfrm>
          <a:prstGeom prst="roundRect">
            <a:avLst>
              <a:gd name="adj" fmla="val 5581"/>
            </a:avLst>
          </a:prstGeom>
          <a:solidFill>
            <a:srgbClr val="2A2A40"/>
          </a:solidFill>
          <a:ln w="12700">
            <a:solidFill>
              <a:srgbClr val="3A3A5C"/>
            </a:solidFill>
            <a:prstDash val="solid"/>
          </a:ln>
        </p:spPr>
      </p:sp>
      <p:sp>
        <p:nvSpPr>
          <p:cNvPr id="11" name="Text 9"/>
          <p:cNvSpPr/>
          <p:nvPr/>
        </p:nvSpPr>
        <p:spPr>
          <a:xfrm>
            <a:off x="2560320" y="960120"/>
            <a:ext cx="1965960" cy="228600"/>
          </a:xfrm>
          <a:prstGeom prst="rect">
            <a:avLst/>
          </a:prstGeom>
          <a:noFill/>
          <a:ln/>
        </p:spPr>
        <p:txBody>
          <a:bodyPr wrap="square" rtlCol="0" anchor="ctr"/>
          <a:lstStyle/>
          <a:p>
            <a:pPr algn="ctr" indent="0" marL="0">
              <a:buNone/>
            </a:pPr>
            <a:r>
              <a:rPr lang="en-US" sz="900" spc="300" kern="0" dirty="0">
                <a:solidFill>
                  <a:srgbClr val="9CA3AF"/>
                </a:solidFill>
                <a:latin typeface="Calibri" pitchFamily="34" charset="0"/>
                <a:ea typeface="Calibri" pitchFamily="34" charset="-122"/>
                <a:cs typeface="Calibri" pitchFamily="34" charset="-120"/>
              </a:rPr>
              <a:t>FASE II</a:t>
            </a:r>
            <a:endParaRPr lang="en-US" sz="900" dirty="0"/>
          </a:p>
        </p:txBody>
      </p:sp>
      <p:sp>
        <p:nvSpPr>
          <p:cNvPr id="12" name="Text 10"/>
          <p:cNvSpPr/>
          <p:nvPr/>
        </p:nvSpPr>
        <p:spPr>
          <a:xfrm>
            <a:off x="2560320" y="1188720"/>
            <a:ext cx="1965960" cy="320040"/>
          </a:xfrm>
          <a:prstGeom prst="rect">
            <a:avLst/>
          </a:prstGeom>
          <a:noFill/>
          <a:ln/>
        </p:spPr>
        <p:txBody>
          <a:bodyPr wrap="square" rtlCol="0" anchor="ctr"/>
          <a:lstStyle/>
          <a:p>
            <a:pPr algn="ctr" indent="0" marL="0">
              <a:buNone/>
            </a:pPr>
            <a:r>
              <a:rPr lang="en-US" sz="1400" b="1" dirty="0">
                <a:solidFill>
                  <a:srgbClr val="FF5900"/>
                </a:solidFill>
                <a:latin typeface="Arial Black" pitchFamily="34" charset="0"/>
                <a:ea typeface="Arial Black" pitchFamily="34" charset="-122"/>
                <a:cs typeface="Arial Black" pitchFamily="34" charset="-120"/>
              </a:rPr>
              <a:t>USAR</a:t>
            </a:r>
            <a:endParaRPr lang="en-US" sz="1400" dirty="0"/>
          </a:p>
        </p:txBody>
      </p:sp>
      <p:sp>
        <p:nvSpPr>
          <p:cNvPr id="13" name="Text 11"/>
          <p:cNvSpPr/>
          <p:nvPr/>
        </p:nvSpPr>
        <p:spPr>
          <a:xfrm>
            <a:off x="2697480" y="1600200"/>
            <a:ext cx="1691640" cy="822960"/>
          </a:xfrm>
          <a:prstGeom prst="rect">
            <a:avLst/>
          </a:prstGeom>
          <a:noFill/>
          <a:ln/>
        </p:spPr>
        <p:txBody>
          <a:bodyPr wrap="square" rtlCol="0" anchor="ctr"/>
          <a:lstStyle/>
          <a:p>
            <a:pPr indent="0" marL="0">
              <a:lnSpc>
                <a:spcPts val="1500"/>
              </a:lnSpc>
              <a:buNone/>
            </a:pPr>
            <a:r>
              <a:rPr lang="en-US" sz="950" dirty="0">
                <a:solidFill>
                  <a:srgbClr val="C8C8D8"/>
                </a:solidFill>
                <a:latin typeface="Calibri" pitchFamily="34" charset="0"/>
                <a:ea typeface="Calibri" pitchFamily="34" charset="-122"/>
                <a:cs typeface="Calibri" pitchFamily="34" charset="-120"/>
              </a:rPr>
              <a:t>M3: Email y Comunicados</a:t>
            </a:r>
            <a:endParaRPr lang="en-US" sz="950" dirty="0"/>
          </a:p>
          <a:p>
            <a:pPr indent="0" marL="0">
              <a:lnSpc>
                <a:spcPts val="1500"/>
              </a:lnSpc>
              <a:buNone/>
            </a:pPr>
            <a:r>
              <a:rPr lang="en-US" sz="950" dirty="0">
                <a:solidFill>
                  <a:srgbClr val="C8C8D8"/>
                </a:solidFill>
                <a:latin typeface="Calibri" pitchFamily="34" charset="0"/>
                <a:ea typeface="Calibri" pitchFamily="34" charset="-122"/>
                <a:cs typeface="Calibri" pitchFamily="34" charset="-120"/>
              </a:rPr>
              <a:t>M4: Analisis de Reportes</a:t>
            </a:r>
            <a:endParaRPr lang="en-US" sz="950" dirty="0"/>
          </a:p>
        </p:txBody>
      </p:sp>
      <p:sp>
        <p:nvSpPr>
          <p:cNvPr id="14" name="Shape 12"/>
          <p:cNvSpPr/>
          <p:nvPr/>
        </p:nvSpPr>
        <p:spPr>
          <a:xfrm>
            <a:off x="4709160" y="868680"/>
            <a:ext cx="1965960" cy="2194560"/>
          </a:xfrm>
          <a:prstGeom prst="roundRect">
            <a:avLst>
              <a:gd name="adj" fmla="val 5581"/>
            </a:avLst>
          </a:prstGeom>
          <a:solidFill>
            <a:srgbClr val="2A2A40"/>
          </a:solidFill>
          <a:ln w="12700">
            <a:solidFill>
              <a:srgbClr val="3A3A5C"/>
            </a:solidFill>
            <a:prstDash val="solid"/>
          </a:ln>
        </p:spPr>
      </p:sp>
      <p:sp>
        <p:nvSpPr>
          <p:cNvPr id="15" name="Text 13"/>
          <p:cNvSpPr/>
          <p:nvPr/>
        </p:nvSpPr>
        <p:spPr>
          <a:xfrm>
            <a:off x="4709160" y="960120"/>
            <a:ext cx="1965960" cy="228600"/>
          </a:xfrm>
          <a:prstGeom prst="rect">
            <a:avLst/>
          </a:prstGeom>
          <a:noFill/>
          <a:ln/>
        </p:spPr>
        <p:txBody>
          <a:bodyPr wrap="square" rtlCol="0" anchor="ctr"/>
          <a:lstStyle/>
          <a:p>
            <a:pPr algn="ctr" indent="0" marL="0">
              <a:buNone/>
            </a:pPr>
            <a:r>
              <a:rPr lang="en-US" sz="900" spc="300" kern="0" dirty="0">
                <a:solidFill>
                  <a:srgbClr val="9CA3AF"/>
                </a:solidFill>
                <a:latin typeface="Calibri" pitchFamily="34" charset="0"/>
                <a:ea typeface="Calibri" pitchFamily="34" charset="-122"/>
                <a:cs typeface="Calibri" pitchFamily="34" charset="-120"/>
              </a:rPr>
              <a:t>FASE III</a:t>
            </a:r>
            <a:endParaRPr lang="en-US" sz="900" dirty="0"/>
          </a:p>
        </p:txBody>
      </p:sp>
      <p:sp>
        <p:nvSpPr>
          <p:cNvPr id="16" name="Text 14"/>
          <p:cNvSpPr/>
          <p:nvPr/>
        </p:nvSpPr>
        <p:spPr>
          <a:xfrm>
            <a:off x="4709160" y="1188720"/>
            <a:ext cx="1965960" cy="320040"/>
          </a:xfrm>
          <a:prstGeom prst="rect">
            <a:avLst/>
          </a:prstGeom>
          <a:noFill/>
          <a:ln/>
        </p:spPr>
        <p:txBody>
          <a:bodyPr wrap="square" rtlCol="0" anchor="ctr"/>
          <a:lstStyle/>
          <a:p>
            <a:pPr algn="ctr" indent="0" marL="0">
              <a:buNone/>
            </a:pPr>
            <a:r>
              <a:rPr lang="en-US" sz="1400" b="1" dirty="0">
                <a:solidFill>
                  <a:srgbClr val="FF5900"/>
                </a:solidFill>
                <a:latin typeface="Arial Black" pitchFamily="34" charset="0"/>
                <a:ea typeface="Arial Black" pitchFamily="34" charset="-122"/>
                <a:cs typeface="Arial Black" pitchFamily="34" charset="-120"/>
              </a:rPr>
              <a:t>ACELERAR</a:t>
            </a:r>
            <a:endParaRPr lang="en-US" sz="1400" dirty="0"/>
          </a:p>
        </p:txBody>
      </p:sp>
      <p:sp>
        <p:nvSpPr>
          <p:cNvPr id="17" name="Text 15"/>
          <p:cNvSpPr/>
          <p:nvPr/>
        </p:nvSpPr>
        <p:spPr>
          <a:xfrm>
            <a:off x="4846320" y="1600200"/>
            <a:ext cx="1691640" cy="822960"/>
          </a:xfrm>
          <a:prstGeom prst="rect">
            <a:avLst/>
          </a:prstGeom>
          <a:noFill/>
          <a:ln/>
        </p:spPr>
        <p:txBody>
          <a:bodyPr wrap="square" rtlCol="0" anchor="ctr"/>
          <a:lstStyle/>
          <a:p>
            <a:pPr indent="0" marL="0">
              <a:lnSpc>
                <a:spcPts val="1500"/>
              </a:lnSpc>
              <a:buNone/>
            </a:pPr>
            <a:r>
              <a:rPr lang="en-US" sz="950" dirty="0">
                <a:solidFill>
                  <a:srgbClr val="C8C8D8"/>
                </a:solidFill>
                <a:latin typeface="Calibri" pitchFamily="34" charset="0"/>
                <a:ea typeface="Calibri" pitchFamily="34" charset="-122"/>
                <a:cs typeface="Calibri" pitchFamily="34" charset="-120"/>
              </a:rPr>
              <a:t>M5: Automatizacion</a:t>
            </a:r>
            <a:endParaRPr lang="en-US" sz="950" dirty="0"/>
          </a:p>
          <a:p>
            <a:pPr indent="0" marL="0">
              <a:lnSpc>
                <a:spcPts val="1500"/>
              </a:lnSpc>
              <a:buNone/>
            </a:pPr>
            <a:r>
              <a:rPr lang="en-US" sz="950" dirty="0">
                <a:solidFill>
                  <a:srgbClr val="C8C8D8"/>
                </a:solidFill>
                <a:latin typeface="Calibri" pitchFamily="34" charset="0"/>
                <a:ea typeface="Calibri" pitchFamily="34" charset="-122"/>
                <a:cs typeface="Calibri" pitchFamily="34" charset="-120"/>
              </a:rPr>
              <a:t>M6: Atencion Stakeholders</a:t>
            </a:r>
            <a:endParaRPr lang="en-US" sz="950" dirty="0"/>
          </a:p>
        </p:txBody>
      </p:sp>
      <p:sp>
        <p:nvSpPr>
          <p:cNvPr id="18" name="Shape 16"/>
          <p:cNvSpPr/>
          <p:nvPr/>
        </p:nvSpPr>
        <p:spPr>
          <a:xfrm>
            <a:off x="4892040" y="2560320"/>
            <a:ext cx="1600200" cy="320040"/>
          </a:xfrm>
          <a:prstGeom prst="roundRect">
            <a:avLst>
              <a:gd name="adj" fmla="val 48571"/>
            </a:avLst>
          </a:prstGeom>
          <a:solidFill>
            <a:srgbClr val="3B82F6"/>
          </a:solidFill>
          <a:ln/>
        </p:spPr>
      </p:sp>
      <p:sp>
        <p:nvSpPr>
          <p:cNvPr id="19" name="Text 17"/>
          <p:cNvSpPr/>
          <p:nvPr/>
        </p:nvSpPr>
        <p:spPr>
          <a:xfrm>
            <a:off x="4892040" y="2560320"/>
            <a:ext cx="1600200" cy="32004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Estratega IA</a:t>
            </a:r>
            <a:endParaRPr lang="en-US" sz="900" dirty="0"/>
          </a:p>
        </p:txBody>
      </p:sp>
      <p:sp>
        <p:nvSpPr>
          <p:cNvPr id="20" name="Shape 18"/>
          <p:cNvSpPr/>
          <p:nvPr/>
        </p:nvSpPr>
        <p:spPr>
          <a:xfrm>
            <a:off x="6858000" y="868680"/>
            <a:ext cx="1965960" cy="2194560"/>
          </a:xfrm>
          <a:prstGeom prst="roundRect">
            <a:avLst>
              <a:gd name="adj" fmla="val 5581"/>
            </a:avLst>
          </a:prstGeom>
          <a:solidFill>
            <a:srgbClr val="2A2A40"/>
          </a:solidFill>
          <a:ln w="12700">
            <a:solidFill>
              <a:srgbClr val="3A3A5C"/>
            </a:solidFill>
            <a:prstDash val="solid"/>
          </a:ln>
        </p:spPr>
      </p:sp>
      <p:sp>
        <p:nvSpPr>
          <p:cNvPr id="21" name="Text 19"/>
          <p:cNvSpPr/>
          <p:nvPr/>
        </p:nvSpPr>
        <p:spPr>
          <a:xfrm>
            <a:off x="6858000" y="960120"/>
            <a:ext cx="1965960" cy="228600"/>
          </a:xfrm>
          <a:prstGeom prst="rect">
            <a:avLst/>
          </a:prstGeom>
          <a:noFill/>
          <a:ln/>
        </p:spPr>
        <p:txBody>
          <a:bodyPr wrap="square" rtlCol="0" anchor="ctr"/>
          <a:lstStyle/>
          <a:p>
            <a:pPr algn="ctr" indent="0" marL="0">
              <a:buNone/>
            </a:pPr>
            <a:r>
              <a:rPr lang="en-US" sz="900" spc="300" kern="0" dirty="0">
                <a:solidFill>
                  <a:srgbClr val="9CA3AF"/>
                </a:solidFill>
                <a:latin typeface="Calibri" pitchFamily="34" charset="0"/>
                <a:ea typeface="Calibri" pitchFamily="34" charset="-122"/>
                <a:cs typeface="Calibri" pitchFamily="34" charset="-120"/>
              </a:rPr>
              <a:t>FASE IV</a:t>
            </a:r>
            <a:endParaRPr lang="en-US" sz="900" dirty="0"/>
          </a:p>
        </p:txBody>
      </p:sp>
      <p:sp>
        <p:nvSpPr>
          <p:cNvPr id="22" name="Text 20"/>
          <p:cNvSpPr/>
          <p:nvPr/>
        </p:nvSpPr>
        <p:spPr>
          <a:xfrm>
            <a:off x="6858000" y="1188720"/>
            <a:ext cx="1965960" cy="320040"/>
          </a:xfrm>
          <a:prstGeom prst="rect">
            <a:avLst/>
          </a:prstGeom>
          <a:noFill/>
          <a:ln/>
        </p:spPr>
        <p:txBody>
          <a:bodyPr wrap="square" rtlCol="0" anchor="ctr"/>
          <a:lstStyle/>
          <a:p>
            <a:pPr algn="ctr" indent="0" marL="0">
              <a:buNone/>
            </a:pPr>
            <a:r>
              <a:rPr lang="en-US" sz="1400" b="1" dirty="0">
                <a:solidFill>
                  <a:srgbClr val="FF5900"/>
                </a:solidFill>
                <a:latin typeface="Arial Black" pitchFamily="34" charset="0"/>
                <a:ea typeface="Arial Black" pitchFamily="34" charset="-122"/>
                <a:cs typeface="Arial Black" pitchFamily="34" charset="-120"/>
              </a:rPr>
              <a:t>INTEGRAR</a:t>
            </a:r>
            <a:endParaRPr lang="en-US" sz="1400" dirty="0"/>
          </a:p>
        </p:txBody>
      </p:sp>
      <p:sp>
        <p:nvSpPr>
          <p:cNvPr id="23" name="Text 21"/>
          <p:cNvSpPr/>
          <p:nvPr/>
        </p:nvSpPr>
        <p:spPr>
          <a:xfrm>
            <a:off x="6995160" y="1600200"/>
            <a:ext cx="1691640" cy="822960"/>
          </a:xfrm>
          <a:prstGeom prst="rect">
            <a:avLst/>
          </a:prstGeom>
          <a:noFill/>
          <a:ln/>
        </p:spPr>
        <p:txBody>
          <a:bodyPr wrap="square" rtlCol="0" anchor="ctr"/>
          <a:lstStyle/>
          <a:p>
            <a:pPr indent="0" marL="0">
              <a:lnSpc>
                <a:spcPts val="1500"/>
              </a:lnSpc>
              <a:buNone/>
            </a:pPr>
            <a:r>
              <a:rPr lang="en-US" sz="950" dirty="0">
                <a:solidFill>
                  <a:srgbClr val="C8C8D8"/>
                </a:solidFill>
                <a:latin typeface="Calibri" pitchFamily="34" charset="0"/>
                <a:ea typeface="Calibri" pitchFamily="34" charset="-122"/>
                <a:cs typeface="Calibri" pitchFamily="34" charset="-120"/>
              </a:rPr>
              <a:t>M7: Gestion Proyectos</a:t>
            </a:r>
            <a:endParaRPr lang="en-US" sz="950" dirty="0"/>
          </a:p>
          <a:p>
            <a:pPr indent="0" marL="0">
              <a:lnSpc>
                <a:spcPts val="1500"/>
              </a:lnSpc>
              <a:buNone/>
            </a:pPr>
            <a:r>
              <a:rPr lang="en-US" sz="950" dirty="0">
                <a:solidFill>
                  <a:srgbClr val="C8C8D8"/>
                </a:solidFill>
                <a:latin typeface="Calibri" pitchFamily="34" charset="0"/>
                <a:ea typeface="Calibri" pitchFamily="34" charset="-122"/>
                <a:cs typeface="Calibri" pitchFamily="34" charset="-120"/>
              </a:rPr>
              <a:t>M8: Agentes y Ecosistema</a:t>
            </a:r>
            <a:endParaRPr lang="en-US" sz="950" dirty="0"/>
          </a:p>
        </p:txBody>
      </p:sp>
      <p:sp>
        <p:nvSpPr>
          <p:cNvPr id="24" name="Shape 22"/>
          <p:cNvSpPr/>
          <p:nvPr/>
        </p:nvSpPr>
        <p:spPr>
          <a:xfrm>
            <a:off x="7040880" y="2560320"/>
            <a:ext cx="1600200" cy="320040"/>
          </a:xfrm>
          <a:prstGeom prst="roundRect">
            <a:avLst>
              <a:gd name="adj" fmla="val 48571"/>
            </a:avLst>
          </a:prstGeom>
          <a:solidFill>
            <a:srgbClr val="432F64"/>
          </a:solidFill>
          <a:ln/>
        </p:spPr>
      </p:sp>
      <p:sp>
        <p:nvSpPr>
          <p:cNvPr id="25" name="Text 23"/>
          <p:cNvSpPr/>
          <p:nvPr/>
        </p:nvSpPr>
        <p:spPr>
          <a:xfrm>
            <a:off x="7040880" y="2560320"/>
            <a:ext cx="1600200" cy="320040"/>
          </a:xfrm>
          <a:prstGeom prst="rect">
            <a:avLst/>
          </a:prstGeom>
          <a:noFill/>
          <a:ln/>
        </p:spPr>
        <p:txBody>
          <a:bodyPr wrap="square"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Lider IA</a:t>
            </a:r>
            <a:endParaRPr lang="en-US" sz="900" dirty="0"/>
          </a:p>
        </p:txBody>
      </p:sp>
      <p:sp>
        <p:nvSpPr>
          <p:cNvPr id="26" name="Text 24"/>
          <p:cNvSpPr/>
          <p:nvPr/>
        </p:nvSpPr>
        <p:spPr>
          <a:xfrm>
            <a:off x="2423160" y="1737360"/>
            <a:ext cx="274320" cy="365760"/>
          </a:xfrm>
          <a:prstGeom prst="rect">
            <a:avLst/>
          </a:prstGeom>
          <a:noFill/>
          <a:ln/>
        </p:spPr>
        <p:txBody>
          <a:bodyPr wrap="square" rtlCol="0" anchor="ctr"/>
          <a:lstStyle/>
          <a:p>
            <a:pPr algn="ctr" indent="0" marL="0">
              <a:buNone/>
            </a:pPr>
            <a:r>
              <a:rPr lang="en-US" sz="1400" dirty="0">
                <a:solidFill>
                  <a:srgbClr val="FF5900"/>
                </a:solidFill>
              </a:rPr>
              <a:t>▶</a:t>
            </a:r>
            <a:endParaRPr lang="en-US" sz="1400" dirty="0"/>
          </a:p>
        </p:txBody>
      </p:sp>
      <p:sp>
        <p:nvSpPr>
          <p:cNvPr id="27" name="Text 25"/>
          <p:cNvSpPr/>
          <p:nvPr/>
        </p:nvSpPr>
        <p:spPr>
          <a:xfrm>
            <a:off x="4572000" y="1737360"/>
            <a:ext cx="274320" cy="365760"/>
          </a:xfrm>
          <a:prstGeom prst="rect">
            <a:avLst/>
          </a:prstGeom>
          <a:noFill/>
          <a:ln/>
        </p:spPr>
        <p:txBody>
          <a:bodyPr wrap="square" rtlCol="0" anchor="ctr"/>
          <a:lstStyle/>
          <a:p>
            <a:pPr algn="ctr" indent="0" marL="0">
              <a:buNone/>
            </a:pPr>
            <a:r>
              <a:rPr lang="en-US" sz="1400" dirty="0">
                <a:solidFill>
                  <a:srgbClr val="FF5900"/>
                </a:solidFill>
              </a:rPr>
              <a:t>▶</a:t>
            </a:r>
            <a:endParaRPr lang="en-US" sz="1400" dirty="0"/>
          </a:p>
        </p:txBody>
      </p:sp>
      <p:sp>
        <p:nvSpPr>
          <p:cNvPr id="28" name="Text 26"/>
          <p:cNvSpPr/>
          <p:nvPr/>
        </p:nvSpPr>
        <p:spPr>
          <a:xfrm>
            <a:off x="6720840" y="1737360"/>
            <a:ext cx="274320" cy="365760"/>
          </a:xfrm>
          <a:prstGeom prst="rect">
            <a:avLst/>
          </a:prstGeom>
          <a:noFill/>
          <a:ln/>
        </p:spPr>
        <p:txBody>
          <a:bodyPr wrap="square" rtlCol="0" anchor="ctr"/>
          <a:lstStyle/>
          <a:p>
            <a:pPr algn="ctr" indent="0" marL="0">
              <a:buNone/>
            </a:pPr>
            <a:r>
              <a:rPr lang="en-US" sz="1400" dirty="0">
                <a:solidFill>
                  <a:srgbClr val="FF5900"/>
                </a:solidFill>
              </a:rPr>
              <a:t>▶</a:t>
            </a:r>
            <a:endParaRPr lang="en-US" sz="1400" dirty="0"/>
          </a:p>
        </p:txBody>
      </p:sp>
      <p:sp>
        <p:nvSpPr>
          <p:cNvPr id="29" name="Shape 27"/>
          <p:cNvSpPr/>
          <p:nvPr/>
        </p:nvSpPr>
        <p:spPr>
          <a:xfrm>
            <a:off x="274320" y="3337560"/>
            <a:ext cx="1600200" cy="685800"/>
          </a:xfrm>
          <a:prstGeom prst="roundRect">
            <a:avLst>
              <a:gd name="adj" fmla="val 10667"/>
            </a:avLst>
          </a:prstGeom>
          <a:solidFill>
            <a:srgbClr val="2A2A40"/>
          </a:solidFill>
          <a:ln/>
        </p:spPr>
      </p:sp>
      <p:sp>
        <p:nvSpPr>
          <p:cNvPr id="30" name="Text 28"/>
          <p:cNvSpPr/>
          <p:nvPr/>
        </p:nvSpPr>
        <p:spPr>
          <a:xfrm>
            <a:off x="274320" y="3337560"/>
            <a:ext cx="1600200" cy="365760"/>
          </a:xfrm>
          <a:prstGeom prst="rect">
            <a:avLst/>
          </a:prstGeom>
          <a:noFill/>
          <a:ln/>
        </p:spPr>
        <p:txBody>
          <a:bodyPr wrap="square" rtlCol="0" anchor="b"/>
          <a:lstStyle/>
          <a:p>
            <a:pPr algn="ctr" indent="0" marL="0">
              <a:buNone/>
            </a:pPr>
            <a:r>
              <a:rPr lang="en-US" sz="1800" b="1" dirty="0">
                <a:solidFill>
                  <a:srgbClr val="FF5900"/>
                </a:solidFill>
                <a:latin typeface="Arial Black" pitchFamily="34" charset="0"/>
                <a:ea typeface="Arial Black" pitchFamily="34" charset="-122"/>
                <a:cs typeface="Arial Black" pitchFamily="34" charset="-120"/>
              </a:rPr>
              <a:t>8</a:t>
            </a:r>
            <a:endParaRPr lang="en-US" sz="1800" dirty="0"/>
          </a:p>
        </p:txBody>
      </p:sp>
      <p:sp>
        <p:nvSpPr>
          <p:cNvPr id="31" name="Text 29"/>
          <p:cNvSpPr/>
          <p:nvPr/>
        </p:nvSpPr>
        <p:spPr>
          <a:xfrm>
            <a:off x="274320" y="3703320"/>
            <a:ext cx="1600200" cy="320040"/>
          </a:xfrm>
          <a:prstGeom prst="rect">
            <a:avLst/>
          </a:prstGeom>
          <a:noFill/>
          <a:ln/>
        </p:spPr>
        <p:txBody>
          <a:bodyPr wrap="square" rtlCol="0" anchor="t"/>
          <a:lstStyle/>
          <a:p>
            <a:pPr algn="ctr" indent="0" marL="0">
              <a:buNone/>
            </a:pPr>
            <a:r>
              <a:rPr lang="en-US" sz="900" dirty="0">
                <a:solidFill>
                  <a:srgbClr val="9CA3AF"/>
                </a:solidFill>
                <a:latin typeface="Calibri" pitchFamily="34" charset="0"/>
                <a:ea typeface="Calibri" pitchFamily="34" charset="-122"/>
                <a:cs typeface="Calibri" pitchFamily="34" charset="-120"/>
              </a:rPr>
              <a:t>niveles</a:t>
            </a:r>
            <a:endParaRPr lang="en-US" sz="900" dirty="0"/>
          </a:p>
        </p:txBody>
      </p:sp>
      <p:sp>
        <p:nvSpPr>
          <p:cNvPr id="32" name="Shape 30"/>
          <p:cNvSpPr/>
          <p:nvPr/>
        </p:nvSpPr>
        <p:spPr>
          <a:xfrm>
            <a:off x="2057400" y="3337560"/>
            <a:ext cx="1600200" cy="685800"/>
          </a:xfrm>
          <a:prstGeom prst="roundRect">
            <a:avLst>
              <a:gd name="adj" fmla="val 10667"/>
            </a:avLst>
          </a:prstGeom>
          <a:solidFill>
            <a:srgbClr val="2A2A40"/>
          </a:solidFill>
          <a:ln/>
        </p:spPr>
      </p:sp>
      <p:sp>
        <p:nvSpPr>
          <p:cNvPr id="33" name="Text 31"/>
          <p:cNvSpPr/>
          <p:nvPr/>
        </p:nvSpPr>
        <p:spPr>
          <a:xfrm>
            <a:off x="2057400" y="3337560"/>
            <a:ext cx="1600200" cy="365760"/>
          </a:xfrm>
          <a:prstGeom prst="rect">
            <a:avLst/>
          </a:prstGeom>
          <a:noFill/>
          <a:ln/>
        </p:spPr>
        <p:txBody>
          <a:bodyPr wrap="square" rtlCol="0" anchor="b"/>
          <a:lstStyle/>
          <a:p>
            <a:pPr algn="ctr" indent="0" marL="0">
              <a:buNone/>
            </a:pPr>
            <a:r>
              <a:rPr lang="en-US" sz="1800" b="1" dirty="0">
                <a:solidFill>
                  <a:srgbClr val="FF5900"/>
                </a:solidFill>
                <a:latin typeface="Arial Black" pitchFamily="34" charset="0"/>
                <a:ea typeface="Arial Black" pitchFamily="34" charset="-122"/>
                <a:cs typeface="Arial Black" pitchFamily="34" charset="-120"/>
              </a:rPr>
              <a:t>2</a:t>
            </a:r>
            <a:endParaRPr lang="en-US" sz="1800" dirty="0"/>
          </a:p>
        </p:txBody>
      </p:sp>
      <p:sp>
        <p:nvSpPr>
          <p:cNvPr id="34" name="Text 32"/>
          <p:cNvSpPr/>
          <p:nvPr/>
        </p:nvSpPr>
        <p:spPr>
          <a:xfrm>
            <a:off x="2057400" y="3703320"/>
            <a:ext cx="1600200" cy="320040"/>
          </a:xfrm>
          <a:prstGeom prst="rect">
            <a:avLst/>
          </a:prstGeom>
          <a:noFill/>
          <a:ln/>
        </p:spPr>
        <p:txBody>
          <a:bodyPr wrap="square" rtlCol="0" anchor="t"/>
          <a:lstStyle/>
          <a:p>
            <a:pPr algn="ctr" indent="0" marL="0">
              <a:buNone/>
            </a:pPr>
            <a:r>
              <a:rPr lang="en-US" sz="900" dirty="0">
                <a:solidFill>
                  <a:srgbClr val="9CA3AF"/>
                </a:solidFill>
                <a:latin typeface="Calibri" pitchFamily="34" charset="0"/>
                <a:ea typeface="Calibri" pitchFamily="34" charset="-122"/>
                <a:cs typeface="Calibri" pitchFamily="34" charset="-120"/>
              </a:rPr>
              <a:t>versiones</a:t>
            </a:r>
            <a:endParaRPr lang="en-US" sz="900" dirty="0"/>
          </a:p>
        </p:txBody>
      </p:sp>
      <p:sp>
        <p:nvSpPr>
          <p:cNvPr id="35" name="Shape 33"/>
          <p:cNvSpPr/>
          <p:nvPr/>
        </p:nvSpPr>
        <p:spPr>
          <a:xfrm>
            <a:off x="3840480" y="3337560"/>
            <a:ext cx="1600200" cy="685800"/>
          </a:xfrm>
          <a:prstGeom prst="roundRect">
            <a:avLst>
              <a:gd name="adj" fmla="val 10667"/>
            </a:avLst>
          </a:prstGeom>
          <a:solidFill>
            <a:srgbClr val="2A2A40"/>
          </a:solidFill>
          <a:ln/>
        </p:spPr>
      </p:sp>
      <p:sp>
        <p:nvSpPr>
          <p:cNvPr id="36" name="Text 34"/>
          <p:cNvSpPr/>
          <p:nvPr/>
        </p:nvSpPr>
        <p:spPr>
          <a:xfrm>
            <a:off x="3840480" y="3337560"/>
            <a:ext cx="1600200" cy="365760"/>
          </a:xfrm>
          <a:prstGeom prst="rect">
            <a:avLst/>
          </a:prstGeom>
          <a:noFill/>
          <a:ln/>
        </p:spPr>
        <p:txBody>
          <a:bodyPr wrap="square" rtlCol="0" anchor="b"/>
          <a:lstStyle/>
          <a:p>
            <a:pPr algn="ctr" indent="0" marL="0">
              <a:buNone/>
            </a:pPr>
            <a:r>
              <a:rPr lang="en-US" sz="1800" b="1" dirty="0">
                <a:solidFill>
                  <a:srgbClr val="FF5900"/>
                </a:solidFill>
                <a:latin typeface="Arial Black" pitchFamily="34" charset="0"/>
                <a:ea typeface="Arial Black" pitchFamily="34" charset="-122"/>
                <a:cs typeface="Arial Black" pitchFamily="34" charset="-120"/>
              </a:rPr>
              <a:t>6.5</a:t>
            </a:r>
            <a:endParaRPr lang="en-US" sz="1800" dirty="0"/>
          </a:p>
        </p:txBody>
      </p:sp>
      <p:sp>
        <p:nvSpPr>
          <p:cNvPr id="37" name="Text 35"/>
          <p:cNvSpPr/>
          <p:nvPr/>
        </p:nvSpPr>
        <p:spPr>
          <a:xfrm>
            <a:off x="3840480" y="3703320"/>
            <a:ext cx="1600200" cy="320040"/>
          </a:xfrm>
          <a:prstGeom prst="rect">
            <a:avLst/>
          </a:prstGeom>
          <a:noFill/>
          <a:ln/>
        </p:spPr>
        <p:txBody>
          <a:bodyPr wrap="square" rtlCol="0" anchor="t"/>
          <a:lstStyle/>
          <a:p>
            <a:pPr algn="ctr" indent="0" marL="0">
              <a:buNone/>
            </a:pPr>
            <a:r>
              <a:rPr lang="en-US" sz="900" dirty="0">
                <a:solidFill>
                  <a:srgbClr val="9CA3AF"/>
                </a:solidFill>
                <a:latin typeface="Calibri" pitchFamily="34" charset="0"/>
                <a:ea typeface="Calibri" pitchFamily="34" charset="-122"/>
                <a:cs typeface="Calibri" pitchFamily="34" charset="-120"/>
              </a:rPr>
              <a:t>creditos SATCA</a:t>
            </a:r>
            <a:endParaRPr lang="en-US" sz="900" dirty="0"/>
          </a:p>
        </p:txBody>
      </p:sp>
      <p:sp>
        <p:nvSpPr>
          <p:cNvPr id="38" name="Shape 36"/>
          <p:cNvSpPr/>
          <p:nvPr/>
        </p:nvSpPr>
        <p:spPr>
          <a:xfrm>
            <a:off x="5623560" y="3337560"/>
            <a:ext cx="1600200" cy="685800"/>
          </a:xfrm>
          <a:prstGeom prst="roundRect">
            <a:avLst>
              <a:gd name="adj" fmla="val 10667"/>
            </a:avLst>
          </a:prstGeom>
          <a:solidFill>
            <a:srgbClr val="2A2A40"/>
          </a:solidFill>
          <a:ln/>
        </p:spPr>
      </p:sp>
      <p:sp>
        <p:nvSpPr>
          <p:cNvPr id="39" name="Text 37"/>
          <p:cNvSpPr/>
          <p:nvPr/>
        </p:nvSpPr>
        <p:spPr>
          <a:xfrm>
            <a:off x="5623560" y="3337560"/>
            <a:ext cx="1600200" cy="365760"/>
          </a:xfrm>
          <a:prstGeom prst="rect">
            <a:avLst/>
          </a:prstGeom>
          <a:noFill/>
          <a:ln/>
        </p:spPr>
        <p:txBody>
          <a:bodyPr wrap="square" rtlCol="0" anchor="b"/>
          <a:lstStyle/>
          <a:p>
            <a:pPr algn="ctr" indent="0" marL="0">
              <a:buNone/>
            </a:pPr>
            <a:r>
              <a:rPr lang="en-US" sz="1800" b="1" dirty="0">
                <a:solidFill>
                  <a:srgbClr val="FF5900"/>
                </a:solidFill>
                <a:latin typeface="Arial Black" pitchFamily="34" charset="0"/>
                <a:ea typeface="Arial Black" pitchFamily="34" charset="-122"/>
                <a:cs typeface="Arial Black" pitchFamily="34" charset="-120"/>
              </a:rPr>
              <a:t>3+1</a:t>
            </a:r>
            <a:endParaRPr lang="en-US" sz="1800" dirty="0"/>
          </a:p>
        </p:txBody>
      </p:sp>
      <p:sp>
        <p:nvSpPr>
          <p:cNvPr id="40" name="Text 38"/>
          <p:cNvSpPr/>
          <p:nvPr/>
        </p:nvSpPr>
        <p:spPr>
          <a:xfrm>
            <a:off x="5623560" y="3703320"/>
            <a:ext cx="1600200" cy="320040"/>
          </a:xfrm>
          <a:prstGeom prst="rect">
            <a:avLst/>
          </a:prstGeom>
          <a:noFill/>
          <a:ln/>
        </p:spPr>
        <p:txBody>
          <a:bodyPr wrap="square" rtlCol="0" anchor="t"/>
          <a:lstStyle/>
          <a:p>
            <a:pPr algn="ctr" indent="0" marL="0">
              <a:buNone/>
            </a:pPr>
            <a:r>
              <a:rPr lang="en-US" sz="900" dirty="0">
                <a:solidFill>
                  <a:srgbClr val="9CA3AF"/>
                </a:solidFill>
                <a:latin typeface="Calibri" pitchFamily="34" charset="0"/>
                <a:ea typeface="Calibri" pitchFamily="34" charset="-122"/>
                <a:cs typeface="Calibri" pitchFamily="34" charset="-120"/>
              </a:rPr>
              <a:t>Open Badges</a:t>
            </a:r>
            <a:endParaRPr lang="en-US" sz="900" dirty="0"/>
          </a:p>
        </p:txBody>
      </p:sp>
      <p:sp>
        <p:nvSpPr>
          <p:cNvPr id="41" name="Shape 39"/>
          <p:cNvSpPr/>
          <p:nvPr/>
        </p:nvSpPr>
        <p:spPr>
          <a:xfrm>
            <a:off x="7406640" y="3337560"/>
            <a:ext cx="1600200" cy="685800"/>
          </a:xfrm>
          <a:prstGeom prst="roundRect">
            <a:avLst>
              <a:gd name="adj" fmla="val 10667"/>
            </a:avLst>
          </a:prstGeom>
          <a:solidFill>
            <a:srgbClr val="2A2A40"/>
          </a:solidFill>
          <a:ln/>
        </p:spPr>
      </p:sp>
      <p:sp>
        <p:nvSpPr>
          <p:cNvPr id="42" name="Text 40"/>
          <p:cNvSpPr/>
          <p:nvPr/>
        </p:nvSpPr>
        <p:spPr>
          <a:xfrm>
            <a:off x="7406640" y="3337560"/>
            <a:ext cx="1600200" cy="365760"/>
          </a:xfrm>
          <a:prstGeom prst="rect">
            <a:avLst/>
          </a:prstGeom>
          <a:noFill/>
          <a:ln/>
        </p:spPr>
        <p:txBody>
          <a:bodyPr wrap="square" rtlCol="0" anchor="b"/>
          <a:lstStyle/>
          <a:p>
            <a:pPr algn="ctr" indent="0" marL="0">
              <a:buNone/>
            </a:pPr>
            <a:r>
              <a:rPr lang="en-US" sz="1800" b="1" dirty="0">
                <a:solidFill>
                  <a:srgbClr val="FF5900"/>
                </a:solidFill>
                <a:latin typeface="Arial Black" pitchFamily="34" charset="0"/>
                <a:ea typeface="Arial Black" pitchFamily="34" charset="-122"/>
                <a:cs typeface="Arial Black" pitchFamily="34" charset="-120"/>
              </a:rPr>
              <a:t>120h</a:t>
            </a:r>
            <a:endParaRPr lang="en-US" sz="1800" dirty="0"/>
          </a:p>
        </p:txBody>
      </p:sp>
      <p:sp>
        <p:nvSpPr>
          <p:cNvPr id="43" name="Text 41"/>
          <p:cNvSpPr/>
          <p:nvPr/>
        </p:nvSpPr>
        <p:spPr>
          <a:xfrm>
            <a:off x="7406640" y="3703320"/>
            <a:ext cx="1600200" cy="320040"/>
          </a:xfrm>
          <a:prstGeom prst="rect">
            <a:avLst/>
          </a:prstGeom>
          <a:noFill/>
          <a:ln/>
        </p:spPr>
        <p:txBody>
          <a:bodyPr wrap="square" rtlCol="0" anchor="t"/>
          <a:lstStyle/>
          <a:p>
            <a:pPr algn="ctr" indent="0" marL="0">
              <a:buNone/>
            </a:pPr>
            <a:r>
              <a:rPr lang="en-US" sz="900" dirty="0">
                <a:solidFill>
                  <a:srgbClr val="9CA3AF"/>
                </a:solidFill>
                <a:latin typeface="Calibri" pitchFamily="34" charset="0"/>
                <a:ea typeface="Calibri" pitchFamily="34" charset="-122"/>
                <a:cs typeface="Calibri" pitchFamily="34" charset="-120"/>
              </a:rPr>
              <a:t>total programa</a:t>
            </a:r>
            <a:endParaRPr lang="en-US" sz="900" dirty="0"/>
          </a:p>
        </p:txBody>
      </p:sp>
      <p:sp>
        <p:nvSpPr>
          <p:cNvPr id="44" name="Shape 42"/>
          <p:cNvSpPr/>
          <p:nvPr/>
        </p:nvSpPr>
        <p:spPr>
          <a:xfrm>
            <a:off x="457200" y="4206240"/>
            <a:ext cx="8229600" cy="594360"/>
          </a:xfrm>
          <a:prstGeom prst="roundRect">
            <a:avLst>
              <a:gd name="adj" fmla="val 15385"/>
            </a:avLst>
          </a:prstGeom>
          <a:solidFill>
            <a:srgbClr val="432F64"/>
          </a:solidFill>
          <a:ln/>
        </p:spPr>
      </p:sp>
      <p:sp>
        <p:nvSpPr>
          <p:cNvPr id="45" name="Text 43"/>
          <p:cNvSpPr/>
          <p:nvPr/>
        </p:nvSpPr>
        <p:spPr>
          <a:xfrm>
            <a:off x="640080" y="4206240"/>
            <a:ext cx="7863840" cy="59436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Dos versiones personalizadas: los academicos trabajan con reportes de matricula y acreditaciones. Los administrativos con KPIs operativos.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23"/>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F5900"/>
          </a:solidFill>
          <a:ln/>
        </p:spPr>
      </p:sp>
      <p:sp>
        <p:nvSpPr>
          <p:cNvPr id="3" name="Text 1"/>
          <p:cNvSpPr/>
          <p:nvPr/>
        </p:nvSpPr>
        <p:spPr>
          <a:xfrm>
            <a:off x="457200" y="228600"/>
            <a:ext cx="8229600" cy="457200"/>
          </a:xfrm>
          <a:prstGeom prst="rect">
            <a:avLst/>
          </a:prstGeom>
          <a:noFill/>
          <a:ln/>
        </p:spPr>
        <p:txBody>
          <a:bodyPr wrap="square" rtlCol="0" anchor="ctr"/>
          <a:lstStyle/>
          <a:p>
            <a:pPr algn="ctr" indent="0" marL="0">
              <a:buNone/>
            </a:pPr>
            <a:r>
              <a:rPr lang="en-US" sz="1800" dirty="0">
                <a:solidFill>
                  <a:srgbClr val="FFFFFF"/>
                </a:solidFill>
                <a:latin typeface="Arial Black" pitchFamily="34" charset="0"/>
                <a:ea typeface="Arial Black" pitchFamily="34" charset="-122"/>
                <a:cs typeface="Arial Black" pitchFamily="34" charset="-120"/>
              </a:rPr>
              <a:t>El dia a dia de un directivo: antes y despues de IA</a:t>
            </a:r>
            <a:endParaRPr lang="en-US" sz="1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274320" y="822960"/>
          <a:ext cx="8595360" cy="2286000"/>
        </p:xfrm>
        <a:graphic>
          <a:graphicData uri="http://schemas.openxmlformats.org/drawingml/2006/table">
            <a:tbl>
              <a:tblPr/>
              <a:tblGrid>
                <a:gridCol w="2560320"/>
                <a:gridCol w="1828800"/>
                <a:gridCol w="1828800"/>
                <a:gridCol w="14630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Tarea</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432F64"/>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Sin IA (hoy)</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432F64"/>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Con IA</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432F64"/>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Ahorro</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432F64"/>
                    </a:solidFill>
                  </a:tcPr>
                </a:tc>
              </a:tr>
              <a:tr h="320040">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Comunicado institucional</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45-60 min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10-15 min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10B981"/>
                          </a:solidFill>
                          <a:latin typeface="Calibri" pitchFamily="34" charset="0"/>
                          <a:ea typeface="Calibri" pitchFamily="34" charset="-122"/>
                          <a:cs typeface="Calibri" pitchFamily="34" charset="-120"/>
                        </a:rPr>
                        <a:t>~40 min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r>
              <a:tr h="320040">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Indicadores de matricula</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2-3 horas</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30-45 min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10B981"/>
                          </a:solidFill>
                          <a:latin typeface="Calibri" pitchFamily="34" charset="0"/>
                          <a:ea typeface="Calibri" pitchFamily="34" charset="-122"/>
                          <a:cs typeface="Calibri" pitchFamily="34" charset="-120"/>
                        </a:rPr>
                        <a:t>~2 hrs</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r>
              <a:tr h="320040">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Responder 30 correos</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2 horas</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30 min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10B981"/>
                          </a:solidFill>
                          <a:latin typeface="Calibri" pitchFamily="34" charset="0"/>
                          <a:ea typeface="Calibri" pitchFamily="34" charset="-122"/>
                          <a:cs typeface="Calibri" pitchFamily="34" charset="-120"/>
                        </a:rPr>
                        <a:t>~90 min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r>
              <a:tr h="320040">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Minuta de junta</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40 min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10 min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10B981"/>
                          </a:solidFill>
                          <a:latin typeface="Calibri" pitchFamily="34" charset="0"/>
                          <a:ea typeface="Calibri" pitchFamily="34" charset="-122"/>
                          <a:cs typeface="Calibri" pitchFamily="34" charset="-120"/>
                        </a:rPr>
                        <a:t>~30 min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r>
              <a:tr h="320040">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Reporte acreditacion</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4-5 horas</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C8C8D8"/>
                          </a:solidFill>
                          <a:latin typeface="Calibri" pitchFamily="34" charset="0"/>
                          <a:ea typeface="Calibri" pitchFamily="34" charset="-122"/>
                          <a:cs typeface="Calibri" pitchFamily="34" charset="-120"/>
                        </a:rPr>
                        <a:t>1-2 horas</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c>
                  <a:txBody>
                    <a:bodyPr/>
                    <a:lstStyle/>
                    <a:p>
                      <a:pPr indent="0" marL="0">
                        <a:buNone/>
                      </a:pPr>
                      <a:r>
                        <a:rPr lang="en-US" sz="1000" dirty="0">
                          <a:solidFill>
                            <a:srgbClr val="10B981"/>
                          </a:solidFill>
                          <a:latin typeface="Calibri" pitchFamily="34" charset="0"/>
                          <a:ea typeface="Calibri" pitchFamily="34" charset="-122"/>
                          <a:cs typeface="Calibri" pitchFamily="34" charset="-120"/>
                        </a:rPr>
                        <a:t>~3 hrs</a:t>
                      </a:r>
                      <a:endParaRPr lang="en-US" sz="1000" dirty="0">
                        <a:latin typeface="Calibri" charset="0"/>
                        <a:ea typeface="Calibri" charset="0"/>
                        <a:cs typeface="Calibri" charset="0"/>
                      </a:endParaRPr>
                    </a:p>
                  </a:txBody>
                  <a:tcPr marL="91440" marR="91440" marT="45720" marB="45720">
                    <a:lnL w="6350" cap="flat" cmpd="sng" algn="ctr">
                      <a:solidFill>
                        <a:srgbClr val="3A3A5C"/>
                      </a:solidFill>
                      <a:prstDash val="solid"/>
                      <a:round/>
                      <a:headEnd type="none" w="med" len="med"/>
                      <a:tailEnd type="none" w="med" len="med"/>
                    </a:lnL>
                    <a:lnR w="6350" cap="flat" cmpd="sng" algn="ctr">
                      <a:solidFill>
                        <a:srgbClr val="3A3A5C"/>
                      </a:solidFill>
                      <a:prstDash val="solid"/>
                      <a:round/>
                      <a:headEnd type="none" w="med" len="med"/>
                      <a:tailEnd type="none" w="med" len="med"/>
                    </a:lnR>
                    <a:lnT w="6350" cap="flat" cmpd="sng" algn="ctr">
                      <a:solidFill>
                        <a:srgbClr val="3A3A5C"/>
                      </a:solidFill>
                      <a:prstDash val="solid"/>
                      <a:round/>
                      <a:headEnd type="none" w="med" len="med"/>
                      <a:tailEnd type="none" w="med" len="med"/>
                    </a:lnT>
                    <a:lnB w="6350" cap="flat" cmpd="sng" algn="ctr">
                      <a:solidFill>
                        <a:srgbClr val="3A3A5C"/>
                      </a:solidFill>
                      <a:prstDash val="solid"/>
                      <a:round/>
                      <a:headEnd type="none" w="med" len="med"/>
                      <a:tailEnd type="none" w="med" len="med"/>
                    </a:lnB>
                    <a:solidFill>
                      <a:srgbClr val="2A2A40"/>
                    </a:solidFill>
                  </a:tcPr>
                </a:tc>
              </a:tr>
            </a:tbl>
          </a:graphicData>
        </a:graphic>
      </p:graphicFrame>
      <p:sp>
        <p:nvSpPr>
          <p:cNvPr id="5" name="Shape 2"/>
          <p:cNvSpPr/>
          <p:nvPr/>
        </p:nvSpPr>
        <p:spPr>
          <a:xfrm>
            <a:off x="274320" y="3429000"/>
            <a:ext cx="2011680" cy="1005840"/>
          </a:xfrm>
          <a:prstGeom prst="roundRect">
            <a:avLst>
              <a:gd name="adj" fmla="val 9091"/>
            </a:avLst>
          </a:prstGeom>
          <a:solidFill>
            <a:srgbClr val="2A2A40"/>
          </a:solidFill>
          <a:ln w="25400">
            <a:solidFill>
              <a:srgbClr val="10B981"/>
            </a:solidFill>
            <a:prstDash val="solid"/>
          </a:ln>
        </p:spPr>
      </p:sp>
      <p:sp>
        <p:nvSpPr>
          <p:cNvPr id="6" name="Text 3"/>
          <p:cNvSpPr/>
          <p:nvPr/>
        </p:nvSpPr>
        <p:spPr>
          <a:xfrm>
            <a:off x="274320" y="3474720"/>
            <a:ext cx="2011680" cy="502920"/>
          </a:xfrm>
          <a:prstGeom prst="rect">
            <a:avLst/>
          </a:prstGeom>
          <a:noFill/>
          <a:ln/>
        </p:spPr>
        <p:txBody>
          <a:bodyPr wrap="square" rtlCol="0" anchor="b"/>
          <a:lstStyle/>
          <a:p>
            <a:pPr algn="ctr" indent="0" marL="0">
              <a:buNone/>
            </a:pPr>
            <a:r>
              <a:rPr lang="en-US" sz="1800" b="1" dirty="0">
                <a:solidFill>
                  <a:srgbClr val="10B981"/>
                </a:solidFill>
                <a:latin typeface="Arial Black" pitchFamily="34" charset="0"/>
                <a:ea typeface="Arial Black" pitchFamily="34" charset="-122"/>
                <a:cs typeface="Arial Black" pitchFamily="34" charset="-120"/>
              </a:rPr>
              <a:t>5+ hrs/sem</a:t>
            </a:r>
            <a:endParaRPr lang="en-US" sz="1800" dirty="0"/>
          </a:p>
        </p:txBody>
      </p:sp>
      <p:sp>
        <p:nvSpPr>
          <p:cNvPr id="7" name="Text 4"/>
          <p:cNvSpPr/>
          <p:nvPr/>
        </p:nvSpPr>
        <p:spPr>
          <a:xfrm>
            <a:off x="365760" y="3977640"/>
            <a:ext cx="1828800" cy="411480"/>
          </a:xfrm>
          <a:prstGeom prst="rect">
            <a:avLst/>
          </a:prstGeom>
          <a:noFill/>
          <a:ln/>
        </p:spPr>
        <p:txBody>
          <a:bodyPr wrap="square" rtlCol="0" anchor="t"/>
          <a:lstStyle/>
          <a:p>
            <a:pPr algn="ctr" indent="0" marL="0">
              <a:buNone/>
            </a:pPr>
            <a:r>
              <a:rPr lang="en-US" sz="850" dirty="0">
                <a:solidFill>
                  <a:srgbClr val="9CA3AF"/>
                </a:solidFill>
                <a:latin typeface="Calibri" pitchFamily="34" charset="0"/>
                <a:ea typeface="Calibri" pitchFamily="34" charset="-122"/>
                <a:cs typeface="Calibri" pitchFamily="34" charset="-120"/>
              </a:rPr>
              <a:t>Ahorradas por directivo</a:t>
            </a:r>
            <a:endParaRPr lang="en-US" sz="850" dirty="0"/>
          </a:p>
        </p:txBody>
      </p:sp>
      <p:sp>
        <p:nvSpPr>
          <p:cNvPr id="8" name="Shape 5"/>
          <p:cNvSpPr/>
          <p:nvPr/>
        </p:nvSpPr>
        <p:spPr>
          <a:xfrm>
            <a:off x="2468880" y="3429000"/>
            <a:ext cx="2011680" cy="1005840"/>
          </a:xfrm>
          <a:prstGeom prst="roundRect">
            <a:avLst>
              <a:gd name="adj" fmla="val 9091"/>
            </a:avLst>
          </a:prstGeom>
          <a:solidFill>
            <a:srgbClr val="2A2A40"/>
          </a:solidFill>
          <a:ln w="25400">
            <a:solidFill>
              <a:srgbClr val="3B82F6"/>
            </a:solidFill>
            <a:prstDash val="solid"/>
          </a:ln>
        </p:spPr>
      </p:sp>
      <p:sp>
        <p:nvSpPr>
          <p:cNvPr id="9" name="Text 6"/>
          <p:cNvSpPr/>
          <p:nvPr/>
        </p:nvSpPr>
        <p:spPr>
          <a:xfrm>
            <a:off x="2468880" y="3474720"/>
            <a:ext cx="2011680" cy="502920"/>
          </a:xfrm>
          <a:prstGeom prst="rect">
            <a:avLst/>
          </a:prstGeom>
          <a:noFill/>
          <a:ln/>
        </p:spPr>
        <p:txBody>
          <a:bodyPr wrap="square" rtlCol="0" anchor="b"/>
          <a:lstStyle/>
          <a:p>
            <a:pPr algn="ctr" indent="0" marL="0">
              <a:buNone/>
            </a:pPr>
            <a:r>
              <a:rPr lang="en-US" sz="1800" b="1" dirty="0">
                <a:solidFill>
                  <a:srgbClr val="3B82F6"/>
                </a:solidFill>
                <a:latin typeface="Arial Black" pitchFamily="34" charset="0"/>
                <a:ea typeface="Arial Black" pitchFamily="34" charset="-122"/>
                <a:cs typeface="Arial Black" pitchFamily="34" charset="-120"/>
              </a:rPr>
              <a:t>60%+</a:t>
            </a:r>
            <a:endParaRPr lang="en-US" sz="1800" dirty="0"/>
          </a:p>
        </p:txBody>
      </p:sp>
      <p:sp>
        <p:nvSpPr>
          <p:cNvPr id="10" name="Text 7"/>
          <p:cNvSpPr/>
          <p:nvPr/>
        </p:nvSpPr>
        <p:spPr>
          <a:xfrm>
            <a:off x="2560320" y="3977640"/>
            <a:ext cx="1828800" cy="411480"/>
          </a:xfrm>
          <a:prstGeom prst="rect">
            <a:avLst/>
          </a:prstGeom>
          <a:noFill/>
          <a:ln/>
        </p:spPr>
        <p:txBody>
          <a:bodyPr wrap="square" rtlCol="0" anchor="t"/>
          <a:lstStyle/>
          <a:p>
            <a:pPr algn="ctr" indent="0" marL="0">
              <a:buNone/>
            </a:pPr>
            <a:r>
              <a:rPr lang="en-US" sz="850" dirty="0">
                <a:solidFill>
                  <a:srgbClr val="9CA3AF"/>
                </a:solidFill>
                <a:latin typeface="Calibri" pitchFamily="34" charset="0"/>
                <a:ea typeface="Calibri" pitchFamily="34" charset="-122"/>
                <a:cs typeface="Calibri" pitchFamily="34" charset="-120"/>
              </a:rPr>
              <a:t>Usa IA 3x/sem a 30 dias</a:t>
            </a:r>
            <a:endParaRPr lang="en-US" sz="850" dirty="0"/>
          </a:p>
        </p:txBody>
      </p:sp>
      <p:sp>
        <p:nvSpPr>
          <p:cNvPr id="11" name="Shape 8"/>
          <p:cNvSpPr/>
          <p:nvPr/>
        </p:nvSpPr>
        <p:spPr>
          <a:xfrm>
            <a:off x="4663440" y="3429000"/>
            <a:ext cx="2011680" cy="1005840"/>
          </a:xfrm>
          <a:prstGeom prst="roundRect">
            <a:avLst>
              <a:gd name="adj" fmla="val 9091"/>
            </a:avLst>
          </a:prstGeom>
          <a:solidFill>
            <a:srgbClr val="2A2A40"/>
          </a:solidFill>
          <a:ln w="25400">
            <a:solidFill>
              <a:srgbClr val="FF5900"/>
            </a:solidFill>
            <a:prstDash val="solid"/>
          </a:ln>
        </p:spPr>
      </p:sp>
      <p:sp>
        <p:nvSpPr>
          <p:cNvPr id="12" name="Text 9"/>
          <p:cNvSpPr/>
          <p:nvPr/>
        </p:nvSpPr>
        <p:spPr>
          <a:xfrm>
            <a:off x="4663440" y="3474720"/>
            <a:ext cx="2011680" cy="502920"/>
          </a:xfrm>
          <a:prstGeom prst="rect">
            <a:avLst/>
          </a:prstGeom>
          <a:noFill/>
          <a:ln/>
        </p:spPr>
        <p:txBody>
          <a:bodyPr wrap="square" rtlCol="0" anchor="b"/>
          <a:lstStyle/>
          <a:p>
            <a:pPr algn="ctr" indent="0" marL="0">
              <a:buNone/>
            </a:pPr>
            <a:r>
              <a:rPr lang="en-US" sz="1800" b="1" dirty="0">
                <a:solidFill>
                  <a:srgbClr val="FF5900"/>
                </a:solidFill>
                <a:latin typeface="Arial Black" pitchFamily="34" charset="0"/>
                <a:ea typeface="Arial Black" pitchFamily="34" charset="-122"/>
                <a:cs typeface="Arial Black" pitchFamily="34" charset="-120"/>
              </a:rPr>
              <a:t>75%+</a:t>
            </a:r>
            <a:endParaRPr lang="en-US" sz="1800" dirty="0"/>
          </a:p>
        </p:txBody>
      </p:sp>
      <p:sp>
        <p:nvSpPr>
          <p:cNvPr id="13" name="Text 10"/>
          <p:cNvSpPr/>
          <p:nvPr/>
        </p:nvSpPr>
        <p:spPr>
          <a:xfrm>
            <a:off x="4754880" y="3977640"/>
            <a:ext cx="1828800" cy="411480"/>
          </a:xfrm>
          <a:prstGeom prst="rect">
            <a:avLst/>
          </a:prstGeom>
          <a:noFill/>
          <a:ln/>
        </p:spPr>
        <p:txBody>
          <a:bodyPr wrap="square" rtlCol="0" anchor="t"/>
          <a:lstStyle/>
          <a:p>
            <a:pPr algn="ctr" indent="0" marL="0">
              <a:buNone/>
            </a:pPr>
            <a:r>
              <a:rPr lang="en-US" sz="850" dirty="0">
                <a:solidFill>
                  <a:srgbClr val="9CA3AF"/>
                </a:solidFill>
                <a:latin typeface="Calibri" pitchFamily="34" charset="0"/>
                <a:ea typeface="Calibri" pitchFamily="34" charset="-122"/>
                <a:cs typeface="Calibri" pitchFamily="34" charset="-120"/>
              </a:rPr>
              <a:t>Completa 8 modulos</a:t>
            </a:r>
            <a:endParaRPr lang="en-US" sz="850" dirty="0"/>
          </a:p>
        </p:txBody>
      </p:sp>
      <p:sp>
        <p:nvSpPr>
          <p:cNvPr id="14" name="Shape 11"/>
          <p:cNvSpPr/>
          <p:nvPr/>
        </p:nvSpPr>
        <p:spPr>
          <a:xfrm>
            <a:off x="6858000" y="3429000"/>
            <a:ext cx="2011680" cy="1005840"/>
          </a:xfrm>
          <a:prstGeom prst="roundRect">
            <a:avLst>
              <a:gd name="adj" fmla="val 9091"/>
            </a:avLst>
          </a:prstGeom>
          <a:solidFill>
            <a:srgbClr val="2A2A40"/>
          </a:solidFill>
          <a:ln w="25400">
            <a:solidFill>
              <a:srgbClr val="F59E0B"/>
            </a:solidFill>
            <a:prstDash val="solid"/>
          </a:ln>
        </p:spPr>
      </p:sp>
      <p:sp>
        <p:nvSpPr>
          <p:cNvPr id="15" name="Text 12"/>
          <p:cNvSpPr/>
          <p:nvPr/>
        </p:nvSpPr>
        <p:spPr>
          <a:xfrm>
            <a:off x="6858000" y="3474720"/>
            <a:ext cx="2011680" cy="502920"/>
          </a:xfrm>
          <a:prstGeom prst="rect">
            <a:avLst/>
          </a:prstGeom>
          <a:noFill/>
          <a:ln/>
        </p:spPr>
        <p:txBody>
          <a:bodyPr wrap="square" rtlCol="0" anchor="b"/>
          <a:lstStyle/>
          <a:p>
            <a:pPr algn="ctr" indent="0" marL="0">
              <a:buNone/>
            </a:pPr>
            <a:r>
              <a:rPr lang="en-US" sz="1800" b="1" dirty="0">
                <a:solidFill>
                  <a:srgbClr val="F59E0B"/>
                </a:solidFill>
                <a:latin typeface="Arial Black" pitchFamily="34" charset="0"/>
                <a:ea typeface="Arial Black" pitchFamily="34" charset="-122"/>
                <a:cs typeface="Arial Black" pitchFamily="34" charset="-120"/>
              </a:rPr>
              <a:t>$50K MXN</a:t>
            </a:r>
            <a:endParaRPr lang="en-US" sz="1800" dirty="0"/>
          </a:p>
        </p:txBody>
      </p:sp>
      <p:sp>
        <p:nvSpPr>
          <p:cNvPr id="16" name="Text 13"/>
          <p:cNvSpPr/>
          <p:nvPr/>
        </p:nvSpPr>
        <p:spPr>
          <a:xfrm>
            <a:off x="6949440" y="3977640"/>
            <a:ext cx="1828800" cy="411480"/>
          </a:xfrm>
          <a:prstGeom prst="rect">
            <a:avLst/>
          </a:prstGeom>
          <a:noFill/>
          <a:ln/>
        </p:spPr>
        <p:txBody>
          <a:bodyPr wrap="square" rtlCol="0" anchor="t"/>
          <a:lstStyle/>
          <a:p>
            <a:pPr algn="ctr" indent="0" marL="0">
              <a:buNone/>
            </a:pPr>
            <a:r>
              <a:rPr lang="en-US" sz="850" dirty="0">
                <a:solidFill>
                  <a:srgbClr val="9CA3AF"/>
                </a:solidFill>
                <a:latin typeface="Calibri" pitchFamily="34" charset="0"/>
                <a:ea typeface="Calibri" pitchFamily="34" charset="-122"/>
                <a:cs typeface="Calibri" pitchFamily="34" charset="-120"/>
              </a:rPr>
              <a:t>ROI anual por persona</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F23"/>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F5900"/>
          </a:solidFill>
          <a:ln/>
        </p:spPr>
      </p:sp>
      <p:sp>
        <p:nvSpPr>
          <p:cNvPr id="3" name="Text 1"/>
          <p:cNvSpPr/>
          <p:nvPr/>
        </p:nvSpPr>
        <p:spPr>
          <a:xfrm>
            <a:off x="457200" y="228600"/>
            <a:ext cx="8229600" cy="457200"/>
          </a:xfrm>
          <a:prstGeom prst="rect">
            <a:avLst/>
          </a:prstGeom>
          <a:noFill/>
          <a:ln/>
        </p:spPr>
        <p:txBody>
          <a:bodyPr wrap="square" rtlCol="0" anchor="ctr"/>
          <a:lstStyle/>
          <a:p>
            <a:pPr algn="ctr" indent="0" marL="0">
              <a:buNone/>
            </a:pPr>
            <a:r>
              <a:rPr lang="en-US" sz="2000" dirty="0">
                <a:solidFill>
                  <a:srgbClr val="FFFFFF"/>
                </a:solidFill>
                <a:latin typeface="Arial Black" pitchFamily="34" charset="0"/>
                <a:ea typeface="Arial Black" pitchFamily="34" charset="-122"/>
                <a:cs typeface="Arial Black" pitchFamily="34" charset="-120"/>
              </a:rPr>
              <a:t>Ruta de implementacion</a:t>
            </a:r>
            <a:endParaRPr lang="en-US" sz="2000" dirty="0"/>
          </a:p>
        </p:txBody>
      </p:sp>
      <p:sp>
        <p:nvSpPr>
          <p:cNvPr id="4" name="Shape 2"/>
          <p:cNvSpPr/>
          <p:nvPr/>
        </p:nvSpPr>
        <p:spPr>
          <a:xfrm>
            <a:off x="457200" y="1417320"/>
            <a:ext cx="8229600" cy="45720"/>
          </a:xfrm>
          <a:prstGeom prst="rect">
            <a:avLst/>
          </a:prstGeom>
          <a:solidFill>
            <a:srgbClr val="3A3A5C"/>
          </a:solidFill>
          <a:ln/>
        </p:spPr>
      </p:sp>
      <p:sp>
        <p:nvSpPr>
          <p:cNvPr id="5" name="Shape 3"/>
          <p:cNvSpPr/>
          <p:nvPr/>
        </p:nvSpPr>
        <p:spPr>
          <a:xfrm>
            <a:off x="1417320" y="1234440"/>
            <a:ext cx="365760" cy="365760"/>
          </a:xfrm>
          <a:prstGeom prst="ellipse">
            <a:avLst/>
          </a:prstGeom>
          <a:solidFill>
            <a:srgbClr val="FF5900"/>
          </a:solidFill>
          <a:ln/>
        </p:spPr>
      </p:sp>
      <p:sp>
        <p:nvSpPr>
          <p:cNvPr id="6" name="Shape 4"/>
          <p:cNvSpPr/>
          <p:nvPr/>
        </p:nvSpPr>
        <p:spPr>
          <a:xfrm>
            <a:off x="320040" y="1783080"/>
            <a:ext cx="2743200" cy="2377440"/>
          </a:xfrm>
          <a:prstGeom prst="roundRect">
            <a:avLst>
              <a:gd name="adj" fmla="val 4615"/>
            </a:avLst>
          </a:prstGeom>
          <a:solidFill>
            <a:srgbClr val="2A2A40"/>
          </a:solidFill>
          <a:ln w="19050">
            <a:solidFill>
              <a:srgbClr val="FF5900"/>
            </a:solidFill>
            <a:prstDash val="solid"/>
          </a:ln>
        </p:spPr>
      </p:sp>
      <p:sp>
        <p:nvSpPr>
          <p:cNvPr id="7" name="Text 5"/>
          <p:cNvSpPr/>
          <p:nvPr/>
        </p:nvSpPr>
        <p:spPr>
          <a:xfrm>
            <a:off x="320040" y="1828800"/>
            <a:ext cx="2743200" cy="320040"/>
          </a:xfrm>
          <a:prstGeom prst="rect">
            <a:avLst/>
          </a:prstGeom>
          <a:noFill/>
          <a:ln/>
        </p:spPr>
        <p:txBody>
          <a:bodyPr wrap="square" rtlCol="0" anchor="ctr"/>
          <a:lstStyle/>
          <a:p>
            <a:pPr algn="ctr" indent="0" marL="0">
              <a:buNone/>
            </a:pPr>
            <a:r>
              <a:rPr lang="en-US" sz="1200" b="1" dirty="0">
                <a:solidFill>
                  <a:srgbClr val="FF5900"/>
                </a:solidFill>
                <a:latin typeface="Arial Black" pitchFamily="34" charset="0"/>
                <a:ea typeface="Arial Black" pitchFamily="34" charset="-122"/>
                <a:cs typeface="Arial Black" pitchFamily="34" charset="-120"/>
              </a:rPr>
              <a:t>FASE 1: PILOTO</a:t>
            </a:r>
            <a:endParaRPr lang="en-US" sz="1200" dirty="0"/>
          </a:p>
        </p:txBody>
      </p:sp>
      <p:sp>
        <p:nvSpPr>
          <p:cNvPr id="8" name="Text 6"/>
          <p:cNvSpPr/>
          <p:nvPr/>
        </p:nvSpPr>
        <p:spPr>
          <a:xfrm>
            <a:off x="320040" y="2148840"/>
            <a:ext cx="2743200" cy="22860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Oct 2026 · 4-6 semanas</a:t>
            </a:r>
            <a:endParaRPr lang="en-US" sz="900" dirty="0"/>
          </a:p>
        </p:txBody>
      </p:sp>
      <p:sp>
        <p:nvSpPr>
          <p:cNvPr id="9" name="Text 7"/>
          <p:cNvSpPr/>
          <p:nvPr/>
        </p:nvSpPr>
        <p:spPr>
          <a:xfrm>
            <a:off x="594360" y="2468880"/>
            <a:ext cx="2194560" cy="1554480"/>
          </a:xfrm>
          <a:prstGeom prst="rect">
            <a:avLst/>
          </a:prstGeom>
          <a:noFill/>
          <a:ln/>
        </p:spPr>
        <p:txBody>
          <a:bodyPr wrap="square" rtlCol="0" anchor="ctr"/>
          <a:lstStyle/>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8-10 directivos</a:t>
            </a:r>
            <a:endParaRPr lang="en-US" sz="1000" dirty="0"/>
          </a:p>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4-5 acad + 4-5 admin</a:t>
            </a:r>
            <a:endParaRPr lang="en-US" sz="1000" dirty="0"/>
          </a:p>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Medicion semanal</a:t>
            </a:r>
            <a:endParaRPr lang="en-US" sz="1000" dirty="0"/>
          </a:p>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NPS y entrevistas al cierre</a:t>
            </a:r>
            <a:endParaRPr lang="en-US" sz="1000" dirty="0"/>
          </a:p>
        </p:txBody>
      </p:sp>
      <p:sp>
        <p:nvSpPr>
          <p:cNvPr id="10" name="Shape 8"/>
          <p:cNvSpPr/>
          <p:nvPr/>
        </p:nvSpPr>
        <p:spPr>
          <a:xfrm>
            <a:off x="4343400" y="1234440"/>
            <a:ext cx="365760" cy="365760"/>
          </a:xfrm>
          <a:prstGeom prst="ellipse">
            <a:avLst/>
          </a:prstGeom>
          <a:solidFill>
            <a:srgbClr val="3B82F6"/>
          </a:solidFill>
          <a:ln/>
        </p:spPr>
      </p:sp>
      <p:sp>
        <p:nvSpPr>
          <p:cNvPr id="11" name="Shape 9"/>
          <p:cNvSpPr/>
          <p:nvPr/>
        </p:nvSpPr>
        <p:spPr>
          <a:xfrm>
            <a:off x="3246120" y="1783080"/>
            <a:ext cx="2743200" cy="2377440"/>
          </a:xfrm>
          <a:prstGeom prst="roundRect">
            <a:avLst>
              <a:gd name="adj" fmla="val 4615"/>
            </a:avLst>
          </a:prstGeom>
          <a:solidFill>
            <a:srgbClr val="2A2A40"/>
          </a:solidFill>
          <a:ln w="19050">
            <a:solidFill>
              <a:srgbClr val="3B82F6"/>
            </a:solidFill>
            <a:prstDash val="solid"/>
          </a:ln>
        </p:spPr>
      </p:sp>
      <p:sp>
        <p:nvSpPr>
          <p:cNvPr id="12" name="Text 10"/>
          <p:cNvSpPr/>
          <p:nvPr/>
        </p:nvSpPr>
        <p:spPr>
          <a:xfrm>
            <a:off x="3246120" y="1828800"/>
            <a:ext cx="2743200" cy="320040"/>
          </a:xfrm>
          <a:prstGeom prst="rect">
            <a:avLst/>
          </a:prstGeom>
          <a:noFill/>
          <a:ln/>
        </p:spPr>
        <p:txBody>
          <a:bodyPr wrap="square" rtlCol="0" anchor="ctr"/>
          <a:lstStyle/>
          <a:p>
            <a:pPr algn="ctr" indent="0" marL="0">
              <a:buNone/>
            </a:pPr>
            <a:r>
              <a:rPr lang="en-US" sz="1200" b="1" dirty="0">
                <a:solidFill>
                  <a:srgbClr val="3B82F6"/>
                </a:solidFill>
                <a:latin typeface="Arial Black" pitchFamily="34" charset="0"/>
                <a:ea typeface="Arial Black" pitchFamily="34" charset="-122"/>
                <a:cs typeface="Arial Black" pitchFamily="34" charset="-120"/>
              </a:rPr>
              <a:t>FASE 2: COHORTE 1</a:t>
            </a:r>
            <a:endParaRPr lang="en-US" sz="1200" dirty="0"/>
          </a:p>
        </p:txBody>
      </p:sp>
      <p:sp>
        <p:nvSpPr>
          <p:cNvPr id="13" name="Text 11"/>
          <p:cNvSpPr/>
          <p:nvPr/>
        </p:nvSpPr>
        <p:spPr>
          <a:xfrm>
            <a:off x="3246120" y="2148840"/>
            <a:ext cx="2743200" cy="22860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Nov-Dic 2026 · 8 semanas</a:t>
            </a:r>
            <a:endParaRPr lang="en-US" sz="900" dirty="0"/>
          </a:p>
        </p:txBody>
      </p:sp>
      <p:sp>
        <p:nvSpPr>
          <p:cNvPr id="14" name="Text 12"/>
          <p:cNvSpPr/>
          <p:nvPr/>
        </p:nvSpPr>
        <p:spPr>
          <a:xfrm>
            <a:off x="3520440" y="2468880"/>
            <a:ext cx="2194560" cy="1554480"/>
          </a:xfrm>
          <a:prstGeom prst="rect">
            <a:avLst/>
          </a:prstGeom>
          <a:noFill/>
          <a:ln/>
        </p:spPr>
        <p:txBody>
          <a:bodyPr wrap="square" rtlCol="0" anchor="ctr"/>
          <a:lstStyle/>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30-40 directivos</a:t>
            </a:r>
            <a:endParaRPr lang="en-US" sz="1000" dirty="0"/>
          </a:p>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Sesiones sincronicas opcionales</a:t>
            </a:r>
            <a:endParaRPr lang="en-US" sz="1000" dirty="0"/>
          </a:p>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Badges y constancias</a:t>
            </a:r>
            <a:endParaRPr lang="en-US" sz="1000" dirty="0"/>
          </a:p>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Caso de exito documentado</a:t>
            </a:r>
            <a:endParaRPr lang="en-US" sz="1000" dirty="0"/>
          </a:p>
        </p:txBody>
      </p:sp>
      <p:sp>
        <p:nvSpPr>
          <p:cNvPr id="15" name="Shape 13"/>
          <p:cNvSpPr/>
          <p:nvPr/>
        </p:nvSpPr>
        <p:spPr>
          <a:xfrm>
            <a:off x="7269480" y="1234440"/>
            <a:ext cx="365760" cy="365760"/>
          </a:xfrm>
          <a:prstGeom prst="ellipse">
            <a:avLst/>
          </a:prstGeom>
          <a:solidFill>
            <a:srgbClr val="432F64"/>
          </a:solidFill>
          <a:ln/>
        </p:spPr>
      </p:sp>
      <p:sp>
        <p:nvSpPr>
          <p:cNvPr id="16" name="Shape 14"/>
          <p:cNvSpPr/>
          <p:nvPr/>
        </p:nvSpPr>
        <p:spPr>
          <a:xfrm>
            <a:off x="6172200" y="1783080"/>
            <a:ext cx="2743200" cy="2377440"/>
          </a:xfrm>
          <a:prstGeom prst="roundRect">
            <a:avLst>
              <a:gd name="adj" fmla="val 4615"/>
            </a:avLst>
          </a:prstGeom>
          <a:solidFill>
            <a:srgbClr val="2A2A40"/>
          </a:solidFill>
          <a:ln w="19050">
            <a:solidFill>
              <a:srgbClr val="432F64"/>
            </a:solidFill>
            <a:prstDash val="solid"/>
          </a:ln>
        </p:spPr>
      </p:sp>
      <p:sp>
        <p:nvSpPr>
          <p:cNvPr id="17" name="Text 15"/>
          <p:cNvSpPr/>
          <p:nvPr/>
        </p:nvSpPr>
        <p:spPr>
          <a:xfrm>
            <a:off x="6172200" y="1828800"/>
            <a:ext cx="2743200" cy="320040"/>
          </a:xfrm>
          <a:prstGeom prst="rect">
            <a:avLst/>
          </a:prstGeom>
          <a:noFill/>
          <a:ln/>
        </p:spPr>
        <p:txBody>
          <a:bodyPr wrap="square" rtlCol="0" anchor="ctr"/>
          <a:lstStyle/>
          <a:p>
            <a:pPr algn="ctr" indent="0" marL="0">
              <a:buNone/>
            </a:pPr>
            <a:r>
              <a:rPr lang="en-US" sz="1200" b="1" dirty="0">
                <a:solidFill>
                  <a:srgbClr val="432F64"/>
                </a:solidFill>
                <a:latin typeface="Arial Black" pitchFamily="34" charset="0"/>
                <a:ea typeface="Arial Black" pitchFamily="34" charset="-122"/>
                <a:cs typeface="Arial Black" pitchFamily="34" charset="-120"/>
              </a:rPr>
              <a:t>FASE 3: ESCALAMIENTO</a:t>
            </a:r>
            <a:endParaRPr lang="en-US" sz="1200" dirty="0"/>
          </a:p>
        </p:txBody>
      </p:sp>
      <p:sp>
        <p:nvSpPr>
          <p:cNvPr id="18" name="Text 16"/>
          <p:cNvSpPr/>
          <p:nvPr/>
        </p:nvSpPr>
        <p:spPr>
          <a:xfrm>
            <a:off x="6172200" y="2148840"/>
            <a:ext cx="2743200" cy="22860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2027 · Q1-Q2</a:t>
            </a:r>
            <a:endParaRPr lang="en-US" sz="900" dirty="0"/>
          </a:p>
        </p:txBody>
      </p:sp>
      <p:sp>
        <p:nvSpPr>
          <p:cNvPr id="19" name="Text 17"/>
          <p:cNvSpPr/>
          <p:nvPr/>
        </p:nvSpPr>
        <p:spPr>
          <a:xfrm>
            <a:off x="6446520" y="2468880"/>
            <a:ext cx="2194560" cy="1554480"/>
          </a:xfrm>
          <a:prstGeom prst="rect">
            <a:avLst/>
          </a:prstGeom>
          <a:noFill/>
          <a:ln/>
        </p:spPr>
        <p:txBody>
          <a:bodyPr wrap="square" rtlCol="0" anchor="ctr"/>
          <a:lstStyle/>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Todos los directivos Mayab</a:t>
            </a:r>
            <a:endParaRPr lang="en-US" sz="1000" dirty="0"/>
          </a:p>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Modelo para Red Anahuac</a:t>
            </a:r>
            <a:endParaRPr lang="en-US" sz="1000" dirty="0"/>
          </a:p>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Educacion Continua abierta</a:t>
            </a:r>
            <a:endParaRPr lang="en-US" sz="1000" dirty="0"/>
          </a:p>
          <a:p>
            <a:pPr marL="342900" indent="-342900">
              <a:lnSpc>
                <a:spcPts val="1600"/>
              </a:lnSpc>
              <a:buSzPct val="100000"/>
              <a:buChar char="•"/>
            </a:pPr>
            <a:r>
              <a:rPr lang="en-US" sz="1000" dirty="0">
                <a:solidFill>
                  <a:srgbClr val="C8C8D8"/>
                </a:solidFill>
                <a:latin typeface="Calibri" pitchFamily="34" charset="0"/>
                <a:ea typeface="Calibri" pitchFamily="34" charset="-122"/>
                <a:cs typeface="Calibri" pitchFamily="34" charset="-120"/>
              </a:rPr>
              <a:t>Potencial: 12 campus</a:t>
            </a:r>
            <a:endParaRPr lang="en-US" sz="1000" dirty="0"/>
          </a:p>
        </p:txBody>
      </p:sp>
      <p:sp>
        <p:nvSpPr>
          <p:cNvPr id="20" name="Shape 18"/>
          <p:cNvSpPr/>
          <p:nvPr/>
        </p:nvSpPr>
        <p:spPr>
          <a:xfrm>
            <a:off x="1371600" y="4389120"/>
            <a:ext cx="6400800" cy="502920"/>
          </a:xfrm>
          <a:prstGeom prst="roundRect">
            <a:avLst>
              <a:gd name="adj" fmla="val 18182"/>
            </a:avLst>
          </a:prstGeom>
          <a:solidFill>
            <a:srgbClr val="FF5900"/>
          </a:solidFill>
          <a:ln/>
        </p:spPr>
      </p:sp>
      <p:sp>
        <p:nvSpPr>
          <p:cNvPr id="21" name="Text 19"/>
          <p:cNvSpPr/>
          <p:nvPr/>
        </p:nvSpPr>
        <p:spPr>
          <a:xfrm>
            <a:off x="1371600" y="4389120"/>
            <a:ext cx="6400800" cy="502920"/>
          </a:xfrm>
          <a:prstGeom prst="rect">
            <a:avLst/>
          </a:prstGeom>
          <a:noFill/>
          <a:ln/>
        </p:spPr>
        <p:txBody>
          <a:bodyPr wrap="square"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Hoy solo necesitamos la FASE 1: un piloto de 8-10 personas, 4-6 semanas.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F23"/>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F5900"/>
          </a:solidFill>
          <a:ln/>
        </p:spPr>
      </p:sp>
      <p:sp>
        <p:nvSpPr>
          <p:cNvPr id="3" name="Text 1"/>
          <p:cNvSpPr/>
          <p:nvPr/>
        </p:nvSpPr>
        <p:spPr>
          <a:xfrm>
            <a:off x="457200" y="228600"/>
            <a:ext cx="8229600" cy="457200"/>
          </a:xfrm>
          <a:prstGeom prst="rect">
            <a:avLst/>
          </a:prstGeom>
          <a:noFill/>
          <a:ln/>
        </p:spPr>
        <p:txBody>
          <a:bodyPr wrap="square" rtlCol="0" anchor="ctr"/>
          <a:lstStyle/>
          <a:p>
            <a:pPr algn="ctr" indent="0" marL="0">
              <a:buNone/>
            </a:pPr>
            <a:r>
              <a:rPr lang="en-US" sz="2000" dirty="0">
                <a:solidFill>
                  <a:srgbClr val="FFFFFF"/>
                </a:solidFill>
                <a:latin typeface="Arial Black" pitchFamily="34" charset="0"/>
                <a:ea typeface="Arial Black" pitchFamily="34" charset="-122"/>
                <a:cs typeface="Arial Black" pitchFamily="34" charset="-120"/>
              </a:rPr>
              <a:t>Que necesitamos?</a:t>
            </a:r>
            <a:endParaRPr lang="en-US" sz="2000" dirty="0"/>
          </a:p>
        </p:txBody>
      </p:sp>
      <p:sp>
        <p:nvSpPr>
          <p:cNvPr id="4" name="Shape 2"/>
          <p:cNvSpPr/>
          <p:nvPr/>
        </p:nvSpPr>
        <p:spPr>
          <a:xfrm>
            <a:off x="365760" y="868680"/>
            <a:ext cx="4023360" cy="2560320"/>
          </a:xfrm>
          <a:prstGeom prst="roundRect">
            <a:avLst>
              <a:gd name="adj" fmla="val 4286"/>
            </a:avLst>
          </a:prstGeom>
          <a:solidFill>
            <a:srgbClr val="2A2A40"/>
          </a:solidFill>
          <a:ln w="19050">
            <a:solidFill>
              <a:srgbClr val="10B981"/>
            </a:solidFill>
            <a:prstDash val="solid"/>
          </a:ln>
        </p:spPr>
      </p:sp>
      <p:sp>
        <p:nvSpPr>
          <p:cNvPr id="5" name="Text 3"/>
          <p:cNvSpPr/>
          <p:nvPr/>
        </p:nvSpPr>
        <p:spPr>
          <a:xfrm>
            <a:off x="365760" y="914400"/>
            <a:ext cx="4023360" cy="320040"/>
          </a:xfrm>
          <a:prstGeom prst="rect">
            <a:avLst/>
          </a:prstGeom>
          <a:noFill/>
          <a:ln/>
        </p:spPr>
        <p:txBody>
          <a:bodyPr wrap="square" rtlCol="0" anchor="ctr"/>
          <a:lstStyle/>
          <a:p>
            <a:pPr algn="ctr" indent="0" marL="0">
              <a:buNone/>
            </a:pPr>
            <a:r>
              <a:rPr lang="en-US" sz="1300" b="1" dirty="0">
                <a:solidFill>
                  <a:srgbClr val="10B981"/>
                </a:solidFill>
                <a:latin typeface="Arial Black" pitchFamily="34" charset="0"/>
                <a:ea typeface="Arial Black" pitchFamily="34" charset="-122"/>
                <a:cs typeface="Arial Black" pitchFamily="34" charset="-120"/>
              </a:rPr>
              <a:t>Ya esta listo</a:t>
            </a:r>
            <a:endParaRPr lang="en-US" sz="1300" dirty="0"/>
          </a:p>
        </p:txBody>
      </p:sp>
      <p:sp>
        <p:nvSpPr>
          <p:cNvPr id="6" name="Text 4"/>
          <p:cNvSpPr/>
          <p:nvPr/>
        </p:nvSpPr>
        <p:spPr>
          <a:xfrm>
            <a:off x="640080" y="1325880"/>
            <a:ext cx="3474720" cy="2011680"/>
          </a:xfrm>
          <a:prstGeom prst="rect">
            <a:avLst/>
          </a:prstGeom>
          <a:noFill/>
          <a:ln/>
        </p:spPr>
        <p:txBody>
          <a:bodyPr wrap="square" rtlCol="0" anchor="ctr"/>
          <a:lstStyle/>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Contenido de los 8 modulos</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Plan de estudios 6.5 SATCA</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Sistema de evaluacion y rubricas</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Open Badges verificables</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Mini sitio web funcional</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Dos versiones: acad + admin</a:t>
            </a:r>
            <a:endParaRPr lang="en-US" sz="1100" dirty="0"/>
          </a:p>
        </p:txBody>
      </p:sp>
      <p:sp>
        <p:nvSpPr>
          <p:cNvPr id="7" name="Shape 5"/>
          <p:cNvSpPr/>
          <p:nvPr/>
        </p:nvSpPr>
        <p:spPr>
          <a:xfrm>
            <a:off x="4754880" y="868680"/>
            <a:ext cx="4023360" cy="2560320"/>
          </a:xfrm>
          <a:prstGeom prst="roundRect">
            <a:avLst>
              <a:gd name="adj" fmla="val 4286"/>
            </a:avLst>
          </a:prstGeom>
          <a:solidFill>
            <a:srgbClr val="2A2A40"/>
          </a:solidFill>
          <a:ln w="19050">
            <a:solidFill>
              <a:srgbClr val="FF5900"/>
            </a:solidFill>
            <a:prstDash val="solid"/>
          </a:ln>
        </p:spPr>
      </p:sp>
      <p:sp>
        <p:nvSpPr>
          <p:cNvPr id="8" name="Text 6"/>
          <p:cNvSpPr/>
          <p:nvPr/>
        </p:nvSpPr>
        <p:spPr>
          <a:xfrm>
            <a:off x="4754880" y="914400"/>
            <a:ext cx="4023360" cy="320040"/>
          </a:xfrm>
          <a:prstGeom prst="rect">
            <a:avLst/>
          </a:prstGeom>
          <a:noFill/>
          <a:ln/>
        </p:spPr>
        <p:txBody>
          <a:bodyPr wrap="square" rtlCol="0" anchor="ctr"/>
          <a:lstStyle/>
          <a:p>
            <a:pPr algn="ctr" indent="0" marL="0">
              <a:buNone/>
            </a:pPr>
            <a:r>
              <a:rPr lang="en-US" sz="1300" b="1" dirty="0">
                <a:solidFill>
                  <a:srgbClr val="FF5900"/>
                </a:solidFill>
                <a:latin typeface="Arial Black" pitchFamily="34" charset="0"/>
                <a:ea typeface="Arial Black" pitchFamily="34" charset="-122"/>
                <a:cs typeface="Arial Black" pitchFamily="34" charset="-120"/>
              </a:rPr>
              <a:t>Se necesita</a:t>
            </a:r>
            <a:endParaRPr lang="en-US" sz="1300" dirty="0"/>
          </a:p>
        </p:txBody>
      </p:sp>
      <p:sp>
        <p:nvSpPr>
          <p:cNvPr id="9" name="Text 7"/>
          <p:cNvSpPr/>
          <p:nvPr/>
        </p:nvSpPr>
        <p:spPr>
          <a:xfrm>
            <a:off x="5029200" y="1325880"/>
            <a:ext cx="3474720" cy="2011680"/>
          </a:xfrm>
          <a:prstGeom prst="rect">
            <a:avLst/>
          </a:prstGeom>
          <a:noFill/>
          <a:ln/>
        </p:spPr>
        <p:txBody>
          <a:bodyPr wrap="square" rtlCol="0" anchor="ctr"/>
          <a:lstStyle/>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Aprobacion de Rectoria</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8-10 directivos participantes</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Cuenta institucional Amazon Quick</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Fecha de inicio (oct 2026)</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Facilitador del piloto</a:t>
            </a:r>
            <a:endParaRPr lang="en-US" sz="1100" dirty="0"/>
          </a:p>
          <a:p>
            <a:pPr marL="342900" indent="-342900">
              <a:lnSpc>
                <a:spcPts val="1800"/>
              </a:lnSpc>
              <a:buSzPct val="100000"/>
              <a:buChar char="•"/>
            </a:pPr>
            <a:r>
              <a:rPr lang="en-US" sz="1100" dirty="0">
                <a:solidFill>
                  <a:srgbClr val="C8C8D8"/>
                </a:solidFill>
                <a:latin typeface="Calibri" pitchFamily="34" charset="0"/>
                <a:ea typeface="Calibri" pitchFamily="34" charset="-122"/>
                <a:cs typeface="Calibri" pitchFamily="34" charset="-120"/>
              </a:rPr>
              <a:t>Comunicacion interna</a:t>
            </a:r>
            <a:endParaRPr lang="en-US" sz="1100" dirty="0"/>
          </a:p>
        </p:txBody>
      </p:sp>
      <p:sp>
        <p:nvSpPr>
          <p:cNvPr id="10" name="Shape 8"/>
          <p:cNvSpPr/>
          <p:nvPr/>
        </p:nvSpPr>
        <p:spPr>
          <a:xfrm>
            <a:off x="365760" y="3703320"/>
            <a:ext cx="8412480" cy="1188720"/>
          </a:xfrm>
          <a:prstGeom prst="roundRect">
            <a:avLst>
              <a:gd name="adj" fmla="val 9231"/>
            </a:avLst>
          </a:prstGeom>
          <a:solidFill>
            <a:srgbClr val="2A2A40"/>
          </a:solidFill>
          <a:ln w="19050">
            <a:solidFill>
              <a:srgbClr val="F59E0B"/>
            </a:solidFill>
            <a:prstDash val="solid"/>
          </a:ln>
        </p:spPr>
      </p:sp>
      <p:sp>
        <p:nvSpPr>
          <p:cNvPr id="11" name="Text 9"/>
          <p:cNvSpPr/>
          <p:nvPr/>
        </p:nvSpPr>
        <p:spPr>
          <a:xfrm>
            <a:off x="365760" y="3703320"/>
            <a:ext cx="8412480" cy="274320"/>
          </a:xfrm>
          <a:prstGeom prst="rect">
            <a:avLst/>
          </a:prstGeom>
          <a:noFill/>
          <a:ln/>
        </p:spPr>
        <p:txBody>
          <a:bodyPr wrap="square" rtlCol="0" anchor="ctr"/>
          <a:lstStyle/>
          <a:p>
            <a:pPr algn="ctr" indent="0" marL="0">
              <a:buNone/>
            </a:pPr>
            <a:r>
              <a:rPr lang="en-US" sz="1000" spc="300" kern="0" dirty="0">
                <a:solidFill>
                  <a:srgbClr val="F59E0B"/>
                </a:solidFill>
                <a:latin typeface="Arial Black" pitchFamily="34" charset="0"/>
                <a:ea typeface="Arial Black" pitchFamily="34" charset="-122"/>
                <a:cs typeface="Arial Black" pitchFamily="34" charset="-120"/>
              </a:rPr>
              <a:t>INVERSION</a:t>
            </a:r>
            <a:endParaRPr lang="en-US" sz="1000" dirty="0"/>
          </a:p>
        </p:txBody>
      </p:sp>
      <p:sp>
        <p:nvSpPr>
          <p:cNvPr id="12" name="Text 10"/>
          <p:cNvSpPr/>
          <p:nvPr/>
        </p:nvSpPr>
        <p:spPr>
          <a:xfrm>
            <a:off x="548640" y="3977640"/>
            <a:ext cx="1828800" cy="457200"/>
          </a:xfrm>
          <a:prstGeom prst="rect">
            <a:avLst/>
          </a:prstGeom>
          <a:noFill/>
          <a:ln/>
        </p:spPr>
        <p:txBody>
          <a:bodyPr wrap="square" rtlCol="0" anchor="b"/>
          <a:lstStyle/>
          <a:p>
            <a:pPr algn="ctr" indent="0" marL="0">
              <a:buNone/>
            </a:pPr>
            <a:r>
              <a:rPr lang="en-US" sz="2000" b="1" dirty="0">
                <a:solidFill>
                  <a:srgbClr val="F59E0B"/>
                </a:solidFill>
                <a:latin typeface="Arial Black" pitchFamily="34" charset="0"/>
                <a:ea typeface="Arial Black" pitchFamily="34" charset="-122"/>
                <a:cs typeface="Arial Black" pitchFamily="34" charset="-120"/>
              </a:rPr>
              <a:t>$2.5-3.5K</a:t>
            </a:r>
            <a:endParaRPr lang="en-US" sz="2000" dirty="0"/>
          </a:p>
        </p:txBody>
      </p:sp>
      <p:sp>
        <p:nvSpPr>
          <p:cNvPr id="13" name="Text 11"/>
          <p:cNvSpPr/>
          <p:nvPr/>
        </p:nvSpPr>
        <p:spPr>
          <a:xfrm>
            <a:off x="548640" y="4434840"/>
            <a:ext cx="1828800"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por participante</a:t>
            </a:r>
            <a:endParaRPr lang="en-US" sz="900" dirty="0"/>
          </a:p>
        </p:txBody>
      </p:sp>
      <p:sp>
        <p:nvSpPr>
          <p:cNvPr id="14" name="Text 12"/>
          <p:cNvSpPr/>
          <p:nvPr/>
        </p:nvSpPr>
        <p:spPr>
          <a:xfrm>
            <a:off x="2651760" y="3977640"/>
            <a:ext cx="1828800" cy="457200"/>
          </a:xfrm>
          <a:prstGeom prst="rect">
            <a:avLst/>
          </a:prstGeom>
          <a:noFill/>
          <a:ln/>
        </p:spPr>
        <p:txBody>
          <a:bodyPr wrap="square" rtlCol="0" anchor="b"/>
          <a:lstStyle/>
          <a:p>
            <a:pPr algn="ctr" indent="0" marL="0">
              <a:buNone/>
            </a:pPr>
            <a:r>
              <a:rPr lang="en-US" sz="2000" b="1" dirty="0">
                <a:solidFill>
                  <a:srgbClr val="F59E0B"/>
                </a:solidFill>
                <a:latin typeface="Arial Black" pitchFamily="34" charset="0"/>
                <a:ea typeface="Arial Black" pitchFamily="34" charset="-122"/>
                <a:cs typeface="Arial Black" pitchFamily="34" charset="-120"/>
              </a:rPr>
              <a:t>$25-35K</a:t>
            </a:r>
            <a:endParaRPr lang="en-US" sz="2000" dirty="0"/>
          </a:p>
        </p:txBody>
      </p:sp>
      <p:sp>
        <p:nvSpPr>
          <p:cNvPr id="15" name="Text 13"/>
          <p:cNvSpPr/>
          <p:nvPr/>
        </p:nvSpPr>
        <p:spPr>
          <a:xfrm>
            <a:off x="2651760" y="4434840"/>
            <a:ext cx="1828800"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piloto 10 personas</a:t>
            </a:r>
            <a:endParaRPr lang="en-US" sz="900" dirty="0"/>
          </a:p>
        </p:txBody>
      </p:sp>
      <p:sp>
        <p:nvSpPr>
          <p:cNvPr id="16" name="Text 14"/>
          <p:cNvSpPr/>
          <p:nvPr/>
        </p:nvSpPr>
        <p:spPr>
          <a:xfrm>
            <a:off x="4754880" y="3977640"/>
            <a:ext cx="1828800" cy="457200"/>
          </a:xfrm>
          <a:prstGeom prst="rect">
            <a:avLst/>
          </a:prstGeom>
          <a:noFill/>
          <a:ln/>
        </p:spPr>
        <p:txBody>
          <a:bodyPr wrap="square" rtlCol="0" anchor="b"/>
          <a:lstStyle/>
          <a:p>
            <a:pPr algn="ctr" indent="0" marL="0">
              <a:buNone/>
            </a:pPr>
            <a:r>
              <a:rPr lang="en-US" sz="2000" b="1" dirty="0">
                <a:solidFill>
                  <a:srgbClr val="F59E0B"/>
                </a:solidFill>
                <a:latin typeface="Arial Black" pitchFamily="34" charset="0"/>
                <a:ea typeface="Arial Black" pitchFamily="34" charset="-122"/>
                <a:cs typeface="Arial Black" pitchFamily="34" charset="-120"/>
              </a:rPr>
              <a:t>$500K</a:t>
            </a:r>
            <a:endParaRPr lang="en-US" sz="2000" dirty="0"/>
          </a:p>
        </p:txBody>
      </p:sp>
      <p:sp>
        <p:nvSpPr>
          <p:cNvPr id="17" name="Text 15"/>
          <p:cNvSpPr/>
          <p:nvPr/>
        </p:nvSpPr>
        <p:spPr>
          <a:xfrm>
            <a:off x="4754880" y="4434840"/>
            <a:ext cx="1828800"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ROI primer ano</a:t>
            </a:r>
            <a:endParaRPr lang="en-US" sz="900" dirty="0"/>
          </a:p>
        </p:txBody>
      </p:sp>
      <p:sp>
        <p:nvSpPr>
          <p:cNvPr id="18" name="Text 16"/>
          <p:cNvSpPr/>
          <p:nvPr/>
        </p:nvSpPr>
        <p:spPr>
          <a:xfrm>
            <a:off x="6858000" y="3977640"/>
            <a:ext cx="1828800" cy="457200"/>
          </a:xfrm>
          <a:prstGeom prst="rect">
            <a:avLst/>
          </a:prstGeom>
          <a:noFill/>
          <a:ln/>
        </p:spPr>
        <p:txBody>
          <a:bodyPr wrap="square" rtlCol="0" anchor="b"/>
          <a:lstStyle/>
          <a:p>
            <a:pPr algn="ctr" indent="0" marL="0">
              <a:buNone/>
            </a:pPr>
            <a:r>
              <a:rPr lang="en-US" sz="2000" b="1" dirty="0">
                <a:solidFill>
                  <a:srgbClr val="F59E0B"/>
                </a:solidFill>
                <a:latin typeface="Arial Black" pitchFamily="34" charset="0"/>
                <a:ea typeface="Arial Black" pitchFamily="34" charset="-122"/>
                <a:cs typeface="Arial Black" pitchFamily="34" charset="-120"/>
              </a:rPr>
              <a:t>14-20x</a:t>
            </a:r>
            <a:endParaRPr lang="en-US" sz="2000" dirty="0"/>
          </a:p>
        </p:txBody>
      </p:sp>
      <p:sp>
        <p:nvSpPr>
          <p:cNvPr id="19" name="Text 17"/>
          <p:cNvSpPr/>
          <p:nvPr/>
        </p:nvSpPr>
        <p:spPr>
          <a:xfrm>
            <a:off x="6858000" y="4434840"/>
            <a:ext cx="1828800" cy="274320"/>
          </a:xfrm>
          <a:prstGeom prst="rect">
            <a:avLst/>
          </a:prstGeom>
          <a:noFill/>
          <a:ln/>
        </p:spPr>
        <p:txBody>
          <a:bodyPr wrap="square" rtlCol="0" anchor="ctr"/>
          <a:lstStyle/>
          <a:p>
            <a:pPr algn="ctr" indent="0" marL="0">
              <a:buNone/>
            </a:pPr>
            <a:r>
              <a:rPr lang="en-US" sz="900" dirty="0">
                <a:solidFill>
                  <a:srgbClr val="9CA3AF"/>
                </a:solidFill>
                <a:latin typeface="Calibri" pitchFamily="34" charset="0"/>
                <a:ea typeface="Calibri" pitchFamily="34" charset="-122"/>
                <a:cs typeface="Calibri" pitchFamily="34" charset="-120"/>
              </a:rPr>
              <a:t>retorno por peso</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23"/>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F5900"/>
          </a:solidFill>
          <a:ln/>
        </p:spPr>
      </p:sp>
      <p:sp>
        <p:nvSpPr>
          <p:cNvPr id="3" name="Text 1"/>
          <p:cNvSpPr/>
          <p:nvPr/>
        </p:nvSpPr>
        <p:spPr>
          <a:xfrm>
            <a:off x="914400" y="274320"/>
            <a:ext cx="7315200" cy="548640"/>
          </a:xfrm>
          <a:prstGeom prst="rect">
            <a:avLst/>
          </a:prstGeom>
          <a:noFill/>
          <a:ln/>
        </p:spPr>
        <p:txBody>
          <a:bodyPr wrap="square" rtlCol="0" anchor="ctr"/>
          <a:lstStyle/>
          <a:p>
            <a:pPr algn="ctr" indent="0" marL="0">
              <a:buNone/>
            </a:pPr>
            <a:r>
              <a:rPr lang="en-US" sz="2800" b="1" dirty="0">
                <a:solidFill>
                  <a:srgbClr val="FFFFFF"/>
                </a:solidFill>
                <a:latin typeface="Arial Black" pitchFamily="34" charset="0"/>
                <a:ea typeface="Arial Black" pitchFamily="34" charset="-122"/>
                <a:cs typeface="Arial Black" pitchFamily="34" charset="-120"/>
              </a:rPr>
              <a:t>La solicitud</a:t>
            </a:r>
            <a:endParaRPr lang="en-US" sz="2800" dirty="0"/>
          </a:p>
        </p:txBody>
      </p:sp>
      <p:sp>
        <p:nvSpPr>
          <p:cNvPr id="4" name="Shape 2"/>
          <p:cNvSpPr/>
          <p:nvPr/>
        </p:nvSpPr>
        <p:spPr>
          <a:xfrm>
            <a:off x="640080" y="1143000"/>
            <a:ext cx="548640" cy="548640"/>
          </a:xfrm>
          <a:prstGeom prst="ellipse">
            <a:avLst/>
          </a:prstGeom>
          <a:solidFill>
            <a:srgbClr val="FF5900"/>
          </a:solidFill>
          <a:ln/>
        </p:spPr>
      </p:sp>
      <p:sp>
        <p:nvSpPr>
          <p:cNvPr id="5" name="Text 3"/>
          <p:cNvSpPr/>
          <p:nvPr/>
        </p:nvSpPr>
        <p:spPr>
          <a:xfrm>
            <a:off x="640080" y="1143000"/>
            <a:ext cx="548640" cy="54864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1</a:t>
            </a:r>
            <a:endParaRPr lang="en-US" sz="2200" dirty="0"/>
          </a:p>
        </p:txBody>
      </p:sp>
      <p:sp>
        <p:nvSpPr>
          <p:cNvPr id="6" name="Shape 4"/>
          <p:cNvSpPr/>
          <p:nvPr/>
        </p:nvSpPr>
        <p:spPr>
          <a:xfrm>
            <a:off x="1463040" y="1051560"/>
            <a:ext cx="6858000" cy="777240"/>
          </a:xfrm>
          <a:prstGeom prst="roundRect">
            <a:avLst>
              <a:gd name="adj" fmla="val 11765"/>
            </a:avLst>
          </a:prstGeom>
          <a:solidFill>
            <a:srgbClr val="2A2A40"/>
          </a:solidFill>
          <a:ln/>
        </p:spPr>
      </p:sp>
      <p:sp>
        <p:nvSpPr>
          <p:cNvPr id="7" name="Text 5"/>
          <p:cNvSpPr/>
          <p:nvPr/>
        </p:nvSpPr>
        <p:spPr>
          <a:xfrm>
            <a:off x="1645920" y="1097280"/>
            <a:ext cx="6492240" cy="320040"/>
          </a:xfrm>
          <a:prstGeom prst="rect">
            <a:avLst/>
          </a:prstGeom>
          <a:noFill/>
          <a:ln/>
        </p:spPr>
        <p:txBody>
          <a:bodyPr wrap="square"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Aprobar el piloto</a:t>
            </a:r>
            <a:endParaRPr lang="en-US" sz="1500" dirty="0"/>
          </a:p>
        </p:txBody>
      </p:sp>
      <p:sp>
        <p:nvSpPr>
          <p:cNvPr id="8" name="Text 6"/>
          <p:cNvSpPr/>
          <p:nvPr/>
        </p:nvSpPr>
        <p:spPr>
          <a:xfrm>
            <a:off x="1645920" y="1435608"/>
            <a:ext cx="6492240" cy="320040"/>
          </a:xfrm>
          <a:prstGeom prst="rect">
            <a:avLst/>
          </a:prstGeom>
          <a:noFill/>
          <a:ln/>
        </p:spPr>
        <p:txBody>
          <a:bodyPr wrap="square" rtlCol="0" anchor="ctr"/>
          <a:lstStyle/>
          <a:p>
            <a:pPr indent="0" marL="0">
              <a:buNone/>
            </a:pPr>
            <a:r>
              <a:rPr lang="en-US" sz="1050" dirty="0">
                <a:solidFill>
                  <a:srgbClr val="C8C8D8"/>
                </a:solidFill>
                <a:latin typeface="Calibri" pitchFamily="34" charset="0"/>
                <a:ea typeface="Calibri" pitchFamily="34" charset="-122"/>
                <a:cs typeface="Calibri" pitchFamily="34" charset="-120"/>
              </a:rPr>
              <a:t>Autorizacion institucional para lanzar con respaldo de Rectoria</a:t>
            </a:r>
            <a:endParaRPr lang="en-US" sz="1050" dirty="0"/>
          </a:p>
        </p:txBody>
      </p:sp>
      <p:sp>
        <p:nvSpPr>
          <p:cNvPr id="9" name="Shape 7"/>
          <p:cNvSpPr/>
          <p:nvPr/>
        </p:nvSpPr>
        <p:spPr>
          <a:xfrm>
            <a:off x="640080" y="2148840"/>
            <a:ext cx="548640" cy="548640"/>
          </a:xfrm>
          <a:prstGeom prst="ellipse">
            <a:avLst/>
          </a:prstGeom>
          <a:solidFill>
            <a:srgbClr val="FF5900"/>
          </a:solidFill>
          <a:ln/>
        </p:spPr>
      </p:sp>
      <p:sp>
        <p:nvSpPr>
          <p:cNvPr id="10" name="Text 8"/>
          <p:cNvSpPr/>
          <p:nvPr/>
        </p:nvSpPr>
        <p:spPr>
          <a:xfrm>
            <a:off x="640080" y="2148840"/>
            <a:ext cx="548640" cy="54864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11" name="Shape 9"/>
          <p:cNvSpPr/>
          <p:nvPr/>
        </p:nvSpPr>
        <p:spPr>
          <a:xfrm>
            <a:off x="1463040" y="2057400"/>
            <a:ext cx="6858000" cy="777240"/>
          </a:xfrm>
          <a:prstGeom prst="roundRect">
            <a:avLst>
              <a:gd name="adj" fmla="val 11765"/>
            </a:avLst>
          </a:prstGeom>
          <a:solidFill>
            <a:srgbClr val="2A2A40"/>
          </a:solidFill>
          <a:ln/>
        </p:spPr>
      </p:sp>
      <p:sp>
        <p:nvSpPr>
          <p:cNvPr id="12" name="Text 10"/>
          <p:cNvSpPr/>
          <p:nvPr/>
        </p:nvSpPr>
        <p:spPr>
          <a:xfrm>
            <a:off x="1645920" y="2103120"/>
            <a:ext cx="6492240" cy="320040"/>
          </a:xfrm>
          <a:prstGeom prst="rect">
            <a:avLst/>
          </a:prstGeom>
          <a:noFill/>
          <a:ln/>
        </p:spPr>
        <p:txBody>
          <a:bodyPr wrap="square"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Designar 8-10 directivos</a:t>
            </a:r>
            <a:endParaRPr lang="en-US" sz="1500" dirty="0"/>
          </a:p>
        </p:txBody>
      </p:sp>
      <p:sp>
        <p:nvSpPr>
          <p:cNvPr id="13" name="Text 11"/>
          <p:cNvSpPr/>
          <p:nvPr/>
        </p:nvSpPr>
        <p:spPr>
          <a:xfrm>
            <a:off x="1645920" y="2441448"/>
            <a:ext cx="6492240" cy="320040"/>
          </a:xfrm>
          <a:prstGeom prst="rect">
            <a:avLst/>
          </a:prstGeom>
          <a:noFill/>
          <a:ln/>
        </p:spPr>
        <p:txBody>
          <a:bodyPr wrap="square" rtlCol="0" anchor="ctr"/>
          <a:lstStyle/>
          <a:p>
            <a:pPr indent="0" marL="0">
              <a:buNone/>
            </a:pPr>
            <a:r>
              <a:rPr lang="en-US" sz="1050" dirty="0">
                <a:solidFill>
                  <a:srgbClr val="C8C8D8"/>
                </a:solidFill>
                <a:latin typeface="Calibri" pitchFamily="34" charset="0"/>
                <a:ea typeface="Calibri" pitchFamily="34" charset="-122"/>
                <a:cs typeface="Calibri" pitchFamily="34" charset="-120"/>
              </a:rPr>
              <a:t>4-5 academicos + 4-5 administrativos — voluntarios o designados</a:t>
            </a:r>
            <a:endParaRPr lang="en-US" sz="1050" dirty="0"/>
          </a:p>
        </p:txBody>
      </p:sp>
      <p:sp>
        <p:nvSpPr>
          <p:cNvPr id="14" name="Shape 12"/>
          <p:cNvSpPr/>
          <p:nvPr/>
        </p:nvSpPr>
        <p:spPr>
          <a:xfrm>
            <a:off x="640080" y="3154680"/>
            <a:ext cx="548640" cy="548640"/>
          </a:xfrm>
          <a:prstGeom prst="ellipse">
            <a:avLst/>
          </a:prstGeom>
          <a:solidFill>
            <a:srgbClr val="FF5900"/>
          </a:solidFill>
          <a:ln/>
        </p:spPr>
      </p:sp>
      <p:sp>
        <p:nvSpPr>
          <p:cNvPr id="15" name="Text 13"/>
          <p:cNvSpPr/>
          <p:nvPr/>
        </p:nvSpPr>
        <p:spPr>
          <a:xfrm>
            <a:off x="640080" y="3154680"/>
            <a:ext cx="548640" cy="548640"/>
          </a:xfrm>
          <a:prstGeom prst="rect">
            <a:avLst/>
          </a:prstGeom>
          <a:noFill/>
          <a:ln/>
        </p:spPr>
        <p:txBody>
          <a:bodyPr wrap="square"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16" name="Shape 14"/>
          <p:cNvSpPr/>
          <p:nvPr/>
        </p:nvSpPr>
        <p:spPr>
          <a:xfrm>
            <a:off x="1463040" y="3063240"/>
            <a:ext cx="6858000" cy="777240"/>
          </a:xfrm>
          <a:prstGeom prst="roundRect">
            <a:avLst>
              <a:gd name="adj" fmla="val 11765"/>
            </a:avLst>
          </a:prstGeom>
          <a:solidFill>
            <a:srgbClr val="2A2A40"/>
          </a:solidFill>
          <a:ln/>
        </p:spPr>
      </p:sp>
      <p:sp>
        <p:nvSpPr>
          <p:cNvPr id="17" name="Text 15"/>
          <p:cNvSpPr/>
          <p:nvPr/>
        </p:nvSpPr>
        <p:spPr>
          <a:xfrm>
            <a:off x="1645920" y="3108960"/>
            <a:ext cx="6492240" cy="320040"/>
          </a:xfrm>
          <a:prstGeom prst="rect">
            <a:avLst/>
          </a:prstGeom>
          <a:noFill/>
          <a:ln/>
        </p:spPr>
        <p:txBody>
          <a:bodyPr wrap="square"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Fecha de inicio: octubre 2026</a:t>
            </a:r>
            <a:endParaRPr lang="en-US" sz="1500" dirty="0"/>
          </a:p>
        </p:txBody>
      </p:sp>
      <p:sp>
        <p:nvSpPr>
          <p:cNvPr id="18" name="Text 16"/>
          <p:cNvSpPr/>
          <p:nvPr/>
        </p:nvSpPr>
        <p:spPr>
          <a:xfrm>
            <a:off x="1645920" y="3447288"/>
            <a:ext cx="6492240" cy="320040"/>
          </a:xfrm>
          <a:prstGeom prst="rect">
            <a:avLst/>
          </a:prstGeom>
          <a:noFill/>
          <a:ln/>
        </p:spPr>
        <p:txBody>
          <a:bodyPr wrap="square" rtlCol="0" anchor="ctr"/>
          <a:lstStyle/>
          <a:p>
            <a:pPr indent="0" marL="0">
              <a:buNone/>
            </a:pPr>
            <a:r>
              <a:rPr lang="en-US" sz="1050" dirty="0">
                <a:solidFill>
                  <a:srgbClr val="C8C8D8"/>
                </a:solidFill>
                <a:latin typeface="Calibri" pitchFamily="34" charset="0"/>
                <a:ea typeface="Calibri" pitchFamily="34" charset="-122"/>
                <a:cs typeface="Calibri" pitchFamily="34" charset="-120"/>
              </a:rPr>
              <a:t>4-6 semanas de piloto — resultados en noviembre — decision en diciembre</a:t>
            </a:r>
            <a:endParaRPr lang="en-US" sz="1050" dirty="0"/>
          </a:p>
        </p:txBody>
      </p:sp>
      <p:sp>
        <p:nvSpPr>
          <p:cNvPr id="19" name="Shape 17"/>
          <p:cNvSpPr/>
          <p:nvPr/>
        </p:nvSpPr>
        <p:spPr>
          <a:xfrm>
            <a:off x="640080" y="4160520"/>
            <a:ext cx="7863840" cy="731520"/>
          </a:xfrm>
          <a:prstGeom prst="roundRect">
            <a:avLst>
              <a:gd name="adj" fmla="val 12500"/>
            </a:avLst>
          </a:prstGeom>
          <a:solidFill>
            <a:srgbClr val="432F64"/>
          </a:solidFill>
          <a:ln/>
        </p:spPr>
      </p:sp>
      <p:sp>
        <p:nvSpPr>
          <p:cNvPr id="20" name="Text 18"/>
          <p:cNvSpPr/>
          <p:nvPr/>
        </p:nvSpPr>
        <p:spPr>
          <a:xfrm>
            <a:off x="822960" y="4160520"/>
            <a:ext cx="7498080" cy="731520"/>
          </a:xfrm>
          <a:prstGeom prst="rect">
            <a:avLst/>
          </a:prstGeom>
          <a:noFill/>
          <a:ln/>
        </p:spPr>
        <p:txBody>
          <a:bodyPr wrap="square"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Nos comprometemos a: reporte semanal · NPS al cierre · caso de exito documentado · recomendacion fundamentada en evidencia</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432F64"/>
        </a:solidFill>
      </p:bgPr>
    </p:bg>
    <p:spTree>
      <p:nvGrpSpPr>
        <p:cNvPr id="1" name=""/>
        <p:cNvGrpSpPr/>
        <p:nvPr/>
      </p:nvGrpSpPr>
      <p:grpSpPr>
        <a:xfrm>
          <a:off x="0" y="0"/>
          <a:ext cx="0" cy="0"/>
          <a:chOff x="0" y="0"/>
          <a:chExt cx="0" cy="0"/>
        </a:xfrm>
      </p:grpSpPr>
      <p:sp>
        <p:nvSpPr>
          <p:cNvPr id="2" name="Text 0"/>
          <p:cNvSpPr/>
          <p:nvPr/>
        </p:nvSpPr>
        <p:spPr>
          <a:xfrm>
            <a:off x="731520" y="731520"/>
            <a:ext cx="7680960" cy="2286000"/>
          </a:xfrm>
          <a:prstGeom prst="rect">
            <a:avLst/>
          </a:prstGeom>
          <a:noFill/>
          <a:ln/>
        </p:spPr>
        <p:txBody>
          <a:bodyPr wrap="square" rtlCol="0" anchor="ctr"/>
          <a:lstStyle/>
          <a:p>
            <a:pPr algn="ctr" indent="0" marL="0">
              <a:lnSpc>
                <a:spcPts val="3800"/>
              </a:lnSpc>
              <a:buNone/>
            </a:pPr>
            <a:r>
              <a:rPr lang="en-US" sz="2600" i="1" dirty="0">
                <a:solidFill>
                  <a:srgbClr val="FFFFFF"/>
                </a:solidFill>
                <a:latin typeface="Arial Black" pitchFamily="34" charset="0"/>
                <a:ea typeface="Arial Black" pitchFamily="34" charset="-122"/>
                <a:cs typeface="Arial Black" pitchFamily="34" charset="-120"/>
              </a:rPr>
              <a:t>"Un curso que no cambia el comportamiento</a:t>
            </a:r>
            <a:endParaRPr lang="en-US" sz="2600" dirty="0"/>
          </a:p>
          <a:p>
            <a:pPr algn="ctr" indent="0" marL="0">
              <a:lnSpc>
                <a:spcPts val="3800"/>
              </a:lnSpc>
              <a:buNone/>
            </a:pPr>
            <a:r>
              <a:rPr lang="en-US" sz="2600" i="1" dirty="0">
                <a:solidFill>
                  <a:srgbClr val="FFFFFF"/>
                </a:solidFill>
                <a:latin typeface="Arial Black" pitchFamily="34" charset="0"/>
                <a:ea typeface="Arial Black" pitchFamily="34" charset="-122"/>
                <a:cs typeface="Arial Black" pitchFamily="34" charset="-120"/>
              </a:rPr>
              <a:t>del lunes siguiente es entretenimiento,</a:t>
            </a:r>
            <a:endParaRPr lang="en-US" sz="2600" dirty="0"/>
          </a:p>
          <a:p>
            <a:pPr algn="ctr" indent="0" marL="0">
              <a:lnSpc>
                <a:spcPts val="3800"/>
              </a:lnSpc>
              <a:buNone/>
            </a:pPr>
            <a:r>
              <a:rPr lang="en-US" sz="2600" i="1" dirty="0">
                <a:solidFill>
                  <a:srgbClr val="FFFFFF"/>
                </a:solidFill>
                <a:latin typeface="Arial Black" pitchFamily="34" charset="0"/>
                <a:ea typeface="Arial Black" pitchFamily="34" charset="-122"/>
                <a:cs typeface="Arial Black" pitchFamily="34" charset="-120"/>
              </a:rPr>
              <a:t>no formacion."</a:t>
            </a:r>
            <a:endParaRPr lang="en-US" sz="2600" dirty="0"/>
          </a:p>
        </p:txBody>
      </p:sp>
      <p:sp>
        <p:nvSpPr>
          <p:cNvPr id="3" name="Text 1"/>
          <p:cNvSpPr/>
          <p:nvPr/>
        </p:nvSpPr>
        <p:spPr>
          <a:xfrm>
            <a:off x="914400" y="3108960"/>
            <a:ext cx="7315200" cy="548640"/>
          </a:xfrm>
          <a:prstGeom prst="rect">
            <a:avLst/>
          </a:prstGeom>
          <a:noFill/>
          <a:ln/>
        </p:spPr>
        <p:txBody>
          <a:bodyPr wrap="square" rtlCol="0" anchor="ctr"/>
          <a:lstStyle/>
          <a:p>
            <a:pPr algn="ctr" indent="0" marL="0">
              <a:buNone/>
            </a:pPr>
            <a:r>
              <a:rPr lang="en-US" sz="2200" b="1" dirty="0">
                <a:solidFill>
                  <a:srgbClr val="FF5900"/>
                </a:solidFill>
                <a:latin typeface="Arial Black" pitchFamily="34" charset="0"/>
                <a:ea typeface="Arial Black" pitchFamily="34" charset="-122"/>
                <a:cs typeface="Arial Black" pitchFamily="34" charset="-120"/>
              </a:rPr>
              <a:t>IA Practica para Lideres Anahuac</a:t>
            </a:r>
            <a:endParaRPr lang="en-US" sz="2200" dirty="0"/>
          </a:p>
        </p:txBody>
      </p:sp>
      <p:sp>
        <p:nvSpPr>
          <p:cNvPr id="4" name="Text 2"/>
          <p:cNvSpPr/>
          <p:nvPr/>
        </p:nvSpPr>
        <p:spPr>
          <a:xfrm>
            <a:off x="914400" y="3657600"/>
            <a:ext cx="7315200" cy="365760"/>
          </a:xfrm>
          <a:prstGeom prst="rect">
            <a:avLst/>
          </a:prstGeom>
          <a:noFill/>
          <a:ln/>
        </p:spPr>
        <p:txBody>
          <a:bodyPr wrap="square" rtlCol="0" anchor="ctr"/>
          <a:lstStyle/>
          <a:p>
            <a:pPr algn="ctr" indent="0" marL="0">
              <a:buNone/>
            </a:pPr>
            <a:r>
              <a:rPr lang="en-US" sz="1400" dirty="0">
                <a:solidFill>
                  <a:srgbClr val="C8C8D8"/>
                </a:solidFill>
                <a:latin typeface="Calibri" pitchFamily="34" charset="0"/>
                <a:ea typeface="Calibri" pitchFamily="34" charset="-122"/>
                <a:cs typeface="Calibri" pitchFamily="34" charset="-120"/>
              </a:rPr>
              <a:t>cursos.memovaldez.com</a:t>
            </a:r>
            <a:endParaRPr lang="en-US" sz="1400" dirty="0"/>
          </a:p>
        </p:txBody>
      </p:sp>
      <p:sp>
        <p:nvSpPr>
          <p:cNvPr id="5" name="Shape 3"/>
          <p:cNvSpPr/>
          <p:nvPr/>
        </p:nvSpPr>
        <p:spPr>
          <a:xfrm>
            <a:off x="2743200" y="4297680"/>
            <a:ext cx="3657600" cy="27432"/>
          </a:xfrm>
          <a:prstGeom prst="rect">
            <a:avLst/>
          </a:prstGeom>
          <a:solidFill>
            <a:srgbClr val="FF5900"/>
          </a:solidFill>
          <a:ln/>
        </p:spPr>
      </p:sp>
      <p:sp>
        <p:nvSpPr>
          <p:cNvPr id="6" name="Text 4"/>
          <p:cNvSpPr/>
          <p:nvPr/>
        </p:nvSpPr>
        <p:spPr>
          <a:xfrm>
            <a:off x="914400" y="4434840"/>
            <a:ext cx="7315200" cy="320040"/>
          </a:xfrm>
          <a:prstGeom prst="rect">
            <a:avLst/>
          </a:prstGeom>
          <a:noFill/>
          <a:ln/>
        </p:spPr>
        <p:txBody>
          <a:bodyPr wrap="square" rtlCol="0" anchor="ctr"/>
          <a:lstStyle/>
          <a:p>
            <a:pPr algn="ctr" indent="0" marL="0">
              <a:buNone/>
            </a:pPr>
            <a:r>
              <a:rPr lang="en-US" sz="1000" dirty="0">
                <a:solidFill>
                  <a:srgbClr val="C8C8D8"/>
                </a:solidFill>
                <a:latin typeface="Calibri" pitchFamily="34" charset="0"/>
                <a:ea typeface="Calibri" pitchFamily="34" charset="-122"/>
                <a:cs typeface="Calibri" pitchFamily="34" charset="-120"/>
              </a:rPr>
              <a:t>Universidad Anahuac Mayab · Septiembre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
  <Relationship Id="rId1" Type="http://schemas.microsoft.com/office/2011/relationships/webextension" Target="webextension1.xml"/>
</Relationships>
</file>

<file path=ppt/webextensions/taskpanes.xml><?xml version="1.0" encoding="utf-8"?>
<wetp:taskpanes xmlns:wetp="http://schemas.microsoft.com/office/webextensions/taskpanes/2010/11">
  <wetp:taskpane dockstate="right" visibility="1"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93D92F8-0B16-4052-A3F6-7D1AAA04B049}">
  <we:reference id="WA200010606" version="1.0.10036.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IA Practica para Lideres Anahuac — Pitch Junta Directiva</dc:title>
  <dc:subject>PptxGenJS Presentation</dc:subject>
  <dc:creator>Universidad Anahuac Mayab</dc:creator>
  <cp:lastModifiedBy>Universidad Anahuac Mayab</cp:lastModifiedBy>
  <cp:revision>1</cp:revision>
  <dcterms:created xsi:type="dcterms:W3CDTF">2026-09-08T00:34:37Z</dcterms:created>
  <dcterms:modified xsi:type="dcterms:W3CDTF">2026-09-08T00:34:37Z</dcterms:modified>
</cp:coreProperties>
</file>